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82" d="100"/>
          <a:sy n="82" d="100"/>
        </p:scale>
        <p:origin x="-970" y="4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177981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11" Type="http://schemas.openxmlformats.org/officeDocument/2006/relationships/image" Target="../media/image27.png"/><Relationship Id="rId5" Type="http://schemas.openxmlformats.org/officeDocument/2006/relationships/image" Target="../media/image21.png"/><Relationship Id="rId10" Type="http://schemas.openxmlformats.org/officeDocument/2006/relationships/image" Target="../media/image26.png"/><Relationship Id="rId4" Type="http://schemas.openxmlformats.org/officeDocument/2006/relationships/image" Target="../media/image20.png"/><Relationship Id="rId9" Type="http://schemas.openxmlformats.org/officeDocument/2006/relationships/image" Target="../media/image2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3" Type="http://schemas.openxmlformats.org/officeDocument/2006/relationships/image" Target="../media/image31.png"/><Relationship Id="rId7" Type="http://schemas.openxmlformats.org/officeDocument/2006/relationships/image" Target="../media/image3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C9A846"/>
          </a:solidFill>
          <a:ln w="12700">
            <a:solidFill>
              <a:srgbClr val="C9A8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675120" y="0"/>
            <a:ext cx="2468880" cy="5143500"/>
          </a:xfrm>
          <a:prstGeom prst="rect">
            <a:avLst/>
          </a:prstGeom>
          <a:solidFill>
            <a:srgbClr val="152233"/>
          </a:solidFill>
          <a:ln w="12700">
            <a:solidFill>
              <a:srgbClr val="1522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365760" y="475488"/>
            <a:ext cx="1463040" cy="2743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65760" y="475488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SEVERITY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365760" y="868680"/>
            <a:ext cx="61264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Someone Broke Into</a:t>
            </a:r>
            <a:endParaRPr lang="en-US" sz="3400" dirty="0"/>
          </a:p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Online Systems.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365760" y="2377440"/>
            <a:ext cx="6126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8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Here's what happened, what we did, and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E8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made sure it can't happen again.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65760" y="3154680"/>
            <a:ext cx="6126480" cy="45720"/>
          </a:xfrm>
          <a:prstGeom prst="rect">
            <a:avLst/>
          </a:prstGeom>
          <a:solidFill>
            <a:srgbClr val="C9A846"/>
          </a:solidFill>
          <a:ln w="12700">
            <a:solidFill>
              <a:srgbClr val="C9A8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65760" y="3273552"/>
            <a:ext cx="6126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Maxine Jones  ·  Cybersecurity Analyst  ·  March 22, 2026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675120" y="548640"/>
            <a:ext cx="2468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C9A8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6675120" y="1298448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A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8A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affected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040880" y="1810512"/>
            <a:ext cx="1463040" cy="36576"/>
          </a:xfrm>
          <a:prstGeom prst="rect">
            <a:avLst/>
          </a:prstGeom>
          <a:solidFill>
            <a:srgbClr val="1C2E44"/>
          </a:solidFill>
          <a:ln w="12700">
            <a:solidFill>
              <a:srgbClr val="1C2E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675120" y="2011680"/>
            <a:ext cx="2468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C9A8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hrs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6675120" y="2761488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A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incident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8A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040880" y="3273552"/>
            <a:ext cx="1463040" cy="36576"/>
          </a:xfrm>
          <a:prstGeom prst="rect">
            <a:avLst/>
          </a:prstGeom>
          <a:solidFill>
            <a:srgbClr val="1C2E44"/>
          </a:solidFill>
          <a:ln w="12700">
            <a:solidFill>
              <a:srgbClr val="1C2E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675120" y="3474720"/>
            <a:ext cx="2468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C9A8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Contained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6675120" y="4224528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A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8A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52233"/>
          </a:solidFill>
          <a:ln w="12700">
            <a:solidFill>
              <a:srgbClr val="1522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58368"/>
            <a:ext cx="9144000" cy="45720"/>
          </a:xfrm>
          <a:prstGeom prst="rect">
            <a:avLst/>
          </a:prstGeom>
          <a:solidFill>
            <a:srgbClr val="C9A846"/>
          </a:solidFill>
          <a:ln w="12700">
            <a:solidFill>
              <a:srgbClr val="C9A8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91440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Happened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74320" y="822960"/>
            <a:ext cx="4251960" cy="1810512"/>
          </a:xfrm>
          <a:prstGeom prst="rect">
            <a:avLst/>
          </a:prstGeom>
          <a:solidFill>
            <a:srgbClr val="152233"/>
          </a:solidFill>
          <a:ln w="12700">
            <a:solidFill>
              <a:srgbClr val="1C2E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74320" y="822960"/>
            <a:ext cx="4251960" cy="457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932688"/>
            <a:ext cx="347472" cy="347472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3931920" y="914400"/>
            <a:ext cx="530352" cy="237744"/>
          </a:xfrm>
          <a:prstGeom prst="rect">
            <a:avLst/>
          </a:prstGeom>
          <a:solidFill>
            <a:srgbClr val="1C2E44"/>
          </a:solidFill>
          <a:ln w="12700">
            <a:solidFill>
              <a:srgbClr val="1C2E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3931920" y="914400"/>
            <a:ext cx="53035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C9A8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2:30 AM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841248" y="914400"/>
            <a:ext cx="29992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fake phone call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11480" y="1325880"/>
            <a:ext cx="3977640" cy="27432"/>
          </a:xfrm>
          <a:prstGeom prst="rect">
            <a:avLst/>
          </a:prstGeom>
          <a:solidFill>
            <a:srgbClr val="1C2E44"/>
          </a:solidFill>
          <a:ln w="12700">
            <a:solidFill>
              <a:srgbClr val="1C2E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411480" y="1417320"/>
            <a:ext cx="397764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employee in HR received a call from someone pretending to be IT support. The caller said the employee's account was in danger and needed to be fixed immediately — or they'd lose access by morning.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4709160" y="822960"/>
            <a:ext cx="4251960" cy="1810512"/>
          </a:xfrm>
          <a:prstGeom prst="rect">
            <a:avLst/>
          </a:prstGeom>
          <a:solidFill>
            <a:srgbClr val="152233"/>
          </a:solidFill>
          <a:ln w="12700">
            <a:solidFill>
              <a:srgbClr val="1C2E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4709160" y="822960"/>
            <a:ext cx="4251960" cy="4572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6320" y="932688"/>
            <a:ext cx="347472" cy="347472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8366760" y="914400"/>
            <a:ext cx="530352" cy="237744"/>
          </a:xfrm>
          <a:prstGeom prst="rect">
            <a:avLst/>
          </a:prstGeom>
          <a:solidFill>
            <a:srgbClr val="1C2E44"/>
          </a:solidFill>
          <a:ln w="12700">
            <a:solidFill>
              <a:srgbClr val="1C2E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3"/>
          <p:cNvSpPr/>
          <p:nvPr/>
        </p:nvSpPr>
        <p:spPr>
          <a:xfrm>
            <a:off x="8366760" y="914400"/>
            <a:ext cx="53035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C9A8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2:35 AM</a:t>
            </a:r>
            <a:endParaRPr lang="en-US" sz="750" dirty="0"/>
          </a:p>
        </p:txBody>
      </p:sp>
      <p:sp>
        <p:nvSpPr>
          <p:cNvPr id="18" name="Text 14"/>
          <p:cNvSpPr/>
          <p:nvPr/>
        </p:nvSpPr>
        <p:spPr>
          <a:xfrm>
            <a:off x="5276088" y="914400"/>
            <a:ext cx="29992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employee handed over their password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4846320" y="1325880"/>
            <a:ext cx="3977640" cy="27432"/>
          </a:xfrm>
          <a:prstGeom prst="rect">
            <a:avLst/>
          </a:prstGeom>
          <a:solidFill>
            <a:srgbClr val="1C2E44"/>
          </a:solidFill>
          <a:ln w="12700">
            <a:solidFill>
              <a:srgbClr val="1C2E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6"/>
          <p:cNvSpPr/>
          <p:nvPr/>
        </p:nvSpPr>
        <p:spPr>
          <a:xfrm>
            <a:off x="4846320" y="1417320"/>
            <a:ext cx="397764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Feeling pressured, the employee provided their login credentials over the phone. The caller was not IT — they were an attacker using urgency and fear to manipulate.</a:t>
            </a:r>
            <a:endParaRPr lang="en-US" sz="950" dirty="0"/>
          </a:p>
        </p:txBody>
      </p:sp>
      <p:sp>
        <p:nvSpPr>
          <p:cNvPr id="21" name="Shape 17"/>
          <p:cNvSpPr/>
          <p:nvPr/>
        </p:nvSpPr>
        <p:spPr>
          <a:xfrm>
            <a:off x="274320" y="2788920"/>
            <a:ext cx="4251960" cy="1810512"/>
          </a:xfrm>
          <a:prstGeom prst="rect">
            <a:avLst/>
          </a:prstGeom>
          <a:solidFill>
            <a:srgbClr val="152233"/>
          </a:solidFill>
          <a:ln w="12700">
            <a:solidFill>
              <a:srgbClr val="1C2E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18"/>
          <p:cNvSpPr/>
          <p:nvPr/>
        </p:nvSpPr>
        <p:spPr>
          <a:xfrm>
            <a:off x="274320" y="2788920"/>
            <a:ext cx="4251960" cy="457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1480" y="2898648"/>
            <a:ext cx="347472" cy="347472"/>
          </a:xfrm>
          <a:prstGeom prst="rect">
            <a:avLst/>
          </a:prstGeom>
        </p:spPr>
      </p:pic>
      <p:sp>
        <p:nvSpPr>
          <p:cNvPr id="24" name="Shape 19"/>
          <p:cNvSpPr/>
          <p:nvPr/>
        </p:nvSpPr>
        <p:spPr>
          <a:xfrm>
            <a:off x="3931920" y="2880360"/>
            <a:ext cx="530352" cy="237744"/>
          </a:xfrm>
          <a:prstGeom prst="rect">
            <a:avLst/>
          </a:prstGeom>
          <a:solidFill>
            <a:srgbClr val="1C2E44"/>
          </a:solidFill>
          <a:ln w="12700">
            <a:solidFill>
              <a:srgbClr val="1C2E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0"/>
          <p:cNvSpPr/>
          <p:nvPr/>
        </p:nvSpPr>
        <p:spPr>
          <a:xfrm>
            <a:off x="3931920" y="2880360"/>
            <a:ext cx="53035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C9A8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6:10 AM</a:t>
            </a:r>
            <a:endParaRPr lang="en-US" sz="750" dirty="0"/>
          </a:p>
        </p:txBody>
      </p:sp>
      <p:sp>
        <p:nvSpPr>
          <p:cNvPr id="26" name="Text 21"/>
          <p:cNvSpPr/>
          <p:nvPr/>
        </p:nvSpPr>
        <p:spPr>
          <a:xfrm>
            <a:off x="841248" y="2880360"/>
            <a:ext cx="29992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attacker logged in</a:t>
            </a:r>
            <a:endParaRPr lang="en-US" sz="1100" dirty="0"/>
          </a:p>
        </p:txBody>
      </p:sp>
      <p:sp>
        <p:nvSpPr>
          <p:cNvPr id="27" name="Shape 22"/>
          <p:cNvSpPr/>
          <p:nvPr/>
        </p:nvSpPr>
        <p:spPr>
          <a:xfrm>
            <a:off x="411480" y="3291840"/>
            <a:ext cx="3977640" cy="27432"/>
          </a:xfrm>
          <a:prstGeom prst="rect">
            <a:avLst/>
          </a:prstGeom>
          <a:solidFill>
            <a:srgbClr val="1C2E44"/>
          </a:solidFill>
          <a:ln w="12700">
            <a:solidFill>
              <a:srgbClr val="1C2E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3"/>
          <p:cNvSpPr/>
          <p:nvPr/>
        </p:nvSpPr>
        <p:spPr>
          <a:xfrm>
            <a:off x="411480" y="3383280"/>
            <a:ext cx="397764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the stolen password, the attacker accessed the employee's work account. Because a key security control had not been set up, the system let them in without a second verification step.</a:t>
            </a:r>
            <a:endParaRPr lang="en-US" sz="950" dirty="0"/>
          </a:p>
        </p:txBody>
      </p:sp>
      <p:sp>
        <p:nvSpPr>
          <p:cNvPr id="29" name="Shape 24"/>
          <p:cNvSpPr/>
          <p:nvPr/>
        </p:nvSpPr>
        <p:spPr>
          <a:xfrm>
            <a:off x="4709160" y="2788920"/>
            <a:ext cx="4251960" cy="1810512"/>
          </a:xfrm>
          <a:prstGeom prst="rect">
            <a:avLst/>
          </a:prstGeom>
          <a:solidFill>
            <a:srgbClr val="152233"/>
          </a:solidFill>
          <a:ln w="12700">
            <a:solidFill>
              <a:srgbClr val="1C2E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5"/>
          <p:cNvSpPr/>
          <p:nvPr/>
        </p:nvSpPr>
        <p:spPr>
          <a:xfrm>
            <a:off x="4709160" y="2788920"/>
            <a:ext cx="4251960" cy="457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46320" y="2898648"/>
            <a:ext cx="347472" cy="347472"/>
          </a:xfrm>
          <a:prstGeom prst="rect">
            <a:avLst/>
          </a:prstGeom>
        </p:spPr>
      </p:pic>
      <p:sp>
        <p:nvSpPr>
          <p:cNvPr id="32" name="Shape 26"/>
          <p:cNvSpPr/>
          <p:nvPr/>
        </p:nvSpPr>
        <p:spPr>
          <a:xfrm>
            <a:off x="8366760" y="2880360"/>
            <a:ext cx="530352" cy="237744"/>
          </a:xfrm>
          <a:prstGeom prst="rect">
            <a:avLst/>
          </a:prstGeom>
          <a:solidFill>
            <a:srgbClr val="1C2E44"/>
          </a:solidFill>
          <a:ln w="12700">
            <a:solidFill>
              <a:srgbClr val="1C2E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27"/>
          <p:cNvSpPr/>
          <p:nvPr/>
        </p:nvSpPr>
        <p:spPr>
          <a:xfrm>
            <a:off x="8366760" y="2880360"/>
            <a:ext cx="53035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C9A8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6:41 AM</a:t>
            </a:r>
            <a:endParaRPr lang="en-US" sz="750" dirty="0"/>
          </a:p>
        </p:txBody>
      </p:sp>
      <p:sp>
        <p:nvSpPr>
          <p:cNvPr id="34" name="Text 28"/>
          <p:cNvSpPr/>
          <p:nvPr/>
        </p:nvSpPr>
        <p:spPr>
          <a:xfrm>
            <a:off x="5276088" y="2880360"/>
            <a:ext cx="29992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attacker changed the password and locked the employee out</a:t>
            </a:r>
            <a:endParaRPr lang="en-US" sz="1100" dirty="0"/>
          </a:p>
        </p:txBody>
      </p:sp>
      <p:sp>
        <p:nvSpPr>
          <p:cNvPr id="35" name="Shape 29"/>
          <p:cNvSpPr/>
          <p:nvPr/>
        </p:nvSpPr>
        <p:spPr>
          <a:xfrm>
            <a:off x="4846320" y="3291840"/>
            <a:ext cx="3977640" cy="27432"/>
          </a:xfrm>
          <a:prstGeom prst="rect">
            <a:avLst/>
          </a:prstGeom>
          <a:solidFill>
            <a:srgbClr val="1C2E44"/>
          </a:solidFill>
          <a:ln w="12700">
            <a:solidFill>
              <a:srgbClr val="1C2E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0"/>
          <p:cNvSpPr/>
          <p:nvPr/>
        </p:nvSpPr>
        <p:spPr>
          <a:xfrm>
            <a:off x="4846320" y="3383280"/>
            <a:ext cx="397764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attacker reset the account password, blocking the legitimate employee from their own account and creating a foothold for further access.</a:t>
            </a:r>
            <a:endParaRPr lang="en-US" sz="950" dirty="0"/>
          </a:p>
        </p:txBody>
      </p:sp>
      <p:sp>
        <p:nvSpPr>
          <p:cNvPr id="37" name="Shape 31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52233"/>
          </a:solidFill>
          <a:ln w="12700">
            <a:solidFill>
              <a:srgbClr val="1522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2"/>
          <p:cNvSpPr/>
          <p:nvPr/>
        </p:nvSpPr>
        <p:spPr>
          <a:xfrm>
            <a:off x="274320" y="4864608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8A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Maxine Jones  ·  Identity Compromise Incident  ·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52233"/>
          </a:solidFill>
          <a:ln w="12700">
            <a:solidFill>
              <a:srgbClr val="1522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58368"/>
            <a:ext cx="9144000" cy="45720"/>
          </a:xfrm>
          <a:prstGeom prst="rect">
            <a:avLst/>
          </a:prstGeom>
          <a:solidFill>
            <a:srgbClr val="C9A846"/>
          </a:solidFill>
          <a:ln w="12700">
            <a:solidFill>
              <a:srgbClr val="C9A8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91440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Was at Risk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65760" y="77724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A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compromised account belonged to an HR employee — someone with access to sensitive information about your people.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28600" y="1170432"/>
            <a:ext cx="2834640" cy="1572768"/>
          </a:xfrm>
          <a:prstGeom prst="rect">
            <a:avLst/>
          </a:prstGeom>
          <a:solidFill>
            <a:srgbClr val="152233"/>
          </a:solidFill>
          <a:ln w="12700">
            <a:solidFill>
              <a:srgbClr val="1C2E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28600" y="1170432"/>
            <a:ext cx="54864" cy="157276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616" y="1280160"/>
            <a:ext cx="329184" cy="32918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77240" y="1261872"/>
            <a:ext cx="21762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Information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356616" y="1673352"/>
            <a:ext cx="2596896" cy="27432"/>
          </a:xfrm>
          <a:prstGeom prst="rect">
            <a:avLst/>
          </a:prstGeom>
          <a:solidFill>
            <a:srgbClr val="1C2E44"/>
          </a:solidFill>
          <a:ln w="12700">
            <a:solidFill>
              <a:srgbClr val="1C2E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356616" y="1755648"/>
            <a:ext cx="259689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Names, job titles, salaries, contact details, and reporting structures were accessible through this account.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3246120" y="1170432"/>
            <a:ext cx="2834640" cy="1572768"/>
          </a:xfrm>
          <a:prstGeom prst="rect">
            <a:avLst/>
          </a:prstGeom>
          <a:solidFill>
            <a:srgbClr val="152233"/>
          </a:solidFill>
          <a:ln w="12700">
            <a:solidFill>
              <a:srgbClr val="1C2E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3246120" y="1170432"/>
            <a:ext cx="54864" cy="157276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74136" y="1280160"/>
            <a:ext cx="329184" cy="329184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794760" y="1261872"/>
            <a:ext cx="21762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Structure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3374136" y="1673352"/>
            <a:ext cx="2596896" cy="27432"/>
          </a:xfrm>
          <a:prstGeom prst="rect">
            <a:avLst/>
          </a:prstGeom>
          <a:solidFill>
            <a:srgbClr val="1C2E44"/>
          </a:solidFill>
          <a:ln w="12700">
            <a:solidFill>
              <a:srgbClr val="1C2E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3"/>
          <p:cNvSpPr/>
          <p:nvPr/>
        </p:nvSpPr>
        <p:spPr>
          <a:xfrm>
            <a:off x="3374136" y="1755648"/>
            <a:ext cx="259689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attacker could see how the organization is set up — teams, reporting lines, and who has access to what.</a:t>
            </a:r>
            <a:endParaRPr lang="en-US" sz="900" dirty="0"/>
          </a:p>
        </p:txBody>
      </p:sp>
      <p:sp>
        <p:nvSpPr>
          <p:cNvPr id="18" name="Shape 14"/>
          <p:cNvSpPr/>
          <p:nvPr/>
        </p:nvSpPr>
        <p:spPr>
          <a:xfrm>
            <a:off x="6263640" y="1170432"/>
            <a:ext cx="2834640" cy="1572768"/>
          </a:xfrm>
          <a:prstGeom prst="rect">
            <a:avLst/>
          </a:prstGeom>
          <a:solidFill>
            <a:srgbClr val="152233"/>
          </a:solidFill>
          <a:ln w="12700">
            <a:solidFill>
              <a:srgbClr val="1C2E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5"/>
          <p:cNvSpPr/>
          <p:nvPr/>
        </p:nvSpPr>
        <p:spPr>
          <a:xfrm>
            <a:off x="6263640" y="1170432"/>
            <a:ext cx="54864" cy="157276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91656" y="1280160"/>
            <a:ext cx="329184" cy="329184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812280" y="1261872"/>
            <a:ext cx="21762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Records</a:t>
            </a:r>
            <a:endParaRPr lang="en-US" sz="1050" dirty="0"/>
          </a:p>
        </p:txBody>
      </p:sp>
      <p:sp>
        <p:nvSpPr>
          <p:cNvPr id="22" name="Shape 17"/>
          <p:cNvSpPr/>
          <p:nvPr/>
        </p:nvSpPr>
        <p:spPr>
          <a:xfrm>
            <a:off x="6391656" y="1673352"/>
            <a:ext cx="2596896" cy="27432"/>
          </a:xfrm>
          <a:prstGeom prst="rect">
            <a:avLst/>
          </a:prstGeom>
          <a:solidFill>
            <a:srgbClr val="1C2E44"/>
          </a:solidFill>
          <a:ln w="12700">
            <a:solidFill>
              <a:srgbClr val="1C2E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18"/>
          <p:cNvSpPr/>
          <p:nvPr/>
        </p:nvSpPr>
        <p:spPr>
          <a:xfrm>
            <a:off x="6391656" y="1755648"/>
            <a:ext cx="259689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connected business system (CRM) could have been accessed using the same stolen login. This would have exposed customer data.</a:t>
            </a:r>
            <a:endParaRPr lang="en-US" sz="900" dirty="0"/>
          </a:p>
        </p:txBody>
      </p:sp>
      <p:sp>
        <p:nvSpPr>
          <p:cNvPr id="24" name="Shape 19"/>
          <p:cNvSpPr/>
          <p:nvPr/>
        </p:nvSpPr>
        <p:spPr>
          <a:xfrm>
            <a:off x="228600" y="2880360"/>
            <a:ext cx="2834640" cy="1572768"/>
          </a:xfrm>
          <a:prstGeom prst="rect">
            <a:avLst/>
          </a:prstGeom>
          <a:solidFill>
            <a:srgbClr val="152233"/>
          </a:solidFill>
          <a:ln w="12700">
            <a:solidFill>
              <a:srgbClr val="1C2E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0"/>
          <p:cNvSpPr/>
          <p:nvPr/>
        </p:nvSpPr>
        <p:spPr>
          <a:xfrm>
            <a:off x="228600" y="2880360"/>
            <a:ext cx="54864" cy="1572768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6616" y="2990088"/>
            <a:ext cx="329184" cy="329184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777240" y="2971800"/>
            <a:ext cx="21762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&amp; Compliance Exposure</a:t>
            </a:r>
            <a:endParaRPr lang="en-US" sz="1050" dirty="0"/>
          </a:p>
        </p:txBody>
      </p:sp>
      <p:sp>
        <p:nvSpPr>
          <p:cNvPr id="28" name="Shape 22"/>
          <p:cNvSpPr/>
          <p:nvPr/>
        </p:nvSpPr>
        <p:spPr>
          <a:xfrm>
            <a:off x="356616" y="3383280"/>
            <a:ext cx="2596896" cy="27432"/>
          </a:xfrm>
          <a:prstGeom prst="rect">
            <a:avLst/>
          </a:prstGeom>
          <a:solidFill>
            <a:srgbClr val="1C2E44"/>
          </a:solidFill>
          <a:ln w="12700">
            <a:solidFill>
              <a:srgbClr val="1C2E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3"/>
          <p:cNvSpPr/>
          <p:nvPr/>
        </p:nvSpPr>
        <p:spPr>
          <a:xfrm>
            <a:off x="356616" y="3465576"/>
            <a:ext cx="259689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Unauthorized access to personal employee data may trigger legal notification requirements under privacy laws.</a:t>
            </a:r>
            <a:endParaRPr lang="en-US" sz="900" dirty="0"/>
          </a:p>
        </p:txBody>
      </p:sp>
      <p:sp>
        <p:nvSpPr>
          <p:cNvPr id="30" name="Shape 24"/>
          <p:cNvSpPr/>
          <p:nvPr/>
        </p:nvSpPr>
        <p:spPr>
          <a:xfrm>
            <a:off x="3246120" y="2880360"/>
            <a:ext cx="2834640" cy="1572768"/>
          </a:xfrm>
          <a:prstGeom prst="rect">
            <a:avLst/>
          </a:prstGeom>
          <a:solidFill>
            <a:srgbClr val="152233"/>
          </a:solidFill>
          <a:ln w="12700">
            <a:solidFill>
              <a:srgbClr val="1C2E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5"/>
          <p:cNvSpPr/>
          <p:nvPr/>
        </p:nvSpPr>
        <p:spPr>
          <a:xfrm>
            <a:off x="3246120" y="2880360"/>
            <a:ext cx="54864" cy="1572768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74136" y="2990088"/>
            <a:ext cx="329184" cy="329184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3794760" y="2971800"/>
            <a:ext cx="21762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Reputation</a:t>
            </a:r>
            <a:endParaRPr lang="en-US" sz="1050" dirty="0"/>
          </a:p>
        </p:txBody>
      </p:sp>
      <p:sp>
        <p:nvSpPr>
          <p:cNvPr id="34" name="Shape 27"/>
          <p:cNvSpPr/>
          <p:nvPr/>
        </p:nvSpPr>
        <p:spPr>
          <a:xfrm>
            <a:off x="3374136" y="3383280"/>
            <a:ext cx="2596896" cy="27432"/>
          </a:xfrm>
          <a:prstGeom prst="rect">
            <a:avLst/>
          </a:prstGeom>
          <a:solidFill>
            <a:srgbClr val="1C2E44"/>
          </a:solidFill>
          <a:ln w="12700">
            <a:solidFill>
              <a:srgbClr val="1C2E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28"/>
          <p:cNvSpPr/>
          <p:nvPr/>
        </p:nvSpPr>
        <p:spPr>
          <a:xfrm>
            <a:off x="3374136" y="3465576"/>
            <a:ext cx="259689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employee or customer data was accessed and leaked, it could damage trust with staff and clients.</a:t>
            </a:r>
            <a:endParaRPr lang="en-US" sz="900" dirty="0"/>
          </a:p>
        </p:txBody>
      </p:sp>
      <p:sp>
        <p:nvSpPr>
          <p:cNvPr id="36" name="Shape 29"/>
          <p:cNvSpPr/>
          <p:nvPr/>
        </p:nvSpPr>
        <p:spPr>
          <a:xfrm>
            <a:off x="6263640" y="2880360"/>
            <a:ext cx="2834640" cy="1572768"/>
          </a:xfrm>
          <a:prstGeom prst="rect">
            <a:avLst/>
          </a:prstGeom>
          <a:solidFill>
            <a:srgbClr val="152233"/>
          </a:solidFill>
          <a:ln w="12700">
            <a:solidFill>
              <a:srgbClr val="1C2E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0"/>
          <p:cNvSpPr/>
          <p:nvPr/>
        </p:nvSpPr>
        <p:spPr>
          <a:xfrm>
            <a:off x="6263640" y="2880360"/>
            <a:ext cx="54864" cy="1572768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8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91656" y="2990088"/>
            <a:ext cx="329184" cy="329184"/>
          </a:xfrm>
          <a:prstGeom prst="rect">
            <a:avLst/>
          </a:prstGeom>
        </p:spPr>
      </p:pic>
      <p:sp>
        <p:nvSpPr>
          <p:cNvPr id="39" name="Text 31"/>
          <p:cNvSpPr/>
          <p:nvPr/>
        </p:nvSpPr>
        <p:spPr>
          <a:xfrm>
            <a:off x="6812280" y="2971800"/>
            <a:ext cx="21762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 (Low Impact)</a:t>
            </a:r>
            <a:endParaRPr lang="en-US" sz="1050" dirty="0"/>
          </a:p>
        </p:txBody>
      </p:sp>
      <p:sp>
        <p:nvSpPr>
          <p:cNvPr id="40" name="Shape 32"/>
          <p:cNvSpPr/>
          <p:nvPr/>
        </p:nvSpPr>
        <p:spPr>
          <a:xfrm>
            <a:off x="6391656" y="3383280"/>
            <a:ext cx="2596896" cy="27432"/>
          </a:xfrm>
          <a:prstGeom prst="rect">
            <a:avLst/>
          </a:prstGeom>
          <a:solidFill>
            <a:srgbClr val="1C2E44"/>
          </a:solidFill>
          <a:ln w="12700">
            <a:solidFill>
              <a:srgbClr val="1C2E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3"/>
          <p:cNvSpPr/>
          <p:nvPr/>
        </p:nvSpPr>
        <p:spPr>
          <a:xfrm>
            <a:off x="6391656" y="3465576"/>
            <a:ext cx="259689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affected employee was temporarily locked out of their account during the incident. This was resolved quickly.</a:t>
            </a:r>
            <a:endParaRPr lang="en-US" sz="900" dirty="0"/>
          </a:p>
        </p:txBody>
      </p:sp>
      <p:sp>
        <p:nvSpPr>
          <p:cNvPr id="42" name="Shape 34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52233"/>
          </a:solidFill>
          <a:ln w="12700">
            <a:solidFill>
              <a:srgbClr val="1522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35"/>
          <p:cNvSpPr/>
          <p:nvPr/>
        </p:nvSpPr>
        <p:spPr>
          <a:xfrm>
            <a:off x="274320" y="4864608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8A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Maxine Jones  ·  Identity Compromise Incident  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52233"/>
          </a:solidFill>
          <a:ln w="12700">
            <a:solidFill>
              <a:srgbClr val="1522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58368"/>
            <a:ext cx="9144000" cy="45720"/>
          </a:xfrm>
          <a:prstGeom prst="rect">
            <a:avLst/>
          </a:prstGeom>
          <a:solidFill>
            <a:srgbClr val="C9A846"/>
          </a:solidFill>
          <a:ln w="12700">
            <a:solidFill>
              <a:srgbClr val="C9A8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91440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Caught It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74320" y="822960"/>
            <a:ext cx="8595360" cy="987552"/>
          </a:xfrm>
          <a:prstGeom prst="rect">
            <a:avLst/>
          </a:prstGeom>
          <a:solidFill>
            <a:srgbClr val="152233"/>
          </a:solidFill>
          <a:ln w="12700">
            <a:solidFill>
              <a:srgbClr val="C9A8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74320" y="822960"/>
            <a:ext cx="73152" cy="987552"/>
          </a:xfrm>
          <a:prstGeom prst="rect">
            <a:avLst/>
          </a:prstGeom>
          <a:solidFill>
            <a:srgbClr val="C9A846"/>
          </a:solidFill>
          <a:ln w="12700">
            <a:solidFill>
              <a:srgbClr val="C9A8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02920" y="868680"/>
            <a:ext cx="827532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attack wasn't caught by an alarm going off — it was caught by a security analyst reviewing login records during a routine morning check.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28600" y="1956816"/>
            <a:ext cx="2029968" cy="2697480"/>
          </a:xfrm>
          <a:prstGeom prst="rect">
            <a:avLst/>
          </a:prstGeom>
          <a:solidFill>
            <a:srgbClr val="152233"/>
          </a:solidFill>
          <a:ln w="12700">
            <a:solidFill>
              <a:srgbClr val="1C2E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228600" y="1956816"/>
            <a:ext cx="2029968" cy="4572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20040" y="2048256"/>
            <a:ext cx="594360" cy="219456"/>
          </a:xfrm>
          <a:prstGeom prst="rect">
            <a:avLst/>
          </a:prstGeom>
          <a:solidFill>
            <a:srgbClr val="1C2E44"/>
          </a:solidFill>
          <a:ln w="12700">
            <a:solidFill>
              <a:srgbClr val="1C2E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20040" y="2048256"/>
            <a:ext cx="594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007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~7:00 AM</a:t>
            </a:r>
            <a:endParaRPr lang="en-US" sz="750" dirty="0"/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" y="2048256"/>
            <a:ext cx="347472" cy="347472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320040" y="246888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 spots something unusual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320040" y="2889504"/>
            <a:ext cx="1847088" cy="27432"/>
          </a:xfrm>
          <a:prstGeom prst="rect">
            <a:avLst/>
          </a:prstGeom>
          <a:solidFill>
            <a:srgbClr val="1C2E44"/>
          </a:solidFill>
          <a:ln w="12700">
            <a:solidFill>
              <a:srgbClr val="1C2E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320040" y="2980944"/>
            <a:ext cx="1847088" cy="1591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security analyst reviewing overnight login records noticed that the HR employee's account had logged in at 6:10 AM from an unusual connection — and then immediately changed its own password.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2441448" y="1956816"/>
            <a:ext cx="2029968" cy="2697480"/>
          </a:xfrm>
          <a:prstGeom prst="rect">
            <a:avLst/>
          </a:prstGeom>
          <a:solidFill>
            <a:srgbClr val="152233"/>
          </a:solidFill>
          <a:ln w="12700">
            <a:solidFill>
              <a:srgbClr val="1C2E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2441448" y="1956816"/>
            <a:ext cx="2029968" cy="457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5"/>
          <p:cNvSpPr/>
          <p:nvPr/>
        </p:nvSpPr>
        <p:spPr>
          <a:xfrm>
            <a:off x="2532888" y="2048256"/>
            <a:ext cx="594360" cy="219456"/>
          </a:xfrm>
          <a:prstGeom prst="rect">
            <a:avLst/>
          </a:prstGeom>
          <a:solidFill>
            <a:srgbClr val="1C2E44"/>
          </a:solidFill>
          <a:ln w="12700">
            <a:solidFill>
              <a:srgbClr val="1C2E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2532888" y="2048256"/>
            <a:ext cx="594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~7:10 AM</a:t>
            </a:r>
            <a:endParaRPr lang="en-US" sz="750" dirty="0"/>
          </a:p>
        </p:txBody>
      </p:sp>
      <p:pic>
        <p:nvPicPr>
          <p:cNvPr id="2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0" y="2048256"/>
            <a:ext cx="347472" cy="347472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2532888" y="246888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immediately locked down</a:t>
            </a:r>
            <a:endParaRPr lang="en-US" sz="1000" dirty="0"/>
          </a:p>
        </p:txBody>
      </p:sp>
      <p:sp>
        <p:nvSpPr>
          <p:cNvPr id="22" name="Shape 18"/>
          <p:cNvSpPr/>
          <p:nvPr/>
        </p:nvSpPr>
        <p:spPr>
          <a:xfrm>
            <a:off x="2532888" y="2889504"/>
            <a:ext cx="1847088" cy="27432"/>
          </a:xfrm>
          <a:prstGeom prst="rect">
            <a:avLst/>
          </a:prstGeom>
          <a:solidFill>
            <a:srgbClr val="1C2E44"/>
          </a:solidFill>
          <a:ln w="12700">
            <a:solidFill>
              <a:srgbClr val="1C2E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19"/>
          <p:cNvSpPr/>
          <p:nvPr/>
        </p:nvSpPr>
        <p:spPr>
          <a:xfrm>
            <a:off x="2532888" y="2980944"/>
            <a:ext cx="1847088" cy="1591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security team remotely ended all active sessions, blocked the attacker's connection, and issued a new temporary password for the legitimate employee.</a:t>
            </a:r>
            <a:endParaRPr lang="en-US" sz="900" dirty="0"/>
          </a:p>
        </p:txBody>
      </p:sp>
      <p:sp>
        <p:nvSpPr>
          <p:cNvPr id="24" name="Shape 20"/>
          <p:cNvSpPr/>
          <p:nvPr/>
        </p:nvSpPr>
        <p:spPr>
          <a:xfrm>
            <a:off x="4654296" y="1956816"/>
            <a:ext cx="2029968" cy="2697480"/>
          </a:xfrm>
          <a:prstGeom prst="rect">
            <a:avLst/>
          </a:prstGeom>
          <a:solidFill>
            <a:srgbClr val="152233"/>
          </a:solidFill>
          <a:ln w="12700">
            <a:solidFill>
              <a:srgbClr val="1C2E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1"/>
          <p:cNvSpPr/>
          <p:nvPr/>
        </p:nvSpPr>
        <p:spPr>
          <a:xfrm>
            <a:off x="4654296" y="1956816"/>
            <a:ext cx="2029968" cy="4572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2"/>
          <p:cNvSpPr/>
          <p:nvPr/>
        </p:nvSpPr>
        <p:spPr>
          <a:xfrm>
            <a:off x="4745736" y="2048256"/>
            <a:ext cx="594360" cy="219456"/>
          </a:xfrm>
          <a:prstGeom prst="rect">
            <a:avLst/>
          </a:prstGeom>
          <a:solidFill>
            <a:srgbClr val="1C2E44"/>
          </a:solidFill>
          <a:ln w="12700">
            <a:solidFill>
              <a:srgbClr val="1C2E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3"/>
          <p:cNvSpPr/>
          <p:nvPr/>
        </p:nvSpPr>
        <p:spPr>
          <a:xfrm>
            <a:off x="4745736" y="2048256"/>
            <a:ext cx="594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~7:15 AM</a:t>
            </a:r>
            <a:endParaRPr lang="en-US" sz="750" dirty="0"/>
          </a:p>
        </p:txBody>
      </p:sp>
      <p:pic>
        <p:nvPicPr>
          <p:cNvPr id="2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13248" y="2048256"/>
            <a:ext cx="347472" cy="347472"/>
          </a:xfrm>
          <a:prstGeom prst="rect">
            <a:avLst/>
          </a:prstGeom>
        </p:spPr>
      </p:pic>
      <p:sp>
        <p:nvSpPr>
          <p:cNvPr id="29" name="Text 24"/>
          <p:cNvSpPr/>
          <p:nvPr/>
        </p:nvSpPr>
        <p:spPr>
          <a:xfrm>
            <a:off x="4745736" y="246888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 report drafted</a:t>
            </a:r>
            <a:endParaRPr lang="en-US" sz="1000" dirty="0"/>
          </a:p>
        </p:txBody>
      </p:sp>
      <p:sp>
        <p:nvSpPr>
          <p:cNvPr id="30" name="Shape 25"/>
          <p:cNvSpPr/>
          <p:nvPr/>
        </p:nvSpPr>
        <p:spPr>
          <a:xfrm>
            <a:off x="4745736" y="2889504"/>
            <a:ext cx="1847088" cy="27432"/>
          </a:xfrm>
          <a:prstGeom prst="rect">
            <a:avLst/>
          </a:prstGeom>
          <a:solidFill>
            <a:srgbClr val="1C2E44"/>
          </a:solidFill>
          <a:ln w="12700">
            <a:solidFill>
              <a:srgbClr val="1C2E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6"/>
          <p:cNvSpPr/>
          <p:nvPr/>
        </p:nvSpPr>
        <p:spPr>
          <a:xfrm>
            <a:off x="4745736" y="2980944"/>
            <a:ext cx="1847088" cy="1591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 incident report was prepared and shared with the security team, documenting exactly what happened, what was accessed, and what actions were taken.</a:t>
            </a:r>
            <a:endParaRPr lang="en-US" sz="900" dirty="0"/>
          </a:p>
        </p:txBody>
      </p:sp>
      <p:sp>
        <p:nvSpPr>
          <p:cNvPr id="32" name="Shape 27"/>
          <p:cNvSpPr/>
          <p:nvPr/>
        </p:nvSpPr>
        <p:spPr>
          <a:xfrm>
            <a:off x="6867144" y="1956816"/>
            <a:ext cx="2029968" cy="2697480"/>
          </a:xfrm>
          <a:prstGeom prst="rect">
            <a:avLst/>
          </a:prstGeom>
          <a:solidFill>
            <a:srgbClr val="152233"/>
          </a:solidFill>
          <a:ln w="12700">
            <a:solidFill>
              <a:srgbClr val="1C2E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28"/>
          <p:cNvSpPr/>
          <p:nvPr/>
        </p:nvSpPr>
        <p:spPr>
          <a:xfrm>
            <a:off x="6867144" y="1956816"/>
            <a:ext cx="2029968" cy="4572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29"/>
          <p:cNvSpPr/>
          <p:nvPr/>
        </p:nvSpPr>
        <p:spPr>
          <a:xfrm>
            <a:off x="6958584" y="2048256"/>
            <a:ext cx="594360" cy="219456"/>
          </a:xfrm>
          <a:prstGeom prst="rect">
            <a:avLst/>
          </a:prstGeom>
          <a:solidFill>
            <a:srgbClr val="1C2E44"/>
          </a:solidFill>
          <a:ln w="12700">
            <a:solidFill>
              <a:srgbClr val="1C2E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0"/>
          <p:cNvSpPr/>
          <p:nvPr/>
        </p:nvSpPr>
        <p:spPr>
          <a:xfrm>
            <a:off x="6958584" y="2048256"/>
            <a:ext cx="594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~7:30 AM</a:t>
            </a:r>
            <a:endParaRPr lang="en-US" sz="750" dirty="0"/>
          </a:p>
        </p:txBody>
      </p:sp>
      <p:pic>
        <p:nvPicPr>
          <p:cNvPr id="3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26096" y="2048256"/>
            <a:ext cx="347472" cy="347472"/>
          </a:xfrm>
          <a:prstGeom prst="rect">
            <a:avLst/>
          </a:prstGeom>
        </p:spPr>
      </p:pic>
      <p:sp>
        <p:nvSpPr>
          <p:cNvPr id="37" name="Text 31"/>
          <p:cNvSpPr/>
          <p:nvPr/>
        </p:nvSpPr>
        <p:spPr>
          <a:xfrm>
            <a:off x="6958584" y="246888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upgrades deployed</a:t>
            </a:r>
            <a:endParaRPr lang="en-US" sz="1000" dirty="0"/>
          </a:p>
        </p:txBody>
      </p:sp>
      <p:sp>
        <p:nvSpPr>
          <p:cNvPr id="38" name="Shape 32"/>
          <p:cNvSpPr/>
          <p:nvPr/>
        </p:nvSpPr>
        <p:spPr>
          <a:xfrm>
            <a:off x="6958584" y="2889504"/>
            <a:ext cx="1847088" cy="27432"/>
          </a:xfrm>
          <a:prstGeom prst="rect">
            <a:avLst/>
          </a:prstGeom>
          <a:solidFill>
            <a:srgbClr val="1C2E44"/>
          </a:solidFill>
          <a:ln w="12700">
            <a:solidFill>
              <a:srgbClr val="1C2E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3"/>
          <p:cNvSpPr/>
          <p:nvPr/>
        </p:nvSpPr>
        <p:spPr>
          <a:xfrm>
            <a:off x="6958584" y="2980944"/>
            <a:ext cx="1847088" cy="1591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new security policies were turned on to prevent this type of attack from working again — all within 30 minutes of detecting the breach.</a:t>
            </a:r>
            <a:endParaRPr lang="en-US" sz="900" dirty="0"/>
          </a:p>
        </p:txBody>
      </p:sp>
      <p:sp>
        <p:nvSpPr>
          <p:cNvPr id="40" name="Shape 34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52233"/>
          </a:solidFill>
          <a:ln w="12700">
            <a:solidFill>
              <a:srgbClr val="152233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41" name="Text 35"/>
          <p:cNvSpPr/>
          <p:nvPr/>
        </p:nvSpPr>
        <p:spPr>
          <a:xfrm>
            <a:off x="274320" y="4864608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8A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Maxine Jones  ·  Identity Compromise Incident  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52233"/>
          </a:solidFill>
          <a:ln w="12700">
            <a:solidFill>
              <a:srgbClr val="1522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58368"/>
            <a:ext cx="9144000" cy="457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91440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Was Able to Happen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74320" y="804672"/>
            <a:ext cx="8595360" cy="1188720"/>
          </a:xfrm>
          <a:prstGeom prst="rect">
            <a:avLst/>
          </a:prstGeom>
          <a:solidFill>
            <a:srgbClr val="2A0808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896112"/>
            <a:ext cx="822960" cy="8229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71600" y="868680"/>
            <a:ext cx="7406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#1 Root Cause: No Two-Step Verification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371600" y="1234440"/>
            <a:ext cx="74066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of it like a door that only needs one key. If someone steals that key, they're in — no second lock to stop them. The employee's account only required a password. Once the attacker had the password, nothing blocked their way in.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274320" y="2121408"/>
            <a:ext cx="2834640" cy="2606040"/>
          </a:xfrm>
          <a:prstGeom prst="rect">
            <a:avLst/>
          </a:prstGeom>
          <a:solidFill>
            <a:srgbClr val="152233"/>
          </a:solidFill>
          <a:ln w="12700">
            <a:solidFill>
              <a:srgbClr val="1C2E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274320" y="2121408"/>
            <a:ext cx="2834640" cy="4572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63040" y="2212848"/>
            <a:ext cx="438912" cy="43891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11480" y="2724912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phone call worked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411480" y="3090672"/>
            <a:ext cx="2560320" cy="27432"/>
          </a:xfrm>
          <a:prstGeom prst="rect">
            <a:avLst/>
          </a:prstGeom>
          <a:solidFill>
            <a:srgbClr val="1C2E44"/>
          </a:solidFill>
          <a:ln w="12700">
            <a:solidFill>
              <a:srgbClr val="1C2E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0"/>
          <p:cNvSpPr/>
          <p:nvPr/>
        </p:nvSpPr>
        <p:spPr>
          <a:xfrm>
            <a:off x="411480" y="3182112"/>
            <a:ext cx="25603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attacker's script was convincing — urgency, authority, and timing (middle of the night) are classic psychological tricks. Our staff hadn't received targeted training for this exact scenario.</a:t>
            </a:r>
            <a:endParaRPr lang="en-US" sz="950" dirty="0"/>
          </a:p>
        </p:txBody>
      </p:sp>
      <p:sp>
        <p:nvSpPr>
          <p:cNvPr id="15" name="Shape 11"/>
          <p:cNvSpPr/>
          <p:nvPr/>
        </p:nvSpPr>
        <p:spPr>
          <a:xfrm>
            <a:off x="3246120" y="2121408"/>
            <a:ext cx="2834640" cy="2606040"/>
          </a:xfrm>
          <a:prstGeom prst="rect">
            <a:avLst/>
          </a:prstGeom>
          <a:solidFill>
            <a:srgbClr val="152233"/>
          </a:solidFill>
          <a:ln w="12700">
            <a:solidFill>
              <a:srgbClr val="1C2E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2"/>
          <p:cNvSpPr/>
          <p:nvPr/>
        </p:nvSpPr>
        <p:spPr>
          <a:xfrm>
            <a:off x="3246120" y="2121408"/>
            <a:ext cx="2834640" cy="4572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34840" y="2212848"/>
            <a:ext cx="438912" cy="43891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3383280" y="2724912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employee could reset their own password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3383280" y="3090672"/>
            <a:ext cx="2560320" cy="27432"/>
          </a:xfrm>
          <a:prstGeom prst="rect">
            <a:avLst/>
          </a:prstGeom>
          <a:solidFill>
            <a:srgbClr val="1C2E44"/>
          </a:solidFill>
          <a:ln w="12700">
            <a:solidFill>
              <a:srgbClr val="1C2E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5"/>
          <p:cNvSpPr/>
          <p:nvPr/>
        </p:nvSpPr>
        <p:spPr>
          <a:xfrm>
            <a:off x="3383280" y="3182112"/>
            <a:ext cx="25603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Self-service password reset is convenient — but without extra verification, it allowed the attacker to lock out the real employee and take full control of the account.</a:t>
            </a:r>
            <a:endParaRPr lang="en-US" sz="950" dirty="0"/>
          </a:p>
        </p:txBody>
      </p:sp>
      <p:sp>
        <p:nvSpPr>
          <p:cNvPr id="21" name="Shape 16"/>
          <p:cNvSpPr/>
          <p:nvPr/>
        </p:nvSpPr>
        <p:spPr>
          <a:xfrm>
            <a:off x="6217920" y="2121408"/>
            <a:ext cx="2834640" cy="2606040"/>
          </a:xfrm>
          <a:prstGeom prst="rect">
            <a:avLst/>
          </a:prstGeom>
          <a:solidFill>
            <a:srgbClr val="152233"/>
          </a:solidFill>
          <a:ln w="12700">
            <a:solidFill>
              <a:srgbClr val="1C2E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17"/>
          <p:cNvSpPr/>
          <p:nvPr/>
        </p:nvSpPr>
        <p:spPr>
          <a:xfrm>
            <a:off x="6217920" y="2121408"/>
            <a:ext cx="2834640" cy="45720"/>
          </a:xfrm>
          <a:prstGeom prst="rect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06640" y="2212848"/>
            <a:ext cx="438912" cy="438912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6355080" y="2724912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 security gaps existed</a:t>
            </a:r>
            <a:endParaRPr lang="en-US" sz="1050" dirty="0"/>
          </a:p>
        </p:txBody>
      </p:sp>
      <p:sp>
        <p:nvSpPr>
          <p:cNvPr id="25" name="Shape 19"/>
          <p:cNvSpPr/>
          <p:nvPr/>
        </p:nvSpPr>
        <p:spPr>
          <a:xfrm>
            <a:off x="6355080" y="3090672"/>
            <a:ext cx="2560320" cy="27432"/>
          </a:xfrm>
          <a:prstGeom prst="rect">
            <a:avLst/>
          </a:prstGeom>
          <a:solidFill>
            <a:srgbClr val="1C2E44"/>
          </a:solidFill>
          <a:ln w="12700">
            <a:solidFill>
              <a:srgbClr val="1C2E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0"/>
          <p:cNvSpPr/>
          <p:nvPr/>
        </p:nvSpPr>
        <p:spPr>
          <a:xfrm>
            <a:off x="6355080" y="3182112"/>
            <a:ext cx="25603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computer connected to this account had a number of security best-practices that hadn't been applied. While not directly exploited this time, they represent additional risk for future incidents.</a:t>
            </a:r>
            <a:endParaRPr lang="en-US" sz="950" dirty="0"/>
          </a:p>
        </p:txBody>
      </p:sp>
      <p:sp>
        <p:nvSpPr>
          <p:cNvPr id="28" name="Text 22"/>
          <p:cNvSpPr/>
          <p:nvPr/>
        </p:nvSpPr>
        <p:spPr>
          <a:xfrm>
            <a:off x="274320" y="4864608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8A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Maxine Jones  ·  Identity Compromise Incident 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52233"/>
          </a:solidFill>
          <a:ln w="12700">
            <a:solidFill>
              <a:srgbClr val="1522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58368"/>
            <a:ext cx="9144000" cy="4572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91440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We've Already Done About It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74320" y="804672"/>
            <a:ext cx="4023360" cy="3931920"/>
          </a:xfrm>
          <a:prstGeom prst="rect">
            <a:avLst/>
          </a:prstGeom>
          <a:solidFill>
            <a:srgbClr val="152233"/>
          </a:solidFill>
          <a:ln w="12700">
            <a:solidFill>
              <a:srgbClr val="1C2E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74320" y="804672"/>
            <a:ext cx="4023360" cy="36576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65760" y="877824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first 30 minutes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1225296"/>
            <a:ext cx="3840480" cy="658368"/>
          </a:xfrm>
          <a:prstGeom prst="rect">
            <a:avLst/>
          </a:prstGeom>
          <a:solidFill>
            <a:srgbClr val="1C2E44"/>
          </a:solidFill>
          <a:ln w="12700">
            <a:solidFill>
              <a:srgbClr val="1C2E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371600"/>
            <a:ext cx="320040" cy="32004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868680" y="1225296"/>
            <a:ext cx="3255264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Kicked the attacker out — ended their access immediately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365760" y="2011680"/>
            <a:ext cx="3840480" cy="658368"/>
          </a:xfrm>
          <a:prstGeom prst="rect">
            <a:avLst/>
          </a:prstGeom>
          <a:solidFill>
            <a:srgbClr val="1C2E44"/>
          </a:solidFill>
          <a:ln w="12700">
            <a:solidFill>
              <a:srgbClr val="1C2E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2157984"/>
            <a:ext cx="320040" cy="32004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868680" y="2011680"/>
            <a:ext cx="3255264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Reset the employee's password and restored their access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365760" y="2798064"/>
            <a:ext cx="3840480" cy="658368"/>
          </a:xfrm>
          <a:prstGeom prst="rect">
            <a:avLst/>
          </a:prstGeom>
          <a:solidFill>
            <a:srgbClr val="1C2E44"/>
          </a:solidFill>
          <a:ln w="12700">
            <a:solidFill>
              <a:srgbClr val="1C2E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2944368"/>
            <a:ext cx="320040" cy="32004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68680" y="2798064"/>
            <a:ext cx="3255264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Removed the fake group the attacker created in the system</a:t>
            </a:r>
            <a:endParaRPr lang="en-US" sz="1000" dirty="0"/>
          </a:p>
        </p:txBody>
      </p:sp>
      <p:sp>
        <p:nvSpPr>
          <p:cNvPr id="17" name="Shape 12"/>
          <p:cNvSpPr/>
          <p:nvPr/>
        </p:nvSpPr>
        <p:spPr>
          <a:xfrm>
            <a:off x="365760" y="3584448"/>
            <a:ext cx="3840480" cy="658368"/>
          </a:xfrm>
          <a:prstGeom prst="rect">
            <a:avLst/>
          </a:prstGeom>
          <a:solidFill>
            <a:srgbClr val="1C2E44"/>
          </a:solidFill>
          <a:ln w="12700">
            <a:solidFill>
              <a:srgbClr val="1C2E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3730752"/>
            <a:ext cx="320040" cy="32004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868680" y="3584448"/>
            <a:ext cx="3255264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Blocked the internet addresses the attacker was using</a:t>
            </a:r>
            <a:endParaRPr lang="en-US" sz="1000" dirty="0"/>
          </a:p>
        </p:txBody>
      </p:sp>
      <p:sp>
        <p:nvSpPr>
          <p:cNvPr id="20" name="Shape 14"/>
          <p:cNvSpPr/>
          <p:nvPr/>
        </p:nvSpPr>
        <p:spPr>
          <a:xfrm>
            <a:off x="4572000" y="804672"/>
            <a:ext cx="4297680" cy="3931920"/>
          </a:xfrm>
          <a:prstGeom prst="rect">
            <a:avLst/>
          </a:prstGeom>
          <a:solidFill>
            <a:srgbClr val="152233"/>
          </a:solidFill>
          <a:ln w="12700">
            <a:solidFill>
              <a:srgbClr val="1C2E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5"/>
          <p:cNvSpPr/>
          <p:nvPr/>
        </p:nvSpPr>
        <p:spPr>
          <a:xfrm>
            <a:off x="4572000" y="804672"/>
            <a:ext cx="4297680" cy="36576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6"/>
          <p:cNvSpPr/>
          <p:nvPr/>
        </p:nvSpPr>
        <p:spPr>
          <a:xfrm>
            <a:off x="4663440" y="877824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protections now in place</a:t>
            </a:r>
            <a:endParaRPr lang="en-US" sz="1100" dirty="0"/>
          </a:p>
        </p:txBody>
      </p:sp>
      <p:sp>
        <p:nvSpPr>
          <p:cNvPr id="23" name="Shape 17"/>
          <p:cNvSpPr/>
          <p:nvPr/>
        </p:nvSpPr>
        <p:spPr>
          <a:xfrm>
            <a:off x="4663440" y="1225296"/>
            <a:ext cx="4114800" cy="603504"/>
          </a:xfrm>
          <a:prstGeom prst="rect">
            <a:avLst/>
          </a:prstGeom>
          <a:solidFill>
            <a:srgbClr val="1C2E44"/>
          </a:solidFill>
          <a:ln w="12700">
            <a:solidFill>
              <a:srgbClr val="1C2E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54880" y="1353312"/>
            <a:ext cx="320040" cy="320040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5166360" y="1225296"/>
            <a:ext cx="3529584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Two-step verification now required for everyone — a password alone is no longer enough to log in</a:t>
            </a:r>
            <a:endParaRPr lang="en-US" sz="950" dirty="0"/>
          </a:p>
        </p:txBody>
      </p:sp>
      <p:sp>
        <p:nvSpPr>
          <p:cNvPr id="26" name="Shape 19"/>
          <p:cNvSpPr/>
          <p:nvPr/>
        </p:nvSpPr>
        <p:spPr>
          <a:xfrm>
            <a:off x="4663440" y="1920240"/>
            <a:ext cx="4114800" cy="603504"/>
          </a:xfrm>
          <a:prstGeom prst="rect">
            <a:avLst/>
          </a:prstGeom>
          <a:solidFill>
            <a:srgbClr val="1C2E44"/>
          </a:solidFill>
          <a:ln w="12700">
            <a:solidFill>
              <a:srgbClr val="1C2E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54880" y="2048256"/>
            <a:ext cx="320040" cy="320040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5166360" y="1920240"/>
            <a:ext cx="3529584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Logins from unexpected locations are now automatically blocked</a:t>
            </a:r>
            <a:endParaRPr lang="en-US" sz="950" dirty="0"/>
          </a:p>
        </p:txBody>
      </p:sp>
      <p:sp>
        <p:nvSpPr>
          <p:cNvPr id="29" name="Shape 21"/>
          <p:cNvSpPr/>
          <p:nvPr/>
        </p:nvSpPr>
        <p:spPr>
          <a:xfrm>
            <a:off x="4663440" y="2615184"/>
            <a:ext cx="4114800" cy="603504"/>
          </a:xfrm>
          <a:prstGeom prst="rect">
            <a:avLst/>
          </a:prstGeom>
          <a:solidFill>
            <a:srgbClr val="1C2E44"/>
          </a:solidFill>
          <a:ln w="12700">
            <a:solidFill>
              <a:srgbClr val="1C2E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0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754880" y="2743200"/>
            <a:ext cx="320040" cy="320040"/>
          </a:xfrm>
          <a:prstGeom prst="rect">
            <a:avLst/>
          </a:prstGeom>
        </p:spPr>
      </p:pic>
      <p:sp>
        <p:nvSpPr>
          <p:cNvPr id="31" name="Text 22"/>
          <p:cNvSpPr/>
          <p:nvPr/>
        </p:nvSpPr>
        <p:spPr>
          <a:xfrm>
            <a:off x="5166360" y="2615184"/>
            <a:ext cx="3529584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devices that meet security standards can access company systems</a:t>
            </a:r>
            <a:endParaRPr lang="en-US" sz="950" dirty="0"/>
          </a:p>
        </p:txBody>
      </p:sp>
      <p:sp>
        <p:nvSpPr>
          <p:cNvPr id="32" name="Shape 23"/>
          <p:cNvSpPr/>
          <p:nvPr/>
        </p:nvSpPr>
        <p:spPr>
          <a:xfrm>
            <a:off x="4663440" y="3310128"/>
            <a:ext cx="4114800" cy="603504"/>
          </a:xfrm>
          <a:prstGeom prst="rect">
            <a:avLst/>
          </a:prstGeom>
          <a:solidFill>
            <a:srgbClr val="1C2E44"/>
          </a:solidFill>
          <a:ln w="12700">
            <a:solidFill>
              <a:srgbClr val="1C2E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3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754880" y="3438144"/>
            <a:ext cx="320040" cy="320040"/>
          </a:xfrm>
          <a:prstGeom prst="rect">
            <a:avLst/>
          </a:prstGeom>
        </p:spPr>
      </p:pic>
      <p:sp>
        <p:nvSpPr>
          <p:cNvPr id="34" name="Text 24"/>
          <p:cNvSpPr/>
          <p:nvPr/>
        </p:nvSpPr>
        <p:spPr>
          <a:xfrm>
            <a:off x="5166360" y="3310128"/>
            <a:ext cx="3529584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Suspicious sign-in behaviour is now automatically flagged and blocked</a:t>
            </a:r>
            <a:endParaRPr lang="en-US" sz="950" dirty="0"/>
          </a:p>
        </p:txBody>
      </p:sp>
      <p:sp>
        <p:nvSpPr>
          <p:cNvPr id="35" name="Shape 25"/>
          <p:cNvSpPr/>
          <p:nvPr/>
        </p:nvSpPr>
        <p:spPr>
          <a:xfrm>
            <a:off x="4663440" y="4005072"/>
            <a:ext cx="4114800" cy="603504"/>
          </a:xfrm>
          <a:prstGeom prst="rect">
            <a:avLst/>
          </a:prstGeom>
          <a:solidFill>
            <a:srgbClr val="1C2E44"/>
          </a:solidFill>
          <a:ln w="12700">
            <a:solidFill>
              <a:srgbClr val="1C2E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6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754880" y="4133088"/>
            <a:ext cx="320040" cy="320040"/>
          </a:xfrm>
          <a:prstGeom prst="rect">
            <a:avLst/>
          </a:prstGeom>
        </p:spPr>
      </p:pic>
      <p:sp>
        <p:nvSpPr>
          <p:cNvPr id="37" name="Text 26"/>
          <p:cNvSpPr/>
          <p:nvPr/>
        </p:nvSpPr>
        <p:spPr>
          <a:xfrm>
            <a:off x="5166360" y="4005072"/>
            <a:ext cx="3529584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 self-reset now requires an additional security check before it works</a:t>
            </a:r>
            <a:endParaRPr lang="en-US" sz="950" dirty="0"/>
          </a:p>
        </p:txBody>
      </p:sp>
      <p:sp>
        <p:nvSpPr>
          <p:cNvPr id="38" name="Shape 27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52233"/>
          </a:solidFill>
          <a:ln w="12700">
            <a:solidFill>
              <a:srgbClr val="152233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9" name="Text 28"/>
          <p:cNvSpPr/>
          <p:nvPr/>
        </p:nvSpPr>
        <p:spPr>
          <a:xfrm>
            <a:off x="274320" y="4864608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8A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Maxine Jones  ·  Identity Compromise Incident 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52233"/>
          </a:solidFill>
          <a:ln w="12700">
            <a:solidFill>
              <a:srgbClr val="1522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58368"/>
            <a:ext cx="9144000" cy="45720"/>
          </a:xfrm>
          <a:prstGeom prst="rect">
            <a:avLst/>
          </a:prstGeom>
          <a:solidFill>
            <a:srgbClr val="C9A846"/>
          </a:solidFill>
          <a:ln w="12700">
            <a:solidFill>
              <a:srgbClr val="C9A8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91440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Needs to Happen Next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28600" y="804672"/>
            <a:ext cx="2834640" cy="3931920"/>
          </a:xfrm>
          <a:prstGeom prst="rect">
            <a:avLst/>
          </a:prstGeom>
          <a:solidFill>
            <a:srgbClr val="152233"/>
          </a:solidFill>
          <a:ln w="12700">
            <a:solidFill>
              <a:srgbClr val="1C2E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28600" y="804672"/>
            <a:ext cx="2834640" cy="36576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328" y="886968"/>
            <a:ext cx="347472" cy="34747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77240" y="886968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Week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365760" y="1298448"/>
            <a:ext cx="2560320" cy="27432"/>
          </a:xfrm>
          <a:prstGeom prst="rect">
            <a:avLst/>
          </a:prstGeom>
          <a:solidFill>
            <a:srgbClr val="1C2E44"/>
          </a:solidFill>
          <a:ln w="12700">
            <a:solidFill>
              <a:srgbClr val="1C2E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365760" y="1444752"/>
            <a:ext cx="201168" cy="201168"/>
          </a:xfrm>
          <a:prstGeom prst="lin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649224" y="1389888"/>
            <a:ext cx="2304288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employee sets up two-step verification — this is the single most important step we can take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365760" y="2542032"/>
            <a:ext cx="201168" cy="201168"/>
          </a:xfrm>
          <a:prstGeom prst="lin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649224" y="2487168"/>
            <a:ext cx="2304288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staff receive a short briefing on how to spot suspicious phone calls impersonating IT or management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3246120" y="804672"/>
            <a:ext cx="2834640" cy="3931920"/>
          </a:xfrm>
          <a:prstGeom prst="rect">
            <a:avLst/>
          </a:prstGeom>
          <a:solidFill>
            <a:srgbClr val="152233"/>
          </a:solidFill>
          <a:ln w="12700">
            <a:solidFill>
              <a:srgbClr val="1C2E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3246120" y="804672"/>
            <a:ext cx="2834640" cy="36576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55848" y="886968"/>
            <a:ext cx="347472" cy="347472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3794760" y="886968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Month</a:t>
            </a:r>
            <a:endParaRPr lang="en-US" sz="1300" dirty="0"/>
          </a:p>
        </p:txBody>
      </p:sp>
      <p:sp>
        <p:nvSpPr>
          <p:cNvPr id="18" name="Shape 14"/>
          <p:cNvSpPr/>
          <p:nvPr/>
        </p:nvSpPr>
        <p:spPr>
          <a:xfrm>
            <a:off x="3383280" y="1298448"/>
            <a:ext cx="2560320" cy="27432"/>
          </a:xfrm>
          <a:prstGeom prst="rect">
            <a:avLst/>
          </a:prstGeom>
          <a:solidFill>
            <a:srgbClr val="1C2E44"/>
          </a:solidFill>
          <a:ln w="12700">
            <a:solidFill>
              <a:srgbClr val="1C2E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5"/>
          <p:cNvSpPr/>
          <p:nvPr/>
        </p:nvSpPr>
        <p:spPr>
          <a:xfrm>
            <a:off x="3383280" y="1444752"/>
            <a:ext cx="201168" cy="201168"/>
          </a:xfrm>
          <a:prstGeom prst="line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6"/>
          <p:cNvSpPr/>
          <p:nvPr/>
        </p:nvSpPr>
        <p:spPr>
          <a:xfrm>
            <a:off x="3666744" y="1389888"/>
            <a:ext cx="2304288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and tighten who can reset their own password without manager approval</a:t>
            </a:r>
            <a:endParaRPr lang="en-US" sz="950" dirty="0"/>
          </a:p>
        </p:txBody>
      </p:sp>
      <p:sp>
        <p:nvSpPr>
          <p:cNvPr id="21" name="Shape 17"/>
          <p:cNvSpPr/>
          <p:nvPr/>
        </p:nvSpPr>
        <p:spPr>
          <a:xfrm>
            <a:off x="3383280" y="2542032"/>
            <a:ext cx="201168" cy="201168"/>
          </a:xfrm>
          <a:prstGeom prst="line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8"/>
          <p:cNvSpPr/>
          <p:nvPr/>
        </p:nvSpPr>
        <p:spPr>
          <a:xfrm>
            <a:off x="3666744" y="2487168"/>
            <a:ext cx="2304288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which employees have access to sensitive customer and HR systems — reduce where possible</a:t>
            </a:r>
            <a:endParaRPr lang="en-US" sz="950" dirty="0"/>
          </a:p>
        </p:txBody>
      </p:sp>
      <p:sp>
        <p:nvSpPr>
          <p:cNvPr id="23" name="Shape 19"/>
          <p:cNvSpPr/>
          <p:nvPr/>
        </p:nvSpPr>
        <p:spPr>
          <a:xfrm>
            <a:off x="3383280" y="3639312"/>
            <a:ext cx="201168" cy="201168"/>
          </a:xfrm>
          <a:prstGeom prst="line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0"/>
          <p:cNvSpPr/>
          <p:nvPr/>
        </p:nvSpPr>
        <p:spPr>
          <a:xfrm>
            <a:off x="3666744" y="3584448"/>
            <a:ext cx="2304288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Begin fixing the top security gaps identified on company computers</a:t>
            </a:r>
            <a:endParaRPr lang="en-US" sz="950" dirty="0"/>
          </a:p>
        </p:txBody>
      </p:sp>
      <p:sp>
        <p:nvSpPr>
          <p:cNvPr id="25" name="Shape 21"/>
          <p:cNvSpPr/>
          <p:nvPr/>
        </p:nvSpPr>
        <p:spPr>
          <a:xfrm>
            <a:off x="6263640" y="804672"/>
            <a:ext cx="2834640" cy="3931920"/>
          </a:xfrm>
          <a:prstGeom prst="rect">
            <a:avLst/>
          </a:prstGeom>
          <a:solidFill>
            <a:srgbClr val="152233"/>
          </a:solidFill>
          <a:ln w="12700">
            <a:solidFill>
              <a:srgbClr val="1C2E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2"/>
          <p:cNvSpPr/>
          <p:nvPr/>
        </p:nvSpPr>
        <p:spPr>
          <a:xfrm>
            <a:off x="6263640" y="804672"/>
            <a:ext cx="2834640" cy="36576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73368" y="886968"/>
            <a:ext cx="347472" cy="347472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6812280" y="886968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 the Next 90 Days</a:t>
            </a:r>
            <a:endParaRPr lang="en-US" sz="1300" dirty="0"/>
          </a:p>
        </p:txBody>
      </p:sp>
      <p:sp>
        <p:nvSpPr>
          <p:cNvPr id="29" name="Shape 24"/>
          <p:cNvSpPr/>
          <p:nvPr/>
        </p:nvSpPr>
        <p:spPr>
          <a:xfrm>
            <a:off x="6400800" y="1298448"/>
            <a:ext cx="2560320" cy="27432"/>
          </a:xfrm>
          <a:prstGeom prst="rect">
            <a:avLst/>
          </a:prstGeom>
          <a:solidFill>
            <a:srgbClr val="1C2E44"/>
          </a:solidFill>
          <a:ln w="12700">
            <a:solidFill>
              <a:srgbClr val="1C2E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5"/>
          <p:cNvSpPr/>
          <p:nvPr/>
        </p:nvSpPr>
        <p:spPr>
          <a:xfrm>
            <a:off x="6400800" y="1444752"/>
            <a:ext cx="201168" cy="201168"/>
          </a:xfrm>
          <a:prstGeom prst="lin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6"/>
          <p:cNvSpPr/>
          <p:nvPr/>
        </p:nvSpPr>
        <p:spPr>
          <a:xfrm>
            <a:off x="6684264" y="1389888"/>
            <a:ext cx="2304288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Enroll all work devices into a central management system so security standards are enforced automatically</a:t>
            </a:r>
            <a:endParaRPr lang="en-US" sz="950" dirty="0"/>
          </a:p>
        </p:txBody>
      </p:sp>
      <p:sp>
        <p:nvSpPr>
          <p:cNvPr id="32" name="Shape 27"/>
          <p:cNvSpPr/>
          <p:nvPr/>
        </p:nvSpPr>
        <p:spPr>
          <a:xfrm>
            <a:off x="6400800" y="2542032"/>
            <a:ext cx="201168" cy="201168"/>
          </a:xfrm>
          <a:prstGeom prst="lin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28"/>
          <p:cNvSpPr/>
          <p:nvPr/>
        </p:nvSpPr>
        <p:spPr>
          <a:xfrm>
            <a:off x="6684264" y="2487168"/>
            <a:ext cx="2304288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Establish a monthly security awareness program so staff stay sharp year-round</a:t>
            </a:r>
            <a:endParaRPr lang="en-US" sz="950" dirty="0"/>
          </a:p>
        </p:txBody>
      </p:sp>
      <p:sp>
        <p:nvSpPr>
          <p:cNvPr id="34" name="Shape 29"/>
          <p:cNvSpPr/>
          <p:nvPr/>
        </p:nvSpPr>
        <p:spPr>
          <a:xfrm>
            <a:off x="6400800" y="3639312"/>
            <a:ext cx="201168" cy="201168"/>
          </a:xfrm>
          <a:prstGeom prst="lin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0"/>
          <p:cNvSpPr/>
          <p:nvPr/>
        </p:nvSpPr>
        <p:spPr>
          <a:xfrm>
            <a:off x="6684264" y="3584448"/>
            <a:ext cx="2304288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compliance obligations triggered by this incident with legal and privacy teams</a:t>
            </a:r>
            <a:endParaRPr lang="en-US" sz="950" dirty="0"/>
          </a:p>
        </p:txBody>
      </p:sp>
      <p:sp>
        <p:nvSpPr>
          <p:cNvPr id="36" name="Shape 31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52233"/>
          </a:solidFill>
          <a:ln w="12700">
            <a:solidFill>
              <a:srgbClr val="152233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7" name="Text 32"/>
          <p:cNvSpPr/>
          <p:nvPr/>
        </p:nvSpPr>
        <p:spPr>
          <a:xfrm>
            <a:off x="274320" y="4864608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8A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Maxine Jones  ·  Identity Compromise Incident 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C9A846"/>
          </a:solidFill>
          <a:ln w="12700">
            <a:solidFill>
              <a:srgbClr val="C9A8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8595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Bottom Line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914400" y="777240"/>
            <a:ext cx="7315200" cy="1920240"/>
          </a:xfrm>
          <a:prstGeom prst="rect">
            <a:avLst/>
          </a:prstGeom>
          <a:solidFill>
            <a:srgbClr val="152233"/>
          </a:solidFill>
          <a:ln w="12700">
            <a:solidFill>
              <a:srgbClr val="1C2E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914400" y="777240"/>
            <a:ext cx="73152" cy="1920240"/>
          </a:xfrm>
          <a:prstGeom prst="rect">
            <a:avLst/>
          </a:prstGeom>
          <a:solidFill>
            <a:srgbClr val="C9A846"/>
          </a:solidFill>
          <a:ln w="12700">
            <a:solidFill>
              <a:srgbClr val="C9A8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097280" y="841248"/>
            <a:ext cx="7040880" cy="17922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missing security step let an attacker into our systems.</a:t>
            </a:r>
            <a:endParaRPr lang="en-US" sz="1450" dirty="0"/>
          </a:p>
          <a:p>
            <a:pPr marL="0" indent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caught it, stopped it, and closed the door — all within 4 hours.</a:t>
            </a:r>
            <a:endParaRPr lang="en-US" sz="1450" dirty="0"/>
          </a:p>
          <a:p>
            <a:pPr marL="0" indent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upgrades we've put in place mean this specific attack</a:t>
            </a:r>
            <a:endParaRPr lang="en-US" sz="1450" dirty="0"/>
          </a:p>
          <a:p>
            <a:pPr marL="0" indent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no longer succeed.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1371600" y="2953512"/>
            <a:ext cx="274320" cy="274320"/>
          </a:xfrm>
          <a:prstGeom prst="lin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371600" y="295351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755648" y="2880360"/>
            <a:ext cx="6400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attacker no longer has access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1371600" y="3447288"/>
            <a:ext cx="274320" cy="274320"/>
          </a:xfrm>
          <a:prstGeom prst="lin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371600" y="344728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755648" y="3374136"/>
            <a:ext cx="6400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affected employee has their account back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371600" y="3941064"/>
            <a:ext cx="274320" cy="274320"/>
          </a:xfrm>
          <a:prstGeom prst="lin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371600" y="3941064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755648" y="3867912"/>
            <a:ext cx="6400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new security controls are now active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0" y="4736592"/>
            <a:ext cx="9144000" cy="402336"/>
          </a:xfrm>
          <a:prstGeom prst="rect">
            <a:avLst/>
          </a:prstGeom>
          <a:solidFill>
            <a:srgbClr val="152233"/>
          </a:solidFill>
          <a:ln w="12700">
            <a:solidFill>
              <a:srgbClr val="1522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274320" y="4764024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9A8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Maxine Jones  ·  (773) 980-4465  ·  maxinejones2015@gmail.com  ·  CompTIA Security+  ·  Chicago, IL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C9A846"/>
          </a:solidFill>
          <a:ln w="12700">
            <a:solidFill>
              <a:srgbClr val="C9A8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8595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This Relates to Real World Incidents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676656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8A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part of this investigation mirrors what a Canopius Incident Manager does for policyholders — from the first phone call to the final report.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228600" y="1051560"/>
            <a:ext cx="2834640" cy="1810512"/>
          </a:xfrm>
          <a:prstGeom prst="rect">
            <a:avLst/>
          </a:prstGeom>
          <a:solidFill>
            <a:srgbClr val="152233"/>
          </a:solidFill>
          <a:ln w="12700">
            <a:solidFill>
              <a:srgbClr val="1C2E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28600" y="1051560"/>
            <a:ext cx="54864" cy="1810512"/>
          </a:xfrm>
          <a:prstGeom prst="rect">
            <a:avLst/>
          </a:prstGeom>
          <a:solidFill>
            <a:srgbClr val="C9A846"/>
          </a:solidFill>
          <a:ln w="12700">
            <a:solidFill>
              <a:srgbClr val="C9A8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72" y="1143000"/>
            <a:ext cx="320040" cy="32004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758952" y="1143000"/>
            <a:ext cx="2212848" cy="329184"/>
          </a:xfrm>
          <a:prstGeom prst="rect">
            <a:avLst/>
          </a:prstGeom>
          <a:solidFill>
            <a:srgbClr val="1C2E44"/>
          </a:solidFill>
          <a:ln w="12700">
            <a:solidFill>
              <a:srgbClr val="1C2E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795528" y="1143000"/>
            <a:ext cx="21762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C9A8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 the incident from notification to closure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347472" y="1527048"/>
            <a:ext cx="2615184" cy="27432"/>
          </a:xfrm>
          <a:prstGeom prst="rect">
            <a:avLst/>
          </a:prstGeom>
          <a:solidFill>
            <a:srgbClr val="1C2E44"/>
          </a:solidFill>
          <a:ln w="12700">
            <a:solidFill>
              <a:srgbClr val="1C2E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347472" y="1600200"/>
            <a:ext cx="2615184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handled this incident end-to-end — first alert through full remediation — with a documented timeline, clear decisions, and nothing left open. That's the lifecycle Canopius owns for every policyholder.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3246120" y="1051560"/>
            <a:ext cx="2834640" cy="1810512"/>
          </a:xfrm>
          <a:prstGeom prst="rect">
            <a:avLst/>
          </a:prstGeom>
          <a:solidFill>
            <a:srgbClr val="152233"/>
          </a:solidFill>
          <a:ln w="12700">
            <a:solidFill>
              <a:srgbClr val="1C2E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3246120" y="1051560"/>
            <a:ext cx="54864" cy="1810512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64992" y="1143000"/>
            <a:ext cx="320040" cy="320040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3776472" y="1143000"/>
            <a:ext cx="2212848" cy="329184"/>
          </a:xfrm>
          <a:prstGeom prst="rect">
            <a:avLst/>
          </a:prstGeom>
          <a:solidFill>
            <a:srgbClr val="1C2E44"/>
          </a:solidFill>
          <a:ln w="12700">
            <a:solidFill>
              <a:srgbClr val="1C2E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2"/>
          <p:cNvSpPr/>
          <p:nvPr/>
        </p:nvSpPr>
        <p:spPr>
          <a:xfrm>
            <a:off x="3813048" y="1143000"/>
            <a:ext cx="21762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07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Translate technical findings into clear business impact</a:t>
            </a:r>
            <a:endParaRPr lang="en-US" sz="800" dirty="0"/>
          </a:p>
        </p:txBody>
      </p:sp>
      <p:sp>
        <p:nvSpPr>
          <p:cNvPr id="17" name="Shape 13"/>
          <p:cNvSpPr/>
          <p:nvPr/>
        </p:nvSpPr>
        <p:spPr>
          <a:xfrm>
            <a:off x="3364992" y="1527048"/>
            <a:ext cx="2615184" cy="27432"/>
          </a:xfrm>
          <a:prstGeom prst="rect">
            <a:avLst/>
          </a:prstGeom>
          <a:solidFill>
            <a:srgbClr val="1C2E44"/>
          </a:solidFill>
          <a:ln w="12700">
            <a:solidFill>
              <a:srgbClr val="1C2E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4"/>
          <p:cNvSpPr/>
          <p:nvPr/>
        </p:nvSpPr>
        <p:spPr>
          <a:xfrm>
            <a:off x="3364992" y="1600200"/>
            <a:ext cx="2615184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turned a complex cloud identity attack into a plain-language story a CEO could act on — what was at risk, what we did, what it means going forward. That's what policyholders need in a crisis.</a:t>
            </a:r>
            <a:endParaRPr lang="en-US" sz="900" dirty="0"/>
          </a:p>
        </p:txBody>
      </p:sp>
      <p:sp>
        <p:nvSpPr>
          <p:cNvPr id="19" name="Shape 15"/>
          <p:cNvSpPr/>
          <p:nvPr/>
        </p:nvSpPr>
        <p:spPr>
          <a:xfrm>
            <a:off x="6263640" y="1051560"/>
            <a:ext cx="2834640" cy="1810512"/>
          </a:xfrm>
          <a:prstGeom prst="rect">
            <a:avLst/>
          </a:prstGeom>
          <a:solidFill>
            <a:srgbClr val="152233"/>
          </a:solidFill>
          <a:ln w="12700">
            <a:solidFill>
              <a:srgbClr val="1C2E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6"/>
          <p:cNvSpPr/>
          <p:nvPr/>
        </p:nvSpPr>
        <p:spPr>
          <a:xfrm>
            <a:off x="6263640" y="1051560"/>
            <a:ext cx="54864" cy="1810512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82512" y="1143000"/>
            <a:ext cx="320040" cy="320040"/>
          </a:xfrm>
          <a:prstGeom prst="rect">
            <a:avLst/>
          </a:prstGeom>
        </p:spPr>
      </p:pic>
      <p:sp>
        <p:nvSpPr>
          <p:cNvPr id="22" name="Shape 17"/>
          <p:cNvSpPr/>
          <p:nvPr/>
        </p:nvSpPr>
        <p:spPr>
          <a:xfrm>
            <a:off x="6793992" y="1143000"/>
            <a:ext cx="2212848" cy="329184"/>
          </a:xfrm>
          <a:prstGeom prst="rect">
            <a:avLst/>
          </a:prstGeom>
          <a:solidFill>
            <a:srgbClr val="1C2E44"/>
          </a:solidFill>
          <a:ln w="12700">
            <a:solidFill>
              <a:srgbClr val="1C2E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18"/>
          <p:cNvSpPr/>
          <p:nvPr/>
        </p:nvSpPr>
        <p:spPr>
          <a:xfrm>
            <a:off x="6830568" y="1143000"/>
            <a:ext cx="21762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incident metadata for Claims, Underwriting &amp; Analytics</a:t>
            </a:r>
            <a:endParaRPr lang="en-US" sz="800" dirty="0"/>
          </a:p>
        </p:txBody>
      </p:sp>
      <p:sp>
        <p:nvSpPr>
          <p:cNvPr id="24" name="Shape 19"/>
          <p:cNvSpPr/>
          <p:nvPr/>
        </p:nvSpPr>
        <p:spPr>
          <a:xfrm>
            <a:off x="6382512" y="1527048"/>
            <a:ext cx="2615184" cy="27432"/>
          </a:xfrm>
          <a:prstGeom prst="rect">
            <a:avLst/>
          </a:prstGeom>
          <a:solidFill>
            <a:srgbClr val="1C2E44"/>
          </a:solidFill>
          <a:ln w="12700">
            <a:solidFill>
              <a:srgbClr val="1C2E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0"/>
          <p:cNvSpPr/>
          <p:nvPr/>
        </p:nvSpPr>
        <p:spPr>
          <a:xfrm>
            <a:off x="6382512" y="1600200"/>
            <a:ext cx="2615184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cause, initial access, dwell time, MTTA, MTTR, cost indicators — I captured every field Canopius uses to feed underwriting analytics and support coverage decisions. I already work this way.</a:t>
            </a:r>
            <a:endParaRPr lang="en-US" sz="900" dirty="0"/>
          </a:p>
        </p:txBody>
      </p:sp>
      <p:sp>
        <p:nvSpPr>
          <p:cNvPr id="26" name="Shape 21"/>
          <p:cNvSpPr/>
          <p:nvPr/>
        </p:nvSpPr>
        <p:spPr>
          <a:xfrm>
            <a:off x="228600" y="3017520"/>
            <a:ext cx="2834640" cy="1810512"/>
          </a:xfrm>
          <a:prstGeom prst="rect">
            <a:avLst/>
          </a:prstGeom>
          <a:solidFill>
            <a:srgbClr val="152233"/>
          </a:solidFill>
          <a:ln w="12700">
            <a:solidFill>
              <a:srgbClr val="1C2E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2"/>
          <p:cNvSpPr/>
          <p:nvPr/>
        </p:nvSpPr>
        <p:spPr>
          <a:xfrm>
            <a:off x="228600" y="3017520"/>
            <a:ext cx="54864" cy="1810512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7472" y="3108960"/>
            <a:ext cx="320040" cy="320040"/>
          </a:xfrm>
          <a:prstGeom prst="rect">
            <a:avLst/>
          </a:prstGeom>
        </p:spPr>
      </p:pic>
      <p:sp>
        <p:nvSpPr>
          <p:cNvPr id="29" name="Shape 23"/>
          <p:cNvSpPr/>
          <p:nvPr/>
        </p:nvSpPr>
        <p:spPr>
          <a:xfrm>
            <a:off x="758952" y="3108960"/>
            <a:ext cx="2212848" cy="329184"/>
          </a:xfrm>
          <a:prstGeom prst="rect">
            <a:avLst/>
          </a:prstGeom>
          <a:solidFill>
            <a:srgbClr val="1C2E44"/>
          </a:solidFill>
          <a:ln w="12700">
            <a:solidFill>
              <a:srgbClr val="1C2E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4"/>
          <p:cNvSpPr/>
          <p:nvPr/>
        </p:nvSpPr>
        <p:spPr>
          <a:xfrm>
            <a:off x="795528" y="3108960"/>
            <a:ext cx="21762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 SLAs and manage expectations under pressure</a:t>
            </a:r>
            <a:endParaRPr lang="en-US" sz="800" dirty="0"/>
          </a:p>
        </p:txBody>
      </p:sp>
      <p:sp>
        <p:nvSpPr>
          <p:cNvPr id="31" name="Shape 25"/>
          <p:cNvSpPr/>
          <p:nvPr/>
        </p:nvSpPr>
        <p:spPr>
          <a:xfrm>
            <a:off x="347472" y="3493008"/>
            <a:ext cx="2615184" cy="27432"/>
          </a:xfrm>
          <a:prstGeom prst="rect">
            <a:avLst/>
          </a:prstGeom>
          <a:solidFill>
            <a:srgbClr val="1C2E44"/>
          </a:solidFill>
          <a:ln w="12700">
            <a:solidFill>
              <a:srgbClr val="1C2E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26"/>
          <p:cNvSpPr/>
          <p:nvPr/>
        </p:nvSpPr>
        <p:spPr>
          <a:xfrm>
            <a:off x="347472" y="3566160"/>
            <a:ext cx="2615184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Sessions revoked in under 15 minutes. Five new security controls live within 30 minutes. Full incident report distributed within the hour. Speed and structure under pressure is how I respond.</a:t>
            </a:r>
            <a:endParaRPr lang="en-US" sz="900" dirty="0"/>
          </a:p>
        </p:txBody>
      </p:sp>
      <p:sp>
        <p:nvSpPr>
          <p:cNvPr id="33" name="Shape 27"/>
          <p:cNvSpPr/>
          <p:nvPr/>
        </p:nvSpPr>
        <p:spPr>
          <a:xfrm>
            <a:off x="3246120" y="3017520"/>
            <a:ext cx="2834640" cy="1810512"/>
          </a:xfrm>
          <a:prstGeom prst="rect">
            <a:avLst/>
          </a:prstGeom>
          <a:solidFill>
            <a:srgbClr val="152233"/>
          </a:solidFill>
          <a:ln w="12700">
            <a:solidFill>
              <a:srgbClr val="1C2E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28"/>
          <p:cNvSpPr/>
          <p:nvPr/>
        </p:nvSpPr>
        <p:spPr>
          <a:xfrm>
            <a:off x="3246120" y="3017520"/>
            <a:ext cx="54864" cy="1810512"/>
          </a:xfrm>
          <a:prstGeom prst="rect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64992" y="3108960"/>
            <a:ext cx="320040" cy="320040"/>
          </a:xfrm>
          <a:prstGeom prst="rect">
            <a:avLst/>
          </a:prstGeom>
        </p:spPr>
      </p:pic>
      <p:sp>
        <p:nvSpPr>
          <p:cNvPr id="36" name="Shape 29"/>
          <p:cNvSpPr/>
          <p:nvPr/>
        </p:nvSpPr>
        <p:spPr>
          <a:xfrm>
            <a:off x="3776472" y="3108960"/>
            <a:ext cx="2212848" cy="329184"/>
          </a:xfrm>
          <a:prstGeom prst="rect">
            <a:avLst/>
          </a:prstGeom>
          <a:solidFill>
            <a:srgbClr val="1C2E44"/>
          </a:solidFill>
          <a:ln w="12700">
            <a:solidFill>
              <a:srgbClr val="1C2E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0"/>
          <p:cNvSpPr/>
          <p:nvPr/>
        </p:nvSpPr>
        <p:spPr>
          <a:xfrm>
            <a:off x="3813048" y="3108960"/>
            <a:ext cx="21762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9B59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handovers across a global 24/7 team</a:t>
            </a:r>
            <a:endParaRPr lang="en-US" sz="800" dirty="0"/>
          </a:p>
        </p:txBody>
      </p:sp>
      <p:sp>
        <p:nvSpPr>
          <p:cNvPr id="38" name="Shape 31"/>
          <p:cNvSpPr/>
          <p:nvPr/>
        </p:nvSpPr>
        <p:spPr>
          <a:xfrm>
            <a:off x="3364992" y="3493008"/>
            <a:ext cx="2615184" cy="27432"/>
          </a:xfrm>
          <a:prstGeom prst="rect">
            <a:avLst/>
          </a:prstGeom>
          <a:solidFill>
            <a:srgbClr val="1C2E44"/>
          </a:solidFill>
          <a:ln w="12700">
            <a:solidFill>
              <a:srgbClr val="1C2E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2"/>
          <p:cNvSpPr/>
          <p:nvPr/>
        </p:nvSpPr>
        <p:spPr>
          <a:xfrm>
            <a:off x="3364992" y="3566160"/>
            <a:ext cx="2615184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incident report is built for handoff — complete case notes, every action logged, IOCs listed, open items flagged. A Sydney or London analyst could pick this up without a gap.</a:t>
            </a:r>
            <a:endParaRPr lang="en-US" sz="900" dirty="0"/>
          </a:p>
        </p:txBody>
      </p:sp>
      <p:sp>
        <p:nvSpPr>
          <p:cNvPr id="40" name="Shape 33"/>
          <p:cNvSpPr/>
          <p:nvPr/>
        </p:nvSpPr>
        <p:spPr>
          <a:xfrm>
            <a:off x="6263640" y="3017520"/>
            <a:ext cx="2834640" cy="1810512"/>
          </a:xfrm>
          <a:prstGeom prst="rect">
            <a:avLst/>
          </a:prstGeom>
          <a:solidFill>
            <a:srgbClr val="152233"/>
          </a:solidFill>
          <a:ln w="12700">
            <a:solidFill>
              <a:srgbClr val="1C2E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34"/>
          <p:cNvSpPr/>
          <p:nvPr/>
        </p:nvSpPr>
        <p:spPr>
          <a:xfrm>
            <a:off x="6263640" y="3017520"/>
            <a:ext cx="54864" cy="1810512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2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82512" y="3108960"/>
            <a:ext cx="320040" cy="320040"/>
          </a:xfrm>
          <a:prstGeom prst="rect">
            <a:avLst/>
          </a:prstGeom>
        </p:spPr>
      </p:pic>
      <p:sp>
        <p:nvSpPr>
          <p:cNvPr id="43" name="Shape 35"/>
          <p:cNvSpPr/>
          <p:nvPr/>
        </p:nvSpPr>
        <p:spPr>
          <a:xfrm>
            <a:off x="6793992" y="3108960"/>
            <a:ext cx="2212848" cy="329184"/>
          </a:xfrm>
          <a:prstGeom prst="rect">
            <a:avLst/>
          </a:prstGeom>
          <a:solidFill>
            <a:srgbClr val="1C2E44"/>
          </a:solidFill>
          <a:ln w="12700">
            <a:solidFill>
              <a:srgbClr val="1C2E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36"/>
          <p:cNvSpPr/>
          <p:nvPr/>
        </p:nvSpPr>
        <p:spPr>
          <a:xfrm>
            <a:off x="6830568" y="3108960"/>
            <a:ext cx="21762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 lessons learned into playbooks and control improvements</a:t>
            </a:r>
            <a:endParaRPr lang="en-US" sz="800" dirty="0"/>
          </a:p>
        </p:txBody>
      </p:sp>
      <p:sp>
        <p:nvSpPr>
          <p:cNvPr id="45" name="Shape 37"/>
          <p:cNvSpPr/>
          <p:nvPr/>
        </p:nvSpPr>
        <p:spPr>
          <a:xfrm>
            <a:off x="6382512" y="3493008"/>
            <a:ext cx="2615184" cy="27432"/>
          </a:xfrm>
          <a:prstGeom prst="rect">
            <a:avLst/>
          </a:prstGeom>
          <a:solidFill>
            <a:srgbClr val="1C2E44"/>
          </a:solidFill>
          <a:ln w="12700">
            <a:solidFill>
              <a:srgbClr val="1C2E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38"/>
          <p:cNvSpPr/>
          <p:nvPr/>
        </p:nvSpPr>
        <p:spPr>
          <a:xfrm>
            <a:off x="6382512" y="3566160"/>
            <a:ext cx="2615184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recommendation I made ties directly back to a gap the incident exposed. That's the loop Canopius runs after every engagement — and how the service gets better over time.</a:t>
            </a:r>
            <a:endParaRPr lang="en-US" sz="900" dirty="0"/>
          </a:p>
        </p:txBody>
      </p:sp>
      <p:sp>
        <p:nvSpPr>
          <p:cNvPr id="47" name="Shape 39"/>
          <p:cNvSpPr/>
          <p:nvPr/>
        </p:nvSpPr>
        <p:spPr>
          <a:xfrm>
            <a:off x="-45720" y="4834890"/>
            <a:ext cx="9144000" cy="297180"/>
          </a:xfrm>
          <a:prstGeom prst="rect">
            <a:avLst/>
          </a:prstGeom>
          <a:solidFill>
            <a:srgbClr val="152233"/>
          </a:solidFill>
          <a:ln w="12700">
            <a:solidFill>
              <a:srgbClr val="1522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0"/>
          <p:cNvSpPr/>
          <p:nvPr/>
        </p:nvSpPr>
        <p:spPr>
          <a:xfrm>
            <a:off x="274320" y="4864608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8A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Maxine Jones  ·  Identity Compromise Incident 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B4348436144DC4AA0F9C05BFECEF713" ma:contentTypeVersion="5" ma:contentTypeDescription="Create a new document." ma:contentTypeScope="" ma:versionID="9c420efe5faf53c0413883949e0cbc2e">
  <xsd:schema xmlns:xsd="http://www.w3.org/2001/XMLSchema" xmlns:xs="http://www.w3.org/2001/XMLSchema" xmlns:p="http://schemas.microsoft.com/office/2006/metadata/properties" xmlns:ns3="ac6abbc9-a915-4b68-800f-653d37c7bd55" targetNamespace="http://schemas.microsoft.com/office/2006/metadata/properties" ma:root="true" ma:fieldsID="06e25ff67b960ceb27449be8406f5218" ns3:_="">
    <xsd:import namespace="ac6abbc9-a915-4b68-800f-653d37c7bd55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BillingMetadata" minOccurs="0"/>
                <xsd:element ref="ns3:MediaServiceMetadata" minOccurs="0"/>
                <xsd:element ref="ns3:MediaServiceFastMetadata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c6abbc9-a915-4b68-800f-653d37c7bd55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BillingMetadata" ma:index="9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2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CEAD936F-1B77-4C74-A34F-43A63FF5536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ac6abbc9-a915-4b68-800f-653d37c7bd5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7C205FA2-F4F7-4E49-8836-16CAB96A2175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FB214F83-A08D-4621-8257-72D7B151B8F1}">
  <ds:schemaRefs>
    <ds:schemaRef ds:uri="http://purl.org/dc/elements/1.1/"/>
    <ds:schemaRef ds:uri="http://purl.org/dc/terms/"/>
    <ds:schemaRef ds:uri="http://purl.org/dc/dcmitype/"/>
    <ds:schemaRef ds:uri="http://schemas.microsoft.com/office/2006/documentManagement/types"/>
    <ds:schemaRef ds:uri="http://www.w3.org/XML/1998/namespace"/>
    <ds:schemaRef ds:uri="http://schemas.microsoft.com/office/infopath/2007/PartnerControls"/>
    <ds:schemaRef ds:uri="http://schemas.openxmlformats.org/package/2006/metadata/core-properties"/>
    <ds:schemaRef ds:uri="ac6abbc9-a915-4b68-800f-653d37c7bd55"/>
    <ds:schemaRef ds:uri="http://schemas.microsoft.com/office/2006/metadata/propertie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1368</Words>
  <Application>Microsoft Office PowerPoint</Application>
  <PresentationFormat>On-screen Show (16:9)</PresentationFormat>
  <Paragraphs>131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Maxine Jones</cp:lastModifiedBy>
  <cp:revision>2</cp:revision>
  <dcterms:created xsi:type="dcterms:W3CDTF">2026-04-24T06:37:37Z</dcterms:created>
  <dcterms:modified xsi:type="dcterms:W3CDTF">2026-05-04T23:35:14Z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0x0101007B4348436144DC4AA0F9C05BFECEF713</vt:lpwstr>
  </property>
</Properties>
</file>