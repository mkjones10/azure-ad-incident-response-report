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0392B"/>
          </a:solidFill>
          <a:ln/>
        </p:spPr>
      </p:sp>
      <p:sp>
        <p:nvSpPr>
          <p:cNvPr id="3" name="Shape 1"/>
          <p:cNvSpPr/>
          <p:nvPr/>
        </p:nvSpPr>
        <p:spPr>
          <a:xfrm>
            <a:off x="6583680" y="256032"/>
            <a:ext cx="2286000" cy="384048"/>
          </a:xfrm>
          <a:prstGeom prst="rect">
            <a:avLst/>
          </a:prstGeom>
          <a:solidFill>
            <a:srgbClr val="1A2E45"/>
          </a:solidFill>
          <a:ln/>
        </p:spPr>
      </p:sp>
      <p:sp>
        <p:nvSpPr>
          <p:cNvPr id="4" name="Text 2"/>
          <p:cNvSpPr/>
          <p:nvPr/>
        </p:nvSpPr>
        <p:spPr>
          <a:xfrm>
            <a:off x="6583680" y="256032"/>
            <a:ext cx="2286000" cy="384048"/>
          </a:xfrm>
          <a:prstGeom prst="rect">
            <a:avLst/>
          </a:prstGeom>
          <a:noFill/>
          <a:ln/>
        </p:spPr>
        <p:txBody>
          <a:bodyPr wrap="square" lIns="0" tIns="0" rIns="0" bIns="0" rtlCol="0" anchor="ctr"/>
          <a:lstStyle/>
          <a:p>
            <a:pPr algn="ctr" indent="0" marL="0">
              <a:buNone/>
            </a:pPr>
            <a:r>
              <a:rPr lang="en-US" sz="1100" b="1" spc="200" kern="0" dirty="0">
                <a:solidFill>
                  <a:srgbClr val="C0392B"/>
                </a:solidFill>
                <a:latin typeface="Calibri" pitchFamily="34" charset="0"/>
                <a:ea typeface="Calibri" pitchFamily="34" charset="-122"/>
                <a:cs typeface="Calibri" pitchFamily="34" charset="-120"/>
              </a:rPr>
              <a:t>TABLETOP EXERCISE</a:t>
            </a:r>
            <a:endParaRPr lang="en-US" sz="1100" dirty="0"/>
          </a:p>
        </p:txBody>
      </p:sp>
      <p:sp>
        <p:nvSpPr>
          <p:cNvPr id="5" name="Text 3"/>
          <p:cNvSpPr/>
          <p:nvPr/>
        </p:nvSpPr>
        <p:spPr>
          <a:xfrm>
            <a:off x="731520" y="822960"/>
            <a:ext cx="7772400" cy="2011680"/>
          </a:xfrm>
          <a:prstGeom prst="rect">
            <a:avLst/>
          </a:prstGeom>
          <a:noFill/>
          <a:ln/>
        </p:spPr>
        <p:txBody>
          <a:bodyPr wrap="square" lIns="0" tIns="0" rIns="0" bIns="0"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AZURE AD INCIDENT</a:t>
            </a:r>
            <a:endParaRPr lang="en-US" sz="4600" dirty="0"/>
          </a:p>
          <a:p>
            <a:pPr indent="0" marL="0">
              <a:buNone/>
            </a:pPr>
            <a:r>
              <a:rPr lang="en-US" sz="4600" b="1" dirty="0">
                <a:solidFill>
                  <a:srgbClr val="FFFFFF"/>
                </a:solidFill>
                <a:latin typeface="Calibri" pitchFamily="34" charset="0"/>
                <a:ea typeface="Calibri" pitchFamily="34" charset="-122"/>
                <a:cs typeface="Calibri" pitchFamily="34" charset="-120"/>
              </a:rPr>
              <a:t>RESPONSE</a:t>
            </a:r>
            <a:endParaRPr lang="en-US" sz="4600" dirty="0"/>
          </a:p>
        </p:txBody>
      </p:sp>
      <p:sp>
        <p:nvSpPr>
          <p:cNvPr id="6" name="Text 4"/>
          <p:cNvSpPr/>
          <p:nvPr/>
        </p:nvSpPr>
        <p:spPr>
          <a:xfrm>
            <a:off x="731520" y="2880360"/>
            <a:ext cx="7772400" cy="548640"/>
          </a:xfrm>
          <a:prstGeom prst="rect">
            <a:avLst/>
          </a:prstGeom>
          <a:noFill/>
          <a:ln/>
        </p:spPr>
        <p:txBody>
          <a:bodyPr wrap="square" lIns="0" tIns="0" rIns="0" bIns="0" rtlCol="0" anchor="ctr"/>
          <a:lstStyle/>
          <a:p>
            <a:pPr indent="0" marL="0">
              <a:buNone/>
            </a:pPr>
            <a:r>
              <a:rPr lang="en-US" sz="2000" dirty="0">
                <a:solidFill>
                  <a:srgbClr val="D0DAE8"/>
                </a:solidFill>
                <a:latin typeface="Calibri" pitchFamily="34" charset="0"/>
                <a:ea typeface="Calibri" pitchFamily="34" charset="-122"/>
                <a:cs typeface="Calibri" pitchFamily="34" charset="-120"/>
              </a:rPr>
              <a:t>Phishing-Based Credential Compromise Scenario</a:t>
            </a:r>
            <a:endParaRPr lang="en-US" sz="2000" dirty="0"/>
          </a:p>
        </p:txBody>
      </p:sp>
      <p:sp>
        <p:nvSpPr>
          <p:cNvPr id="7" name="Text 5"/>
          <p:cNvSpPr/>
          <p:nvPr/>
        </p:nvSpPr>
        <p:spPr>
          <a:xfrm>
            <a:off x="731520" y="3520440"/>
            <a:ext cx="7772400" cy="411480"/>
          </a:xfrm>
          <a:prstGeom prst="rect">
            <a:avLst/>
          </a:prstGeom>
          <a:noFill/>
          <a:ln/>
        </p:spPr>
        <p:txBody>
          <a:bodyPr wrap="square" lIns="0" tIns="0" rIns="0" bIns="0" rtlCol="0" anchor="ctr"/>
          <a:lstStyle/>
          <a:p>
            <a:pPr indent="0" marL="0">
              <a:buNone/>
            </a:pPr>
            <a:r>
              <a:rPr lang="en-US" sz="1300" dirty="0">
                <a:solidFill>
                  <a:srgbClr val="8899AA"/>
                </a:solidFill>
                <a:latin typeface="Calibri" pitchFamily="34" charset="0"/>
                <a:ea typeface="Calibri" pitchFamily="34" charset="-122"/>
                <a:cs typeface="Calibri" pitchFamily="34" charset="-120"/>
              </a:rPr>
              <a:t>Incident ID: INC-2026-0322-001  |  March 22, 2026  |  Severity: HIGH</a:t>
            </a:r>
            <a:endParaRPr lang="en-US" sz="1300" dirty="0"/>
          </a:p>
        </p:txBody>
      </p:sp>
      <p:sp>
        <p:nvSpPr>
          <p:cNvPr id="8" name="Text 6"/>
          <p:cNvSpPr/>
          <p:nvPr/>
        </p:nvSpPr>
        <p:spPr>
          <a:xfrm>
            <a:off x="731520" y="4572000"/>
            <a:ext cx="7772400" cy="320040"/>
          </a:xfrm>
          <a:prstGeom prst="rect">
            <a:avLst/>
          </a:prstGeom>
          <a:noFill/>
          <a:ln/>
        </p:spPr>
        <p:txBody>
          <a:bodyPr wrap="square" lIns="0" tIns="0" rIns="0" bIns="0" rtlCol="0" anchor="ctr"/>
          <a:lstStyle/>
          <a:p>
            <a:pPr indent="0" marL="0">
              <a:buNone/>
            </a:pPr>
            <a:r>
              <a:rPr lang="en-US" sz="1100" dirty="0">
                <a:solidFill>
                  <a:srgbClr val="8899AA"/>
                </a:solidFill>
                <a:latin typeface="Calibri" pitchFamily="34" charset="0"/>
                <a:ea typeface="Calibri" pitchFamily="34" charset="-122"/>
                <a:cs typeface="Calibri" pitchFamily="34" charset="-120"/>
              </a:rPr>
              <a:t>Maxine Jones Project — Information Security Team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0FA"/>
        </a:solidFill>
      </p:bgPr>
    </p:bg>
    <p:spTree>
      <p:nvGrpSpPr>
        <p:cNvPr id="1" name=""/>
        <p:cNvGrpSpPr/>
        <p:nvPr/>
      </p:nvGrpSpPr>
      <p:grpSpPr>
        <a:xfrm>
          <a:off x="0" y="0"/>
          <a:ext cx="0" cy="0"/>
          <a:chOff x="0" y="0"/>
          <a:chExt cx="0" cy="0"/>
        </a:xfrm>
      </p:grpSpPr>
      <p:sp>
        <p:nvSpPr>
          <p:cNvPr id="2" name="Shape 0"/>
          <p:cNvSpPr/>
          <p:nvPr/>
        </p:nvSpPr>
        <p:spPr>
          <a:xfrm>
            <a:off x="457200" y="256032"/>
            <a:ext cx="45720" cy="347472"/>
          </a:xfrm>
          <a:prstGeom prst="rect">
            <a:avLst/>
          </a:prstGeom>
          <a:solidFill>
            <a:srgbClr val="C0392B"/>
          </a:solidFill>
          <a:ln/>
        </p:spPr>
      </p:sp>
      <p:sp>
        <p:nvSpPr>
          <p:cNvPr id="3" name="Text 1"/>
          <p:cNvSpPr/>
          <p:nvPr/>
        </p:nvSpPr>
        <p:spPr>
          <a:xfrm>
            <a:off x="566928" y="228600"/>
            <a:ext cx="7315200" cy="411480"/>
          </a:xfrm>
          <a:prstGeom prst="rect">
            <a:avLst/>
          </a:prstGeom>
          <a:noFill/>
          <a:ln/>
        </p:spPr>
        <p:txBody>
          <a:bodyPr wrap="square" lIns="0" tIns="0" rIns="0" bIns="0" rtlCol="0" anchor="ctr"/>
          <a:lstStyle/>
          <a:p>
            <a:pPr indent="0" marL="0">
              <a:buNone/>
            </a:pPr>
            <a:r>
              <a:rPr lang="en-US" sz="1100" b="1" spc="200" kern="0" dirty="0">
                <a:solidFill>
                  <a:srgbClr val="8899AA"/>
                </a:solidFill>
                <a:latin typeface="Calibri" pitchFamily="34" charset="0"/>
                <a:ea typeface="Calibri" pitchFamily="34" charset="-122"/>
                <a:cs typeface="Calibri" pitchFamily="34" charset="-120"/>
              </a:rPr>
              <a:t>EXERCISE OVERVIEW</a:t>
            </a:r>
            <a:endParaRPr lang="en-US" sz="1100" dirty="0"/>
          </a:p>
        </p:txBody>
      </p:sp>
      <p:sp>
        <p:nvSpPr>
          <p:cNvPr id="4" name="Text 2"/>
          <p:cNvSpPr/>
          <p:nvPr/>
        </p:nvSpPr>
        <p:spPr>
          <a:xfrm>
            <a:off x="502920" y="658368"/>
            <a:ext cx="8138160" cy="685800"/>
          </a:xfrm>
          <a:prstGeom prst="rect">
            <a:avLst/>
          </a:prstGeom>
          <a:noFill/>
          <a:ln/>
        </p:spPr>
        <p:txBody>
          <a:bodyPr wrap="square" lIns="0" tIns="0" rIns="0" bIns="0" rtlCol="0" anchor="ctr"/>
          <a:lstStyle/>
          <a:p>
            <a:pPr indent="0" marL="0">
              <a:buNone/>
            </a:pPr>
            <a:r>
              <a:rPr lang="en-US" sz="2800" b="1" dirty="0">
                <a:solidFill>
                  <a:srgbClr val="1A2335"/>
                </a:solidFill>
                <a:latin typeface="Calibri" pitchFamily="34" charset="0"/>
                <a:ea typeface="Calibri" pitchFamily="34" charset="-122"/>
                <a:cs typeface="Calibri" pitchFamily="34" charset="-120"/>
              </a:rPr>
              <a:t>How This Exercise Works</a:t>
            </a:r>
            <a:endParaRPr lang="en-US" sz="2800" dirty="0"/>
          </a:p>
        </p:txBody>
      </p:sp>
      <p:sp>
        <p:nvSpPr>
          <p:cNvPr id="5" name="Shape 3"/>
          <p:cNvSpPr/>
          <p:nvPr/>
        </p:nvSpPr>
        <p:spPr>
          <a:xfrm>
            <a:off x="502920" y="1371600"/>
            <a:ext cx="8138160" cy="0"/>
          </a:xfrm>
          <a:prstGeom prst="line">
            <a:avLst/>
          </a:prstGeom>
          <a:noFill/>
          <a:ln w="12700">
            <a:solidFill>
              <a:srgbClr val="D0DAE8"/>
            </a:solidFill>
            <a:prstDash val="solid"/>
          </a:ln>
        </p:spPr>
      </p:sp>
      <p:sp>
        <p:nvSpPr>
          <p:cNvPr id="6" name="Shape 4"/>
          <p:cNvSpPr/>
          <p:nvPr/>
        </p:nvSpPr>
        <p:spPr>
          <a:xfrm>
            <a:off x="457200" y="1508760"/>
            <a:ext cx="2606040" cy="3246120"/>
          </a:xfrm>
          <a:prstGeom prst="rect">
            <a:avLst/>
          </a:prstGeom>
          <a:solidFill>
            <a:srgbClr val="FFFFFF"/>
          </a:solidFill>
          <a:ln w="6350">
            <a:solidFill>
              <a:srgbClr val="D0DAE8"/>
            </a:solidFill>
            <a:prstDash val="solid"/>
          </a:ln>
          <a:effectLst>
            <a:outerShdw sx="100000" sy="100000" kx="0" ky="0" algn="bl" rotWithShape="0" blurRad="63500" dist="25400" dir="8100000">
              <a:srgbClr val="000000">
                <a:alpha val="12000"/>
              </a:srgbClr>
            </a:outerShdw>
          </a:effectLst>
        </p:spPr>
      </p:sp>
      <p:sp>
        <p:nvSpPr>
          <p:cNvPr id="7" name="Shape 5"/>
          <p:cNvSpPr/>
          <p:nvPr/>
        </p:nvSpPr>
        <p:spPr>
          <a:xfrm>
            <a:off x="457200" y="1508760"/>
            <a:ext cx="2606040" cy="502920"/>
          </a:xfrm>
          <a:prstGeom prst="rect">
            <a:avLst/>
          </a:prstGeom>
          <a:solidFill>
            <a:srgbClr val="0D1B2A"/>
          </a:solidFill>
          <a:ln/>
        </p:spPr>
      </p:sp>
      <p:sp>
        <p:nvSpPr>
          <p:cNvPr id="8" name="Text 6"/>
          <p:cNvSpPr/>
          <p:nvPr/>
        </p:nvSpPr>
        <p:spPr>
          <a:xfrm>
            <a:off x="566928" y="1508760"/>
            <a:ext cx="237744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PURPOSE</a:t>
            </a:r>
            <a:endParaRPr lang="en-US" sz="1300" dirty="0"/>
          </a:p>
        </p:txBody>
      </p:sp>
      <p:sp>
        <p:nvSpPr>
          <p:cNvPr id="9" name="Text 7"/>
          <p:cNvSpPr/>
          <p:nvPr/>
        </p:nvSpPr>
        <p:spPr>
          <a:xfrm>
            <a:off x="1280160" y="2103120"/>
            <a:ext cx="91440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594360" y="2697480"/>
            <a:ext cx="2331720" cy="1920240"/>
          </a:xfrm>
          <a:prstGeom prst="rect">
            <a:avLst/>
          </a:prstGeom>
          <a:noFill/>
          <a:ln/>
        </p:spPr>
        <p:txBody>
          <a:bodyPr wrap="square" lIns="0" tIns="0" rIns="0" bIns="0" rtlCol="0" anchor="ctr"/>
          <a:lstStyle/>
          <a:p>
            <a:pPr indent="0" marL="0">
              <a:buNone/>
            </a:pPr>
            <a:r>
              <a:rPr lang="en-US" sz="1200" dirty="0">
                <a:solidFill>
                  <a:srgbClr val="1A2335"/>
                </a:solidFill>
                <a:latin typeface="Calibri" pitchFamily="34" charset="0"/>
                <a:ea typeface="Calibri" pitchFamily="34" charset="-122"/>
                <a:cs typeface="Calibri" pitchFamily="34" charset="-120"/>
              </a:rPr>
              <a:t>Test your team's ability to detect, contain, and remediate a real credential-compromise scenario based on an actual incident.</a:t>
            </a:r>
            <a:endParaRPr lang="en-US" sz="1200" dirty="0"/>
          </a:p>
        </p:txBody>
      </p:sp>
      <p:sp>
        <p:nvSpPr>
          <p:cNvPr id="11" name="Shape 9"/>
          <p:cNvSpPr/>
          <p:nvPr/>
        </p:nvSpPr>
        <p:spPr>
          <a:xfrm>
            <a:off x="3246120" y="1508760"/>
            <a:ext cx="2606040" cy="3246120"/>
          </a:xfrm>
          <a:prstGeom prst="rect">
            <a:avLst/>
          </a:prstGeom>
          <a:solidFill>
            <a:srgbClr val="FFFFFF"/>
          </a:solidFill>
          <a:ln w="6350">
            <a:solidFill>
              <a:srgbClr val="D0DAE8"/>
            </a:solidFill>
            <a:prstDash val="solid"/>
          </a:ln>
          <a:effectLst>
            <a:outerShdw sx="100000" sy="100000" kx="0" ky="0" algn="bl" rotWithShape="0" blurRad="63500" dist="25400" dir="8100000">
              <a:srgbClr val="000000">
                <a:alpha val="12000"/>
              </a:srgbClr>
            </a:outerShdw>
          </a:effectLst>
        </p:spPr>
      </p:sp>
      <p:sp>
        <p:nvSpPr>
          <p:cNvPr id="12" name="Shape 10"/>
          <p:cNvSpPr/>
          <p:nvPr/>
        </p:nvSpPr>
        <p:spPr>
          <a:xfrm>
            <a:off x="3246120" y="1508760"/>
            <a:ext cx="2606040" cy="502920"/>
          </a:xfrm>
          <a:prstGeom prst="rect">
            <a:avLst/>
          </a:prstGeom>
          <a:solidFill>
            <a:srgbClr val="0D1B2A"/>
          </a:solidFill>
          <a:ln/>
        </p:spPr>
      </p:sp>
      <p:sp>
        <p:nvSpPr>
          <p:cNvPr id="13" name="Text 11"/>
          <p:cNvSpPr/>
          <p:nvPr/>
        </p:nvSpPr>
        <p:spPr>
          <a:xfrm>
            <a:off x="3355848" y="1508760"/>
            <a:ext cx="237744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FORMAT</a:t>
            </a:r>
            <a:endParaRPr lang="en-US" sz="1300" dirty="0"/>
          </a:p>
        </p:txBody>
      </p:sp>
      <p:sp>
        <p:nvSpPr>
          <p:cNvPr id="14" name="Text 12"/>
          <p:cNvSpPr/>
          <p:nvPr/>
        </p:nvSpPr>
        <p:spPr>
          <a:xfrm>
            <a:off x="4069080" y="2103120"/>
            <a:ext cx="91440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5" name="Text 13"/>
          <p:cNvSpPr/>
          <p:nvPr/>
        </p:nvSpPr>
        <p:spPr>
          <a:xfrm>
            <a:off x="3383280" y="2697480"/>
            <a:ext cx="2331720" cy="1920240"/>
          </a:xfrm>
          <a:prstGeom prst="rect">
            <a:avLst/>
          </a:prstGeom>
          <a:noFill/>
          <a:ln/>
        </p:spPr>
        <p:txBody>
          <a:bodyPr wrap="square" lIns="0" tIns="0" rIns="0" bIns="0" rtlCol="0" anchor="ctr"/>
          <a:lstStyle/>
          <a:p>
            <a:pPr indent="0" marL="0">
              <a:buNone/>
            </a:pPr>
            <a:r>
              <a:rPr lang="en-US" sz="1200" dirty="0">
                <a:solidFill>
                  <a:srgbClr val="1A2335"/>
                </a:solidFill>
                <a:latin typeface="Calibri" pitchFamily="34" charset="0"/>
                <a:ea typeface="Calibri" pitchFamily="34" charset="-122"/>
                <a:cs typeface="Calibri" pitchFamily="34" charset="-120"/>
              </a:rPr>
              <a:t>Discussion-based tabletop. No live systems are touched. Teams talk through decisions at each inject and justify their actions.</a:t>
            </a:r>
            <a:endParaRPr lang="en-US" sz="1200" dirty="0"/>
          </a:p>
        </p:txBody>
      </p:sp>
      <p:sp>
        <p:nvSpPr>
          <p:cNvPr id="16" name="Shape 14"/>
          <p:cNvSpPr/>
          <p:nvPr/>
        </p:nvSpPr>
        <p:spPr>
          <a:xfrm>
            <a:off x="6035040" y="1508760"/>
            <a:ext cx="2606040" cy="3246120"/>
          </a:xfrm>
          <a:prstGeom prst="rect">
            <a:avLst/>
          </a:prstGeom>
          <a:solidFill>
            <a:srgbClr val="FFFFFF"/>
          </a:solidFill>
          <a:ln w="6350">
            <a:solidFill>
              <a:srgbClr val="D0DAE8"/>
            </a:solidFill>
            <a:prstDash val="solid"/>
          </a:ln>
          <a:effectLst>
            <a:outerShdw sx="100000" sy="100000" kx="0" ky="0" algn="bl" rotWithShape="0" blurRad="63500" dist="25400" dir="8100000">
              <a:srgbClr val="000000">
                <a:alpha val="12000"/>
              </a:srgbClr>
            </a:outerShdw>
          </a:effectLst>
        </p:spPr>
      </p:sp>
      <p:sp>
        <p:nvSpPr>
          <p:cNvPr id="17" name="Shape 15"/>
          <p:cNvSpPr/>
          <p:nvPr/>
        </p:nvSpPr>
        <p:spPr>
          <a:xfrm>
            <a:off x="6035040" y="1508760"/>
            <a:ext cx="2606040" cy="502920"/>
          </a:xfrm>
          <a:prstGeom prst="rect">
            <a:avLst/>
          </a:prstGeom>
          <a:solidFill>
            <a:srgbClr val="0D1B2A"/>
          </a:solidFill>
          <a:ln/>
        </p:spPr>
      </p:sp>
      <p:sp>
        <p:nvSpPr>
          <p:cNvPr id="18" name="Text 16"/>
          <p:cNvSpPr/>
          <p:nvPr/>
        </p:nvSpPr>
        <p:spPr>
          <a:xfrm>
            <a:off x="6144768" y="1508760"/>
            <a:ext cx="237744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OUTCOME</a:t>
            </a:r>
            <a:endParaRPr lang="en-US" sz="1300" dirty="0"/>
          </a:p>
        </p:txBody>
      </p:sp>
      <p:sp>
        <p:nvSpPr>
          <p:cNvPr id="19" name="Text 17"/>
          <p:cNvSpPr/>
          <p:nvPr/>
        </p:nvSpPr>
        <p:spPr>
          <a:xfrm>
            <a:off x="6858000" y="2103120"/>
            <a:ext cx="91440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20" name="Text 18"/>
          <p:cNvSpPr/>
          <p:nvPr/>
        </p:nvSpPr>
        <p:spPr>
          <a:xfrm>
            <a:off x="6172200" y="2697480"/>
            <a:ext cx="2331720" cy="1920240"/>
          </a:xfrm>
          <a:prstGeom prst="rect">
            <a:avLst/>
          </a:prstGeom>
          <a:noFill/>
          <a:ln/>
        </p:spPr>
        <p:txBody>
          <a:bodyPr wrap="square" lIns="0" tIns="0" rIns="0" bIns="0" rtlCol="0" anchor="ctr"/>
          <a:lstStyle/>
          <a:p>
            <a:pPr indent="0" marL="0">
              <a:buNone/>
            </a:pPr>
            <a:r>
              <a:rPr lang="en-US" sz="1200" dirty="0">
                <a:solidFill>
                  <a:srgbClr val="1A2335"/>
                </a:solidFill>
                <a:latin typeface="Calibri" pitchFamily="34" charset="0"/>
                <a:ea typeface="Calibri" pitchFamily="34" charset="-122"/>
                <a:cs typeface="Calibri" pitchFamily="34" charset="-120"/>
              </a:rPr>
              <a:t>Identify gaps in your detection, response playbooks, and Zero Trust controls. Capture action items for immediate follow-up.</a:t>
            </a:r>
            <a:endParaRPr lang="en-US" sz="1200" dirty="0"/>
          </a:p>
        </p:txBody>
      </p:sp>
      <p:sp>
        <p:nvSpPr>
          <p:cNvPr id="21" name="Shape 19"/>
          <p:cNvSpPr/>
          <p:nvPr/>
        </p:nvSpPr>
        <p:spPr>
          <a:xfrm>
            <a:off x="457200" y="4663440"/>
            <a:ext cx="8229600" cy="228600"/>
          </a:xfrm>
          <a:prstGeom prst="rect">
            <a:avLst/>
          </a:prstGeom>
          <a:solidFill>
            <a:srgbClr val="1A2E45"/>
          </a:solidFill>
          <a:ln/>
        </p:spPr>
      </p:sp>
      <p:sp>
        <p:nvSpPr>
          <p:cNvPr id="22" name="Text 20"/>
          <p:cNvSpPr/>
          <p:nvPr/>
        </p:nvSpPr>
        <p:spPr>
          <a:xfrm>
            <a:off x="457200" y="4663440"/>
            <a:ext cx="8229600" cy="228600"/>
          </a:xfrm>
          <a:prstGeom prst="rect">
            <a:avLst/>
          </a:prstGeom>
          <a:noFill/>
          <a:ln/>
        </p:spPr>
        <p:txBody>
          <a:bodyPr wrap="square" lIns="0" tIns="0" rIns="0" bIns="0" rtlCol="0" anchor="ctr"/>
          <a:lstStyle/>
          <a:p>
            <a:pPr algn="ctr" indent="0" marL="0">
              <a:buNone/>
            </a:pPr>
            <a:r>
              <a:rPr lang="en-US" sz="1000" dirty="0">
                <a:solidFill>
                  <a:srgbClr val="D0DAE8"/>
                </a:solidFill>
                <a:latin typeface="Calibri" pitchFamily="34" charset="0"/>
                <a:ea typeface="Calibri" pitchFamily="34" charset="-122"/>
                <a:cs typeface="Calibri" pitchFamily="34" charset="-120"/>
              </a:rPr>
              <a:t>⚠️  Ground Rules: There are no wrong answers  •  Focus on gaps, not blame  •  Capture decisions for the hot-wash</a:t>
            </a:r>
            <a:endParaRPr lang="en-US" sz="1000" dirty="0"/>
          </a:p>
        </p:txBody>
      </p:sp>
      <p:sp>
        <p:nvSpPr>
          <p:cNvPr id="23" name="Text 21"/>
          <p:cNvSpPr/>
          <p:nvPr/>
        </p:nvSpPr>
        <p:spPr>
          <a:xfrm>
            <a:off x="0" y="4864608"/>
            <a:ext cx="9144000" cy="274320"/>
          </a:xfrm>
          <a:prstGeom prst="rect">
            <a:avLst/>
          </a:prstGeom>
          <a:noFill/>
          <a:ln/>
        </p:spPr>
        <p:txBody>
          <a:bodyPr wrap="square" lIns="0" tIns="0" rIns="0" bIns="0" rtlCol="0" anchor="ctr"/>
          <a:lstStyle/>
          <a:p>
            <a:pPr algn="ctr" indent="0" marL="0">
              <a:buNone/>
            </a:pPr>
            <a:r>
              <a:rPr lang="en-US" sz="900" dirty="0">
                <a:solidFill>
                  <a:srgbClr val="8899AA"/>
                </a:solidFill>
                <a:latin typeface="Calibri" pitchFamily="34" charset="0"/>
                <a:ea typeface="Calibri" pitchFamily="34" charset="-122"/>
                <a:cs typeface="Calibri" pitchFamily="34" charset="-120"/>
              </a:rPr>
              <a:t>INC-2026-0322-001 | CONFIDENTIAL — INTERNAL USE ONLY | Slide 2 of 14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8F0FA"/>
        </a:solidFill>
      </p:bgPr>
    </p:bg>
    <p:spTree>
      <p:nvGrpSpPr>
        <p:cNvPr id="1" name=""/>
        <p:cNvGrpSpPr/>
        <p:nvPr/>
      </p:nvGrpSpPr>
      <p:grpSpPr>
        <a:xfrm>
          <a:off x="0" y="0"/>
          <a:ext cx="0" cy="0"/>
          <a:chOff x="0" y="0"/>
          <a:chExt cx="0" cy="0"/>
        </a:xfrm>
      </p:grpSpPr>
      <p:sp>
        <p:nvSpPr>
          <p:cNvPr id="2" name="Shape 0"/>
          <p:cNvSpPr/>
          <p:nvPr/>
        </p:nvSpPr>
        <p:spPr>
          <a:xfrm>
            <a:off x="457200" y="256032"/>
            <a:ext cx="45720" cy="347472"/>
          </a:xfrm>
          <a:prstGeom prst="rect">
            <a:avLst/>
          </a:prstGeom>
          <a:solidFill>
            <a:srgbClr val="C0392B"/>
          </a:solidFill>
          <a:ln/>
        </p:spPr>
      </p:sp>
      <p:sp>
        <p:nvSpPr>
          <p:cNvPr id="3" name="Text 1"/>
          <p:cNvSpPr/>
          <p:nvPr/>
        </p:nvSpPr>
        <p:spPr>
          <a:xfrm>
            <a:off x="566928" y="228600"/>
            <a:ext cx="7315200" cy="411480"/>
          </a:xfrm>
          <a:prstGeom prst="rect">
            <a:avLst/>
          </a:prstGeom>
          <a:noFill/>
          <a:ln/>
        </p:spPr>
        <p:txBody>
          <a:bodyPr wrap="square" lIns="0" tIns="0" rIns="0" bIns="0" rtlCol="0" anchor="ctr"/>
          <a:lstStyle/>
          <a:p>
            <a:pPr indent="0" marL="0">
              <a:buNone/>
            </a:pPr>
            <a:r>
              <a:rPr lang="en-US" sz="1100" b="1" spc="200" kern="0" dirty="0">
                <a:solidFill>
                  <a:srgbClr val="8899AA"/>
                </a:solidFill>
                <a:latin typeface="Calibri" pitchFamily="34" charset="0"/>
                <a:ea typeface="Calibri" pitchFamily="34" charset="-122"/>
                <a:cs typeface="Calibri" pitchFamily="34" charset="-120"/>
              </a:rPr>
              <a:t>ROLES &amp; RESPONSIBILITIES</a:t>
            </a:r>
            <a:endParaRPr lang="en-US" sz="1100" dirty="0"/>
          </a:p>
        </p:txBody>
      </p:sp>
      <p:sp>
        <p:nvSpPr>
          <p:cNvPr id="4" name="Text 2"/>
          <p:cNvSpPr/>
          <p:nvPr/>
        </p:nvSpPr>
        <p:spPr>
          <a:xfrm>
            <a:off x="502920" y="658368"/>
            <a:ext cx="8138160" cy="685800"/>
          </a:xfrm>
          <a:prstGeom prst="rect">
            <a:avLst/>
          </a:prstGeom>
          <a:noFill/>
          <a:ln/>
        </p:spPr>
        <p:txBody>
          <a:bodyPr wrap="square" lIns="0" tIns="0" rIns="0" bIns="0" rtlCol="0" anchor="ctr"/>
          <a:lstStyle/>
          <a:p>
            <a:pPr indent="0" marL="0">
              <a:buNone/>
            </a:pPr>
            <a:r>
              <a:rPr lang="en-US" sz="2800" b="1" dirty="0">
                <a:solidFill>
                  <a:srgbClr val="1A2335"/>
                </a:solidFill>
                <a:latin typeface="Calibri" pitchFamily="34" charset="0"/>
                <a:ea typeface="Calibri" pitchFamily="34" charset="-122"/>
                <a:cs typeface="Calibri" pitchFamily="34" charset="-120"/>
              </a:rPr>
              <a:t>Exercise Participants</a:t>
            </a:r>
            <a:endParaRPr lang="en-US" sz="2800" dirty="0"/>
          </a:p>
        </p:txBody>
      </p:sp>
      <p:sp>
        <p:nvSpPr>
          <p:cNvPr id="5" name="Shape 3"/>
          <p:cNvSpPr/>
          <p:nvPr/>
        </p:nvSpPr>
        <p:spPr>
          <a:xfrm>
            <a:off x="502920" y="1371600"/>
            <a:ext cx="8138160" cy="0"/>
          </a:xfrm>
          <a:prstGeom prst="line">
            <a:avLst/>
          </a:prstGeom>
          <a:noFill/>
          <a:ln w="12700">
            <a:solidFill>
              <a:srgbClr val="D0DAE8"/>
            </a:solidFill>
            <a:prstDash val="solid"/>
          </a:ln>
        </p:spPr>
      </p:sp>
      <p:sp>
        <p:nvSpPr>
          <p:cNvPr id="6" name="Shape 4"/>
          <p:cNvSpPr/>
          <p:nvPr/>
        </p:nvSpPr>
        <p:spPr>
          <a:xfrm>
            <a:off x="457200" y="1508760"/>
            <a:ext cx="4160520" cy="1005840"/>
          </a:xfrm>
          <a:prstGeom prst="rect">
            <a:avLst/>
          </a:prstGeom>
          <a:solidFill>
            <a:srgbClr val="FFFFFF"/>
          </a:solidFill>
          <a:ln w="6350">
            <a:solidFill>
              <a:srgbClr val="D0DAE8"/>
            </a:solidFill>
            <a:prstDash val="solid"/>
          </a:ln>
          <a:effectLst>
            <a:outerShdw sx="100000" sy="100000" kx="0" ky="0" algn="bl" rotWithShape="0" blurRad="63500" dist="25400" dir="8100000">
              <a:srgbClr val="000000">
                <a:alpha val="12000"/>
              </a:srgbClr>
            </a:outerShdw>
          </a:effectLst>
        </p:spPr>
      </p:sp>
      <p:sp>
        <p:nvSpPr>
          <p:cNvPr id="7" name="Shape 5"/>
          <p:cNvSpPr/>
          <p:nvPr/>
        </p:nvSpPr>
        <p:spPr>
          <a:xfrm>
            <a:off x="457200" y="1508760"/>
            <a:ext cx="64008" cy="1005840"/>
          </a:xfrm>
          <a:prstGeom prst="rect">
            <a:avLst/>
          </a:prstGeom>
          <a:solidFill>
            <a:srgbClr val="C0392B"/>
          </a:solidFill>
          <a:ln/>
        </p:spPr>
      </p:sp>
      <p:sp>
        <p:nvSpPr>
          <p:cNvPr id="8" name="Text 6"/>
          <p:cNvSpPr/>
          <p:nvPr/>
        </p:nvSpPr>
        <p:spPr>
          <a:xfrm>
            <a:off x="621792" y="1600200"/>
            <a:ext cx="3840480" cy="347472"/>
          </a:xfrm>
          <a:prstGeom prst="rect">
            <a:avLst/>
          </a:prstGeom>
          <a:noFill/>
          <a:ln/>
        </p:spPr>
        <p:txBody>
          <a:bodyPr wrap="square" lIns="0" tIns="0" rIns="0" bIns="0" rtlCol="0" anchor="ctr"/>
          <a:lstStyle/>
          <a:p>
            <a:pPr indent="0" marL="0">
              <a:buNone/>
            </a:pPr>
            <a:r>
              <a:rPr lang="en-US" sz="1300" b="1" dirty="0">
                <a:solidFill>
                  <a:srgbClr val="1A2335"/>
                </a:solidFill>
                <a:latin typeface="Calibri" pitchFamily="34" charset="0"/>
                <a:ea typeface="Calibri" pitchFamily="34" charset="-122"/>
                <a:cs typeface="Calibri" pitchFamily="34" charset="-120"/>
              </a:rPr>
              <a:t>Incident Commander</a:t>
            </a:r>
            <a:endParaRPr lang="en-US" sz="1300" dirty="0"/>
          </a:p>
        </p:txBody>
      </p:sp>
      <p:sp>
        <p:nvSpPr>
          <p:cNvPr id="9" name="Text 7"/>
          <p:cNvSpPr/>
          <p:nvPr/>
        </p:nvSpPr>
        <p:spPr>
          <a:xfrm>
            <a:off x="621792" y="1965960"/>
            <a:ext cx="3840480" cy="457200"/>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Owns decisions, coordinates the response, escalates to leadership.</a:t>
            </a:r>
            <a:endParaRPr lang="en-US" sz="1100" dirty="0"/>
          </a:p>
        </p:txBody>
      </p:sp>
      <p:sp>
        <p:nvSpPr>
          <p:cNvPr id="10" name="Shape 8"/>
          <p:cNvSpPr/>
          <p:nvPr/>
        </p:nvSpPr>
        <p:spPr>
          <a:xfrm>
            <a:off x="457200" y="2651760"/>
            <a:ext cx="4160520" cy="1005840"/>
          </a:xfrm>
          <a:prstGeom prst="rect">
            <a:avLst/>
          </a:prstGeom>
          <a:solidFill>
            <a:srgbClr val="FFFFFF"/>
          </a:solidFill>
          <a:ln w="6350">
            <a:solidFill>
              <a:srgbClr val="D0DAE8"/>
            </a:solidFill>
            <a:prstDash val="solid"/>
          </a:ln>
          <a:effectLst>
            <a:outerShdw sx="100000" sy="100000" kx="0" ky="0" algn="bl" rotWithShape="0" blurRad="63500" dist="25400" dir="8100000">
              <a:srgbClr val="000000">
                <a:alpha val="12000"/>
              </a:srgbClr>
            </a:outerShdw>
          </a:effectLst>
        </p:spPr>
      </p:sp>
      <p:sp>
        <p:nvSpPr>
          <p:cNvPr id="11" name="Shape 9"/>
          <p:cNvSpPr/>
          <p:nvPr/>
        </p:nvSpPr>
        <p:spPr>
          <a:xfrm>
            <a:off x="457200" y="2651760"/>
            <a:ext cx="64008" cy="1005840"/>
          </a:xfrm>
          <a:prstGeom prst="rect">
            <a:avLst/>
          </a:prstGeom>
          <a:solidFill>
            <a:srgbClr val="0D1B2A"/>
          </a:solidFill>
          <a:ln/>
        </p:spPr>
      </p:sp>
      <p:sp>
        <p:nvSpPr>
          <p:cNvPr id="12" name="Text 10"/>
          <p:cNvSpPr/>
          <p:nvPr/>
        </p:nvSpPr>
        <p:spPr>
          <a:xfrm>
            <a:off x="621792" y="2743200"/>
            <a:ext cx="3840480" cy="347472"/>
          </a:xfrm>
          <a:prstGeom prst="rect">
            <a:avLst/>
          </a:prstGeom>
          <a:noFill/>
          <a:ln/>
        </p:spPr>
        <p:txBody>
          <a:bodyPr wrap="square" lIns="0" tIns="0" rIns="0" bIns="0" rtlCol="0" anchor="ctr"/>
          <a:lstStyle/>
          <a:p>
            <a:pPr indent="0" marL="0">
              <a:buNone/>
            </a:pPr>
            <a:r>
              <a:rPr lang="en-US" sz="1300" b="1" dirty="0">
                <a:solidFill>
                  <a:srgbClr val="1A2335"/>
                </a:solidFill>
                <a:latin typeface="Calibri" pitchFamily="34" charset="0"/>
                <a:ea typeface="Calibri" pitchFamily="34" charset="-122"/>
                <a:cs typeface="Calibri" pitchFamily="34" charset="-120"/>
              </a:rPr>
              <a:t>IT Security Analyst</a:t>
            </a:r>
            <a:endParaRPr lang="en-US" sz="1300" dirty="0"/>
          </a:p>
        </p:txBody>
      </p:sp>
      <p:sp>
        <p:nvSpPr>
          <p:cNvPr id="13" name="Text 11"/>
          <p:cNvSpPr/>
          <p:nvPr/>
        </p:nvSpPr>
        <p:spPr>
          <a:xfrm>
            <a:off x="621792" y="3108960"/>
            <a:ext cx="3840480" cy="457200"/>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Reviews sign-in logs, Entra ID audit logs, and Wazuh SIEM alerts.</a:t>
            </a:r>
            <a:endParaRPr lang="en-US" sz="1100" dirty="0"/>
          </a:p>
        </p:txBody>
      </p:sp>
      <p:sp>
        <p:nvSpPr>
          <p:cNvPr id="14" name="Shape 12"/>
          <p:cNvSpPr/>
          <p:nvPr/>
        </p:nvSpPr>
        <p:spPr>
          <a:xfrm>
            <a:off x="457200" y="3794760"/>
            <a:ext cx="4160520" cy="1005840"/>
          </a:xfrm>
          <a:prstGeom prst="rect">
            <a:avLst/>
          </a:prstGeom>
          <a:solidFill>
            <a:srgbClr val="FFFFFF"/>
          </a:solidFill>
          <a:ln w="6350">
            <a:solidFill>
              <a:srgbClr val="D0DAE8"/>
            </a:solidFill>
            <a:prstDash val="solid"/>
          </a:ln>
          <a:effectLst>
            <a:outerShdw sx="100000" sy="100000" kx="0" ky="0" algn="bl" rotWithShape="0" blurRad="63500" dist="25400" dir="8100000">
              <a:srgbClr val="000000">
                <a:alpha val="12000"/>
              </a:srgbClr>
            </a:outerShdw>
          </a:effectLst>
        </p:spPr>
      </p:sp>
      <p:sp>
        <p:nvSpPr>
          <p:cNvPr id="15" name="Shape 13"/>
          <p:cNvSpPr/>
          <p:nvPr/>
        </p:nvSpPr>
        <p:spPr>
          <a:xfrm>
            <a:off x="457200" y="3794760"/>
            <a:ext cx="64008" cy="1005840"/>
          </a:xfrm>
          <a:prstGeom prst="rect">
            <a:avLst/>
          </a:prstGeom>
          <a:solidFill>
            <a:srgbClr val="0D1B2A"/>
          </a:solidFill>
          <a:ln/>
        </p:spPr>
      </p:sp>
      <p:sp>
        <p:nvSpPr>
          <p:cNvPr id="16" name="Text 14"/>
          <p:cNvSpPr/>
          <p:nvPr/>
        </p:nvSpPr>
        <p:spPr>
          <a:xfrm>
            <a:off x="621792" y="3886200"/>
            <a:ext cx="3840480" cy="347472"/>
          </a:xfrm>
          <a:prstGeom prst="rect">
            <a:avLst/>
          </a:prstGeom>
          <a:noFill/>
          <a:ln/>
        </p:spPr>
        <p:txBody>
          <a:bodyPr wrap="square" lIns="0" tIns="0" rIns="0" bIns="0" rtlCol="0" anchor="ctr"/>
          <a:lstStyle/>
          <a:p>
            <a:pPr indent="0" marL="0">
              <a:buNone/>
            </a:pPr>
            <a:r>
              <a:rPr lang="en-US" sz="1300" b="1" dirty="0">
                <a:solidFill>
                  <a:srgbClr val="1A2335"/>
                </a:solidFill>
                <a:latin typeface="Calibri" pitchFamily="34" charset="0"/>
                <a:ea typeface="Calibri" pitchFamily="34" charset="-122"/>
                <a:cs typeface="Calibri" pitchFamily="34" charset="-120"/>
              </a:rPr>
              <a:t>Identity &amp; Access Admin</a:t>
            </a:r>
            <a:endParaRPr lang="en-US" sz="1300" dirty="0"/>
          </a:p>
        </p:txBody>
      </p:sp>
      <p:sp>
        <p:nvSpPr>
          <p:cNvPr id="17" name="Text 15"/>
          <p:cNvSpPr/>
          <p:nvPr/>
        </p:nvSpPr>
        <p:spPr>
          <a:xfrm>
            <a:off x="621792" y="4251960"/>
            <a:ext cx="3840480" cy="457200"/>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Executes Entra ID actions — session revocation, password resets, CA policy changes.</a:t>
            </a:r>
            <a:endParaRPr lang="en-US" sz="1100" dirty="0"/>
          </a:p>
        </p:txBody>
      </p:sp>
      <p:sp>
        <p:nvSpPr>
          <p:cNvPr id="18" name="Shape 16"/>
          <p:cNvSpPr/>
          <p:nvPr/>
        </p:nvSpPr>
        <p:spPr>
          <a:xfrm>
            <a:off x="4800600" y="1508760"/>
            <a:ext cx="4160520" cy="1005840"/>
          </a:xfrm>
          <a:prstGeom prst="rect">
            <a:avLst/>
          </a:prstGeom>
          <a:solidFill>
            <a:srgbClr val="FFFFFF"/>
          </a:solidFill>
          <a:ln w="6350">
            <a:solidFill>
              <a:srgbClr val="D0DAE8"/>
            </a:solidFill>
            <a:prstDash val="solid"/>
          </a:ln>
          <a:effectLst>
            <a:outerShdw sx="100000" sy="100000" kx="0" ky="0" algn="bl" rotWithShape="0" blurRad="63500" dist="25400" dir="8100000">
              <a:srgbClr val="000000">
                <a:alpha val="12000"/>
              </a:srgbClr>
            </a:outerShdw>
          </a:effectLst>
        </p:spPr>
      </p:sp>
      <p:sp>
        <p:nvSpPr>
          <p:cNvPr id="19" name="Shape 17"/>
          <p:cNvSpPr/>
          <p:nvPr/>
        </p:nvSpPr>
        <p:spPr>
          <a:xfrm>
            <a:off x="4800600" y="1508760"/>
            <a:ext cx="64008" cy="1005840"/>
          </a:xfrm>
          <a:prstGeom prst="rect">
            <a:avLst/>
          </a:prstGeom>
          <a:solidFill>
            <a:srgbClr val="0D1B2A"/>
          </a:solidFill>
          <a:ln/>
        </p:spPr>
      </p:sp>
      <p:sp>
        <p:nvSpPr>
          <p:cNvPr id="20" name="Text 18"/>
          <p:cNvSpPr/>
          <p:nvPr/>
        </p:nvSpPr>
        <p:spPr>
          <a:xfrm>
            <a:off x="4965192" y="1600200"/>
            <a:ext cx="3840480" cy="347472"/>
          </a:xfrm>
          <a:prstGeom prst="rect">
            <a:avLst/>
          </a:prstGeom>
          <a:noFill/>
          <a:ln/>
        </p:spPr>
        <p:txBody>
          <a:bodyPr wrap="square" lIns="0" tIns="0" rIns="0" bIns="0" rtlCol="0" anchor="ctr"/>
          <a:lstStyle/>
          <a:p>
            <a:pPr indent="0" marL="0">
              <a:buNone/>
            </a:pPr>
            <a:r>
              <a:rPr lang="en-US" sz="1300" b="1" dirty="0">
                <a:solidFill>
                  <a:srgbClr val="1A2335"/>
                </a:solidFill>
                <a:latin typeface="Calibri" pitchFamily="34" charset="0"/>
                <a:ea typeface="Calibri" pitchFamily="34" charset="-122"/>
                <a:cs typeface="Calibri" pitchFamily="34" charset="-120"/>
              </a:rPr>
              <a:t>HR / Business Liaison</a:t>
            </a:r>
            <a:endParaRPr lang="en-US" sz="1300" dirty="0"/>
          </a:p>
        </p:txBody>
      </p:sp>
      <p:sp>
        <p:nvSpPr>
          <p:cNvPr id="21" name="Text 19"/>
          <p:cNvSpPr/>
          <p:nvPr/>
        </p:nvSpPr>
        <p:spPr>
          <a:xfrm>
            <a:off x="4965192" y="1965960"/>
            <a:ext cx="3840480" cy="457200"/>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Represents the affected user's department; coordinates user notification.</a:t>
            </a:r>
            <a:endParaRPr lang="en-US" sz="1100" dirty="0"/>
          </a:p>
        </p:txBody>
      </p:sp>
      <p:sp>
        <p:nvSpPr>
          <p:cNvPr id="22" name="Shape 20"/>
          <p:cNvSpPr/>
          <p:nvPr/>
        </p:nvSpPr>
        <p:spPr>
          <a:xfrm>
            <a:off x="4800600" y="2651760"/>
            <a:ext cx="4160520" cy="1005840"/>
          </a:xfrm>
          <a:prstGeom prst="rect">
            <a:avLst/>
          </a:prstGeom>
          <a:solidFill>
            <a:srgbClr val="FFFFFF"/>
          </a:solidFill>
          <a:ln w="6350">
            <a:solidFill>
              <a:srgbClr val="D0DAE8"/>
            </a:solidFill>
            <a:prstDash val="solid"/>
          </a:ln>
          <a:effectLst>
            <a:outerShdw sx="100000" sy="100000" kx="0" ky="0" algn="bl" rotWithShape="0" blurRad="63500" dist="25400" dir="8100000">
              <a:srgbClr val="000000">
                <a:alpha val="12000"/>
              </a:srgbClr>
            </a:outerShdw>
          </a:effectLst>
        </p:spPr>
      </p:sp>
      <p:sp>
        <p:nvSpPr>
          <p:cNvPr id="23" name="Shape 21"/>
          <p:cNvSpPr/>
          <p:nvPr/>
        </p:nvSpPr>
        <p:spPr>
          <a:xfrm>
            <a:off x="4800600" y="2651760"/>
            <a:ext cx="64008" cy="1005840"/>
          </a:xfrm>
          <a:prstGeom prst="rect">
            <a:avLst/>
          </a:prstGeom>
          <a:solidFill>
            <a:srgbClr val="D4861A"/>
          </a:solidFill>
          <a:ln/>
        </p:spPr>
      </p:sp>
      <p:sp>
        <p:nvSpPr>
          <p:cNvPr id="24" name="Text 22"/>
          <p:cNvSpPr/>
          <p:nvPr/>
        </p:nvSpPr>
        <p:spPr>
          <a:xfrm>
            <a:off x="4965192" y="2743200"/>
            <a:ext cx="3840480" cy="347472"/>
          </a:xfrm>
          <a:prstGeom prst="rect">
            <a:avLst/>
          </a:prstGeom>
          <a:noFill/>
          <a:ln/>
        </p:spPr>
        <p:txBody>
          <a:bodyPr wrap="square" lIns="0" tIns="0" rIns="0" bIns="0" rtlCol="0" anchor="ctr"/>
          <a:lstStyle/>
          <a:p>
            <a:pPr indent="0" marL="0">
              <a:buNone/>
            </a:pPr>
            <a:r>
              <a:rPr lang="en-US" sz="1300" b="1" dirty="0">
                <a:solidFill>
                  <a:srgbClr val="1A2335"/>
                </a:solidFill>
                <a:latin typeface="Calibri" pitchFamily="34" charset="0"/>
                <a:ea typeface="Calibri" pitchFamily="34" charset="-122"/>
                <a:cs typeface="Calibri" pitchFamily="34" charset="-120"/>
              </a:rPr>
              <a:t>Legal / Compliance</a:t>
            </a:r>
            <a:endParaRPr lang="en-US" sz="1300" dirty="0"/>
          </a:p>
        </p:txBody>
      </p:sp>
      <p:sp>
        <p:nvSpPr>
          <p:cNvPr id="25" name="Text 23"/>
          <p:cNvSpPr/>
          <p:nvPr/>
        </p:nvSpPr>
        <p:spPr>
          <a:xfrm>
            <a:off x="4965192" y="3108960"/>
            <a:ext cx="3840480" cy="457200"/>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Assesses PII breach notification obligations under applicable privacy laws.</a:t>
            </a:r>
            <a:endParaRPr lang="en-US" sz="1100" dirty="0"/>
          </a:p>
        </p:txBody>
      </p:sp>
      <p:sp>
        <p:nvSpPr>
          <p:cNvPr id="26" name="Shape 24"/>
          <p:cNvSpPr/>
          <p:nvPr/>
        </p:nvSpPr>
        <p:spPr>
          <a:xfrm>
            <a:off x="4800600" y="3794760"/>
            <a:ext cx="4160520" cy="1005840"/>
          </a:xfrm>
          <a:prstGeom prst="rect">
            <a:avLst/>
          </a:prstGeom>
          <a:solidFill>
            <a:srgbClr val="FFFFFF"/>
          </a:solidFill>
          <a:ln w="6350">
            <a:solidFill>
              <a:srgbClr val="D0DAE8"/>
            </a:solidFill>
            <a:prstDash val="solid"/>
          </a:ln>
          <a:effectLst>
            <a:outerShdw sx="100000" sy="100000" kx="0" ky="0" algn="bl" rotWithShape="0" blurRad="63500" dist="25400" dir="8100000">
              <a:srgbClr val="000000">
                <a:alpha val="12000"/>
              </a:srgbClr>
            </a:outerShdw>
          </a:effectLst>
        </p:spPr>
      </p:sp>
      <p:sp>
        <p:nvSpPr>
          <p:cNvPr id="27" name="Shape 25"/>
          <p:cNvSpPr/>
          <p:nvPr/>
        </p:nvSpPr>
        <p:spPr>
          <a:xfrm>
            <a:off x="4800600" y="3794760"/>
            <a:ext cx="64008" cy="1005840"/>
          </a:xfrm>
          <a:prstGeom prst="rect">
            <a:avLst/>
          </a:prstGeom>
          <a:solidFill>
            <a:srgbClr val="1E7A4C"/>
          </a:solidFill>
          <a:ln/>
        </p:spPr>
      </p:sp>
      <p:sp>
        <p:nvSpPr>
          <p:cNvPr id="28" name="Text 26"/>
          <p:cNvSpPr/>
          <p:nvPr/>
        </p:nvSpPr>
        <p:spPr>
          <a:xfrm>
            <a:off x="4965192" y="3886200"/>
            <a:ext cx="3840480" cy="347472"/>
          </a:xfrm>
          <a:prstGeom prst="rect">
            <a:avLst/>
          </a:prstGeom>
          <a:noFill/>
          <a:ln/>
        </p:spPr>
        <p:txBody>
          <a:bodyPr wrap="square" lIns="0" tIns="0" rIns="0" bIns="0" rtlCol="0" anchor="ctr"/>
          <a:lstStyle/>
          <a:p>
            <a:pPr indent="0" marL="0">
              <a:buNone/>
            </a:pPr>
            <a:r>
              <a:rPr lang="en-US" sz="1300" b="1" dirty="0">
                <a:solidFill>
                  <a:srgbClr val="1A2335"/>
                </a:solidFill>
                <a:latin typeface="Calibri" pitchFamily="34" charset="0"/>
                <a:ea typeface="Calibri" pitchFamily="34" charset="-122"/>
                <a:cs typeface="Calibri" pitchFamily="34" charset="-120"/>
              </a:rPr>
              <a:t>Facilitator / Evaluator</a:t>
            </a:r>
            <a:endParaRPr lang="en-US" sz="1300" dirty="0"/>
          </a:p>
        </p:txBody>
      </p:sp>
      <p:sp>
        <p:nvSpPr>
          <p:cNvPr id="29" name="Text 27"/>
          <p:cNvSpPr/>
          <p:nvPr/>
        </p:nvSpPr>
        <p:spPr>
          <a:xfrm>
            <a:off x="4965192" y="4251960"/>
            <a:ext cx="3840480" cy="457200"/>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Drives the scenario, injects new information, scores team decisions.</a:t>
            </a:r>
            <a:endParaRPr lang="en-US" sz="1100" dirty="0"/>
          </a:p>
        </p:txBody>
      </p:sp>
      <p:sp>
        <p:nvSpPr>
          <p:cNvPr id="30" name="Text 28"/>
          <p:cNvSpPr/>
          <p:nvPr/>
        </p:nvSpPr>
        <p:spPr>
          <a:xfrm>
            <a:off x="0" y="4864608"/>
            <a:ext cx="9144000" cy="274320"/>
          </a:xfrm>
          <a:prstGeom prst="rect">
            <a:avLst/>
          </a:prstGeom>
          <a:noFill/>
          <a:ln/>
        </p:spPr>
        <p:txBody>
          <a:bodyPr wrap="square" lIns="0" tIns="0" rIns="0" bIns="0" rtlCol="0" anchor="ctr"/>
          <a:lstStyle/>
          <a:p>
            <a:pPr algn="ctr" indent="0" marL="0">
              <a:buNone/>
            </a:pPr>
            <a:r>
              <a:rPr lang="en-US" sz="900" dirty="0">
                <a:solidFill>
                  <a:srgbClr val="8899AA"/>
                </a:solidFill>
                <a:latin typeface="Calibri" pitchFamily="34" charset="0"/>
                <a:ea typeface="Calibri" pitchFamily="34" charset="-122"/>
                <a:cs typeface="Calibri" pitchFamily="34" charset="-120"/>
              </a:rPr>
              <a:t>INC-2026-0322-001 | CONFIDENTIAL — INTERNAL USE ONLY | Slide 3 of 14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457200" y="256032"/>
            <a:ext cx="45720" cy="347472"/>
          </a:xfrm>
          <a:prstGeom prst="rect">
            <a:avLst/>
          </a:prstGeom>
          <a:solidFill>
            <a:srgbClr val="C0392B"/>
          </a:solidFill>
          <a:ln/>
        </p:spPr>
      </p:sp>
      <p:sp>
        <p:nvSpPr>
          <p:cNvPr id="3" name="Text 1"/>
          <p:cNvSpPr/>
          <p:nvPr/>
        </p:nvSpPr>
        <p:spPr>
          <a:xfrm>
            <a:off x="566928" y="228600"/>
            <a:ext cx="7315200" cy="411480"/>
          </a:xfrm>
          <a:prstGeom prst="rect">
            <a:avLst/>
          </a:prstGeom>
          <a:noFill/>
          <a:ln/>
        </p:spPr>
        <p:txBody>
          <a:bodyPr wrap="square" lIns="0" tIns="0" rIns="0" bIns="0" rtlCol="0" anchor="ctr"/>
          <a:lstStyle/>
          <a:p>
            <a:pPr indent="0" marL="0">
              <a:buNone/>
            </a:pPr>
            <a:r>
              <a:rPr lang="en-US" sz="1100" b="1" spc="200" kern="0" dirty="0">
                <a:solidFill>
                  <a:srgbClr val="8899AA"/>
                </a:solidFill>
                <a:latin typeface="Calibri" pitchFamily="34" charset="0"/>
                <a:ea typeface="Calibri" pitchFamily="34" charset="-122"/>
                <a:cs typeface="Calibri" pitchFamily="34" charset="-120"/>
              </a:rPr>
              <a:t>SCENARIO BACKGROUND</a:t>
            </a:r>
            <a:endParaRPr lang="en-US" sz="1100" dirty="0"/>
          </a:p>
        </p:txBody>
      </p:sp>
      <p:sp>
        <p:nvSpPr>
          <p:cNvPr id="4" name="Text 2"/>
          <p:cNvSpPr/>
          <p:nvPr/>
        </p:nvSpPr>
        <p:spPr>
          <a:xfrm>
            <a:off x="457200" y="594360"/>
            <a:ext cx="8229600" cy="6858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Setting the Scene</a:t>
            </a:r>
            <a:endParaRPr lang="en-US" sz="3000" dirty="0"/>
          </a:p>
        </p:txBody>
      </p:sp>
      <p:sp>
        <p:nvSpPr>
          <p:cNvPr id="5" name="Shape 3"/>
          <p:cNvSpPr/>
          <p:nvPr/>
        </p:nvSpPr>
        <p:spPr>
          <a:xfrm>
            <a:off x="457200" y="1325880"/>
            <a:ext cx="8229600" cy="0"/>
          </a:xfrm>
          <a:prstGeom prst="line">
            <a:avLst/>
          </a:prstGeom>
          <a:noFill/>
          <a:ln w="19050">
            <a:solidFill>
              <a:srgbClr val="C0392B"/>
            </a:solidFill>
            <a:prstDash val="solid"/>
          </a:ln>
        </p:spPr>
      </p:sp>
      <p:sp>
        <p:nvSpPr>
          <p:cNvPr id="6" name="Shape 4"/>
          <p:cNvSpPr/>
          <p:nvPr/>
        </p:nvSpPr>
        <p:spPr>
          <a:xfrm>
            <a:off x="457200" y="1463040"/>
            <a:ext cx="8229600" cy="594360"/>
          </a:xfrm>
          <a:prstGeom prst="rect">
            <a:avLst/>
          </a:prstGeom>
          <a:solidFill>
            <a:srgbClr val="1A2E45"/>
          </a:solidFill>
          <a:ln/>
        </p:spPr>
      </p:sp>
      <p:sp>
        <p:nvSpPr>
          <p:cNvPr id="7" name="Text 5"/>
          <p:cNvSpPr/>
          <p:nvPr/>
        </p:nvSpPr>
        <p:spPr>
          <a:xfrm>
            <a:off x="594360" y="1536192"/>
            <a:ext cx="1828800" cy="411480"/>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 Organisation</a:t>
            </a:r>
            <a:endParaRPr lang="en-US" sz="1200" dirty="0"/>
          </a:p>
        </p:txBody>
      </p:sp>
      <p:sp>
        <p:nvSpPr>
          <p:cNvPr id="8" name="Text 6"/>
          <p:cNvSpPr/>
          <p:nvPr/>
        </p:nvSpPr>
        <p:spPr>
          <a:xfrm>
            <a:off x="2468880" y="1536192"/>
            <a:ext cx="6080760" cy="457200"/>
          </a:xfrm>
          <a:prstGeom prst="rect">
            <a:avLst/>
          </a:prstGeom>
          <a:noFill/>
          <a:ln/>
        </p:spPr>
        <p:txBody>
          <a:bodyPr wrap="square" lIns="0" tIns="0" rIns="0" bIns="0" rtlCol="0" anchor="ctr"/>
          <a:lstStyle/>
          <a:p>
            <a:pPr indent="0" marL="0">
              <a:buNone/>
            </a:pPr>
            <a:r>
              <a:rPr lang="en-US" sz="1200" dirty="0">
                <a:solidFill>
                  <a:srgbClr val="D0DAE8"/>
                </a:solidFill>
                <a:latin typeface="Calibri" pitchFamily="34" charset="0"/>
                <a:ea typeface="Calibri" pitchFamily="34" charset="-122"/>
                <a:cs typeface="Calibri" pitchFamily="34" charset="-120"/>
              </a:rPr>
              <a:t>Maxine Jones Project — Microsoft 365 / Entra ID environment with Salesforce CRM via SSO.</a:t>
            </a:r>
            <a:endParaRPr lang="en-US" sz="1200" dirty="0"/>
          </a:p>
        </p:txBody>
      </p:sp>
      <p:sp>
        <p:nvSpPr>
          <p:cNvPr id="9" name="Shape 7"/>
          <p:cNvSpPr/>
          <p:nvPr/>
        </p:nvSpPr>
        <p:spPr>
          <a:xfrm>
            <a:off x="457200" y="2167128"/>
            <a:ext cx="8229600" cy="594360"/>
          </a:xfrm>
          <a:prstGeom prst="rect">
            <a:avLst/>
          </a:prstGeom>
          <a:solidFill>
            <a:srgbClr val="1A2E45"/>
          </a:solidFill>
          <a:ln/>
        </p:spPr>
      </p:sp>
      <p:sp>
        <p:nvSpPr>
          <p:cNvPr id="10" name="Text 8"/>
          <p:cNvSpPr/>
          <p:nvPr/>
        </p:nvSpPr>
        <p:spPr>
          <a:xfrm>
            <a:off x="594360" y="2240280"/>
            <a:ext cx="1828800" cy="411480"/>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 Affected User</a:t>
            </a:r>
            <a:endParaRPr lang="en-US" sz="1200" dirty="0"/>
          </a:p>
        </p:txBody>
      </p:sp>
      <p:sp>
        <p:nvSpPr>
          <p:cNvPr id="11" name="Text 9"/>
          <p:cNvSpPr/>
          <p:nvPr/>
        </p:nvSpPr>
        <p:spPr>
          <a:xfrm>
            <a:off x="2468880" y="2240280"/>
            <a:ext cx="6080760" cy="457200"/>
          </a:xfrm>
          <a:prstGeom prst="rect">
            <a:avLst/>
          </a:prstGeom>
          <a:noFill/>
          <a:ln/>
        </p:spPr>
        <p:txBody>
          <a:bodyPr wrap="square" lIns="0" tIns="0" rIns="0" bIns="0" rtlCol="0" anchor="ctr"/>
          <a:lstStyle/>
          <a:p>
            <a:pPr indent="0" marL="0">
              <a:buNone/>
            </a:pPr>
            <a:r>
              <a:rPr lang="en-US" sz="1200" dirty="0">
                <a:solidFill>
                  <a:srgbClr val="D0DAE8"/>
                </a:solidFill>
                <a:latin typeface="Calibri" pitchFamily="34" charset="0"/>
                <a:ea typeface="Calibri" pitchFamily="34" charset="-122"/>
                <a:cs typeface="Calibri" pitchFamily="34" charset="-120"/>
              </a:rPr>
              <a:t>John Smith, HR Department — access to employee PII, org charts, and compensation data.</a:t>
            </a:r>
            <a:endParaRPr lang="en-US" sz="1200" dirty="0"/>
          </a:p>
        </p:txBody>
      </p:sp>
      <p:sp>
        <p:nvSpPr>
          <p:cNvPr id="12" name="Shape 10"/>
          <p:cNvSpPr/>
          <p:nvPr/>
        </p:nvSpPr>
        <p:spPr>
          <a:xfrm>
            <a:off x="457200" y="2871216"/>
            <a:ext cx="8229600" cy="594360"/>
          </a:xfrm>
          <a:prstGeom prst="rect">
            <a:avLst/>
          </a:prstGeom>
          <a:solidFill>
            <a:srgbClr val="1A2E45"/>
          </a:solidFill>
          <a:ln/>
        </p:spPr>
      </p:sp>
      <p:sp>
        <p:nvSpPr>
          <p:cNvPr id="13" name="Text 11"/>
          <p:cNvSpPr/>
          <p:nvPr/>
        </p:nvSpPr>
        <p:spPr>
          <a:xfrm>
            <a:off x="594360" y="2944368"/>
            <a:ext cx="1828800" cy="411480"/>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 Date / Time</a:t>
            </a:r>
            <a:endParaRPr lang="en-US" sz="1200" dirty="0"/>
          </a:p>
        </p:txBody>
      </p:sp>
      <p:sp>
        <p:nvSpPr>
          <p:cNvPr id="14" name="Text 12"/>
          <p:cNvSpPr/>
          <p:nvPr/>
        </p:nvSpPr>
        <p:spPr>
          <a:xfrm>
            <a:off x="2468880" y="2944368"/>
            <a:ext cx="6080760" cy="457200"/>
          </a:xfrm>
          <a:prstGeom prst="rect">
            <a:avLst/>
          </a:prstGeom>
          <a:noFill/>
          <a:ln/>
        </p:spPr>
        <p:txBody>
          <a:bodyPr wrap="square" lIns="0" tIns="0" rIns="0" bIns="0" rtlCol="0" anchor="ctr"/>
          <a:lstStyle/>
          <a:p>
            <a:pPr indent="0" marL="0">
              <a:buNone/>
            </a:pPr>
            <a:r>
              <a:rPr lang="en-US" sz="1200" dirty="0">
                <a:solidFill>
                  <a:srgbClr val="D0DAE8"/>
                </a:solidFill>
                <a:latin typeface="Calibri" pitchFamily="34" charset="0"/>
                <a:ea typeface="Calibri" pitchFamily="34" charset="-122"/>
                <a:cs typeface="Calibri" pitchFamily="34" charset="-120"/>
              </a:rPr>
              <a:t>March 22, 2026 — attack initiated at 2:30 AM CST; detected at ~7:00 AM CST (~4.5 hr gap).</a:t>
            </a:r>
            <a:endParaRPr lang="en-US" sz="1200" dirty="0"/>
          </a:p>
        </p:txBody>
      </p:sp>
      <p:sp>
        <p:nvSpPr>
          <p:cNvPr id="15" name="Shape 13"/>
          <p:cNvSpPr/>
          <p:nvPr/>
        </p:nvSpPr>
        <p:spPr>
          <a:xfrm>
            <a:off x="457200" y="3575304"/>
            <a:ext cx="8229600" cy="594360"/>
          </a:xfrm>
          <a:prstGeom prst="rect">
            <a:avLst/>
          </a:prstGeom>
          <a:solidFill>
            <a:srgbClr val="1A2E45"/>
          </a:solidFill>
          <a:ln/>
        </p:spPr>
      </p:sp>
      <p:sp>
        <p:nvSpPr>
          <p:cNvPr id="16" name="Text 14"/>
          <p:cNvSpPr/>
          <p:nvPr/>
        </p:nvSpPr>
        <p:spPr>
          <a:xfrm>
            <a:off x="594360" y="3648456"/>
            <a:ext cx="1828800" cy="411480"/>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 Control Gap</a:t>
            </a:r>
            <a:endParaRPr lang="en-US" sz="1200" dirty="0"/>
          </a:p>
        </p:txBody>
      </p:sp>
      <p:sp>
        <p:nvSpPr>
          <p:cNvPr id="17" name="Text 15"/>
          <p:cNvSpPr/>
          <p:nvPr/>
        </p:nvSpPr>
        <p:spPr>
          <a:xfrm>
            <a:off x="2468880" y="3648456"/>
            <a:ext cx="6080760" cy="457200"/>
          </a:xfrm>
          <a:prstGeom prst="rect">
            <a:avLst/>
          </a:prstGeom>
          <a:noFill/>
          <a:ln/>
        </p:spPr>
        <p:txBody>
          <a:bodyPr wrap="square" lIns="0" tIns="0" rIns="0" bIns="0" rtlCol="0" anchor="ctr"/>
          <a:lstStyle/>
          <a:p>
            <a:pPr indent="0" marL="0">
              <a:buNone/>
            </a:pPr>
            <a:r>
              <a:rPr lang="en-US" sz="1200" dirty="0">
                <a:solidFill>
                  <a:srgbClr val="D0DAE8"/>
                </a:solidFill>
                <a:latin typeface="Calibri" pitchFamily="34" charset="0"/>
                <a:ea typeface="Calibri" pitchFamily="34" charset="-122"/>
                <a:cs typeface="Calibri" pitchFamily="34" charset="-120"/>
              </a:rPr>
              <a:t>MFA policy was configured but John Smith had never completed MFA registration — bypass was trivial.</a:t>
            </a:r>
            <a:endParaRPr lang="en-US" sz="1200" dirty="0"/>
          </a:p>
        </p:txBody>
      </p:sp>
      <p:sp>
        <p:nvSpPr>
          <p:cNvPr id="18" name="Shape 16"/>
          <p:cNvSpPr/>
          <p:nvPr/>
        </p:nvSpPr>
        <p:spPr>
          <a:xfrm>
            <a:off x="457200" y="4279392"/>
            <a:ext cx="8229600" cy="594360"/>
          </a:xfrm>
          <a:prstGeom prst="rect">
            <a:avLst/>
          </a:prstGeom>
          <a:solidFill>
            <a:srgbClr val="1A2E45"/>
          </a:solidFill>
          <a:ln/>
        </p:spPr>
      </p:sp>
      <p:sp>
        <p:nvSpPr>
          <p:cNvPr id="19" name="Text 17"/>
          <p:cNvSpPr/>
          <p:nvPr/>
        </p:nvSpPr>
        <p:spPr>
          <a:xfrm>
            <a:off x="594360" y="4352544"/>
            <a:ext cx="1828800" cy="411480"/>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 SIEM Coverage</a:t>
            </a:r>
            <a:endParaRPr lang="en-US" sz="1200" dirty="0"/>
          </a:p>
        </p:txBody>
      </p:sp>
      <p:sp>
        <p:nvSpPr>
          <p:cNvPr id="20" name="Text 18"/>
          <p:cNvSpPr/>
          <p:nvPr/>
        </p:nvSpPr>
        <p:spPr>
          <a:xfrm>
            <a:off x="2468880" y="4352544"/>
            <a:ext cx="6080760" cy="457200"/>
          </a:xfrm>
          <a:prstGeom prst="rect">
            <a:avLst/>
          </a:prstGeom>
          <a:noFill/>
          <a:ln/>
        </p:spPr>
        <p:txBody>
          <a:bodyPr wrap="square" lIns="0" tIns="0" rIns="0" bIns="0" rtlCol="0" anchor="ctr"/>
          <a:lstStyle/>
          <a:p>
            <a:pPr indent="0" marL="0">
              <a:buNone/>
            </a:pPr>
            <a:r>
              <a:rPr lang="en-US" sz="1200" dirty="0">
                <a:solidFill>
                  <a:srgbClr val="D0DAE8"/>
                </a:solidFill>
                <a:latin typeface="Calibri" pitchFamily="34" charset="0"/>
                <a:ea typeface="Calibri" pitchFamily="34" charset="-122"/>
                <a:cs typeface="Calibri" pitchFamily="34" charset="-120"/>
              </a:rPr>
              <a:t>Wazuh monitored the Windows endpoint but had no integration with Entra ID cloud identity events.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0FA"/>
        </a:solidFill>
      </p:bgPr>
    </p:bg>
    <p:spTree>
      <p:nvGrpSpPr>
        <p:cNvPr id="1" name=""/>
        <p:cNvGrpSpPr/>
        <p:nvPr/>
      </p:nvGrpSpPr>
      <p:grpSpPr>
        <a:xfrm>
          <a:off x="0" y="0"/>
          <a:ext cx="0" cy="0"/>
          <a:chOff x="0" y="0"/>
          <a:chExt cx="0" cy="0"/>
        </a:xfrm>
      </p:grpSpPr>
      <p:sp>
        <p:nvSpPr>
          <p:cNvPr id="2" name="Shape 0"/>
          <p:cNvSpPr/>
          <p:nvPr/>
        </p:nvSpPr>
        <p:spPr>
          <a:xfrm>
            <a:off x="457200" y="256032"/>
            <a:ext cx="45720" cy="347472"/>
          </a:xfrm>
          <a:prstGeom prst="rect">
            <a:avLst/>
          </a:prstGeom>
          <a:solidFill>
            <a:srgbClr val="C0392B"/>
          </a:solidFill>
          <a:ln/>
        </p:spPr>
      </p:sp>
      <p:sp>
        <p:nvSpPr>
          <p:cNvPr id="3" name="Text 1"/>
          <p:cNvSpPr/>
          <p:nvPr/>
        </p:nvSpPr>
        <p:spPr>
          <a:xfrm>
            <a:off x="566928" y="228600"/>
            <a:ext cx="7315200" cy="411480"/>
          </a:xfrm>
          <a:prstGeom prst="rect">
            <a:avLst/>
          </a:prstGeom>
          <a:noFill/>
          <a:ln/>
        </p:spPr>
        <p:txBody>
          <a:bodyPr wrap="square" lIns="0" tIns="0" rIns="0" bIns="0" rtlCol="0" anchor="ctr"/>
          <a:lstStyle/>
          <a:p>
            <a:pPr indent="0" marL="0">
              <a:buNone/>
            </a:pPr>
            <a:r>
              <a:rPr lang="en-US" sz="1100" b="1" spc="200" kern="0" dirty="0">
                <a:solidFill>
                  <a:srgbClr val="8899AA"/>
                </a:solidFill>
                <a:latin typeface="Calibri" pitchFamily="34" charset="0"/>
                <a:ea typeface="Calibri" pitchFamily="34" charset="-122"/>
                <a:cs typeface="Calibri" pitchFamily="34" charset="-120"/>
              </a:rPr>
              <a:t>INJECT 1 OF 4 — INITIAL COMPROMISE</a:t>
            </a:r>
            <a:endParaRPr lang="en-US" sz="1100" dirty="0"/>
          </a:p>
        </p:txBody>
      </p:sp>
      <p:sp>
        <p:nvSpPr>
          <p:cNvPr id="4" name="Text 2"/>
          <p:cNvSpPr/>
          <p:nvPr/>
        </p:nvSpPr>
        <p:spPr>
          <a:xfrm>
            <a:off x="502920" y="658368"/>
            <a:ext cx="8138160" cy="685800"/>
          </a:xfrm>
          <a:prstGeom prst="rect">
            <a:avLst/>
          </a:prstGeom>
          <a:noFill/>
          <a:ln/>
        </p:spPr>
        <p:txBody>
          <a:bodyPr wrap="square" lIns="0" tIns="0" rIns="0" bIns="0" rtlCol="0" anchor="ctr"/>
          <a:lstStyle/>
          <a:p>
            <a:pPr indent="0" marL="0">
              <a:buNone/>
            </a:pPr>
            <a:r>
              <a:rPr lang="en-US" sz="2800" b="1" dirty="0">
                <a:solidFill>
                  <a:srgbClr val="1A2335"/>
                </a:solidFill>
                <a:latin typeface="Calibri" pitchFamily="34" charset="0"/>
                <a:ea typeface="Calibri" pitchFamily="34" charset="-122"/>
                <a:cs typeface="Calibri" pitchFamily="34" charset="-120"/>
              </a:rPr>
              <a:t>The Vishing Call</a:t>
            </a:r>
            <a:endParaRPr lang="en-US" sz="2800" dirty="0"/>
          </a:p>
        </p:txBody>
      </p:sp>
      <p:sp>
        <p:nvSpPr>
          <p:cNvPr id="5" name="Shape 3"/>
          <p:cNvSpPr/>
          <p:nvPr/>
        </p:nvSpPr>
        <p:spPr>
          <a:xfrm>
            <a:off x="502920" y="1371600"/>
            <a:ext cx="8138160" cy="0"/>
          </a:xfrm>
          <a:prstGeom prst="line">
            <a:avLst/>
          </a:prstGeom>
          <a:noFill/>
          <a:ln w="12700">
            <a:solidFill>
              <a:srgbClr val="D0DAE8"/>
            </a:solidFill>
            <a:prstDash val="solid"/>
          </a:ln>
        </p:spPr>
      </p:sp>
      <p:sp>
        <p:nvSpPr>
          <p:cNvPr id="6" name="Shape 4"/>
          <p:cNvSpPr/>
          <p:nvPr/>
        </p:nvSpPr>
        <p:spPr>
          <a:xfrm>
            <a:off x="7406640" y="256032"/>
            <a:ext cx="1188720" cy="292608"/>
          </a:xfrm>
          <a:prstGeom prst="rect">
            <a:avLst>
              <a:gd name="adj" fmla="val 15625"/>
            </a:avLst>
          </a:prstGeom>
          <a:solidFill>
            <a:srgbClr val="C0392B"/>
          </a:solidFill>
          <a:ln/>
        </p:spPr>
      </p:sp>
      <p:sp>
        <p:nvSpPr>
          <p:cNvPr id="7" name="Text 5"/>
          <p:cNvSpPr/>
          <p:nvPr/>
        </p:nvSpPr>
        <p:spPr>
          <a:xfrm>
            <a:off x="7406640" y="274320"/>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2:30 AM CST</a:t>
            </a:r>
            <a:endParaRPr lang="en-US" sz="1000" dirty="0"/>
          </a:p>
        </p:txBody>
      </p:sp>
      <p:sp>
        <p:nvSpPr>
          <p:cNvPr id="8" name="Shape 6"/>
          <p:cNvSpPr/>
          <p:nvPr/>
        </p:nvSpPr>
        <p:spPr>
          <a:xfrm>
            <a:off x="457200" y="1508760"/>
            <a:ext cx="8229600" cy="1371600"/>
          </a:xfrm>
          <a:prstGeom prst="rect">
            <a:avLst/>
          </a:prstGeom>
          <a:solidFill>
            <a:srgbClr val="FFFFFF"/>
          </a:solidFill>
          <a:ln w="6350">
            <a:solidFill>
              <a:srgbClr val="D0DAE8"/>
            </a:solidFill>
            <a:prstDash val="solid"/>
          </a:ln>
          <a:effectLst>
            <a:outerShdw sx="100000" sy="100000" kx="0" ky="0" algn="bl" rotWithShape="0" blurRad="63500" dist="25400" dir="8100000">
              <a:srgbClr val="000000">
                <a:alpha val="12000"/>
              </a:srgbClr>
            </a:outerShdw>
          </a:effectLst>
        </p:spPr>
      </p:sp>
      <p:sp>
        <p:nvSpPr>
          <p:cNvPr id="9" name="Shape 7"/>
          <p:cNvSpPr/>
          <p:nvPr/>
        </p:nvSpPr>
        <p:spPr>
          <a:xfrm>
            <a:off x="457200" y="1508760"/>
            <a:ext cx="8229600" cy="320040"/>
          </a:xfrm>
          <a:prstGeom prst="rect">
            <a:avLst/>
          </a:prstGeom>
          <a:solidFill>
            <a:srgbClr val="1A2E45"/>
          </a:solidFill>
          <a:ln/>
        </p:spPr>
      </p:sp>
      <p:sp>
        <p:nvSpPr>
          <p:cNvPr id="10" name="Text 8"/>
          <p:cNvSpPr/>
          <p:nvPr/>
        </p:nvSpPr>
        <p:spPr>
          <a:xfrm>
            <a:off x="594360" y="1508760"/>
            <a:ext cx="7955280" cy="320040"/>
          </a:xfrm>
          <a:prstGeom prst="rect">
            <a:avLst/>
          </a:prstGeom>
          <a:noFill/>
          <a:ln/>
        </p:spPr>
        <p:txBody>
          <a:bodyPr wrap="square" lIns="0" tIns="0" rIns="0" bIns="0" rtlCol="0" anchor="ctr"/>
          <a:lstStyle/>
          <a:p>
            <a:pPr indent="0" marL="0">
              <a:buNone/>
            </a:pPr>
            <a:r>
              <a:rPr lang="en-US" sz="1100" b="1" dirty="0">
                <a:solidFill>
                  <a:srgbClr val="D0DAE8"/>
                </a:solidFill>
                <a:latin typeface="Calibri" pitchFamily="34" charset="0"/>
                <a:ea typeface="Calibri" pitchFamily="34" charset="-122"/>
                <a:cs typeface="Calibri" pitchFamily="34" charset="-120"/>
              </a:rPr>
              <a:t>📞  SCENARIO INJECT</a:t>
            </a:r>
            <a:endParaRPr lang="en-US" sz="1100" dirty="0"/>
          </a:p>
        </p:txBody>
      </p:sp>
      <p:sp>
        <p:nvSpPr>
          <p:cNvPr id="11" name="Text 9"/>
          <p:cNvSpPr/>
          <p:nvPr/>
        </p:nvSpPr>
        <p:spPr>
          <a:xfrm>
            <a:off x="594360" y="1874520"/>
            <a:ext cx="7955280" cy="914400"/>
          </a:xfrm>
          <a:prstGeom prst="rect">
            <a:avLst/>
          </a:prstGeom>
          <a:noFill/>
          <a:ln/>
        </p:spPr>
        <p:txBody>
          <a:bodyPr wrap="square" lIns="0" tIns="0" rIns="0" bIns="0" rtlCol="0" anchor="ctr"/>
          <a:lstStyle/>
          <a:p>
            <a:pPr indent="0" marL="0">
              <a:buNone/>
            </a:pPr>
            <a:r>
              <a:rPr lang="en-US" sz="1200" dirty="0">
                <a:solidFill>
                  <a:srgbClr val="1A2335"/>
                </a:solidFill>
                <a:latin typeface="Calibri" pitchFamily="34" charset="0"/>
                <a:ea typeface="Calibri" pitchFamily="34" charset="-122"/>
                <a:cs typeface="Calibri" pitchFamily="34" charset="-120"/>
              </a:rPr>
              <a:t>John Smith, an HR employee, receives an unsolicited call at 2:30 AM from +1 (312) 555-0194. The caller, claiming to be "David Harrison" from Microsoft Azure Support, tells John his account has been flagged and will be locked out by morning unless he resets his password immediately. John complies and provides his credentials.</a:t>
            </a:r>
            <a:endParaRPr lang="en-US" sz="1200" dirty="0"/>
          </a:p>
        </p:txBody>
      </p:sp>
      <p:sp>
        <p:nvSpPr>
          <p:cNvPr id="12" name="Text 10"/>
          <p:cNvSpPr/>
          <p:nvPr/>
        </p:nvSpPr>
        <p:spPr>
          <a:xfrm>
            <a:off x="457200" y="3017520"/>
            <a:ext cx="8229600" cy="347472"/>
          </a:xfrm>
          <a:prstGeom prst="rect">
            <a:avLst/>
          </a:prstGeom>
          <a:noFill/>
          <a:ln/>
        </p:spPr>
        <p:txBody>
          <a:bodyPr wrap="square" lIns="0" tIns="0" rIns="0" bIns="0" rtlCol="0" anchor="ctr"/>
          <a:lstStyle/>
          <a:p>
            <a:pPr indent="0" marL="0">
              <a:buNone/>
            </a:pPr>
            <a:r>
              <a:rPr lang="en-US" sz="1400" b="1" dirty="0">
                <a:solidFill>
                  <a:srgbClr val="1A2335"/>
                </a:solidFill>
                <a:latin typeface="Calibri" pitchFamily="34" charset="0"/>
                <a:ea typeface="Calibri" pitchFamily="34" charset="-122"/>
                <a:cs typeface="Calibri" pitchFamily="34" charset="-120"/>
              </a:rPr>
              <a:t>Discussion Questions:</a:t>
            </a:r>
            <a:endParaRPr lang="en-US" sz="1400" dirty="0"/>
          </a:p>
        </p:txBody>
      </p:sp>
      <p:sp>
        <p:nvSpPr>
          <p:cNvPr id="13" name="Shape 11"/>
          <p:cNvSpPr/>
          <p:nvPr/>
        </p:nvSpPr>
        <p:spPr>
          <a:xfrm>
            <a:off x="457200" y="3401568"/>
            <a:ext cx="274320" cy="292608"/>
          </a:xfrm>
          <a:prstGeom prst="rect">
            <a:avLst/>
          </a:prstGeom>
          <a:solidFill>
            <a:srgbClr val="C0392B"/>
          </a:solidFill>
          <a:ln/>
        </p:spPr>
      </p:sp>
      <p:sp>
        <p:nvSpPr>
          <p:cNvPr id="14" name="Text 12"/>
          <p:cNvSpPr/>
          <p:nvPr/>
        </p:nvSpPr>
        <p:spPr>
          <a:xfrm>
            <a:off x="457200" y="3419856"/>
            <a:ext cx="27432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15" name="Text 13"/>
          <p:cNvSpPr/>
          <p:nvPr/>
        </p:nvSpPr>
        <p:spPr>
          <a:xfrm>
            <a:off x="804672" y="3401568"/>
            <a:ext cx="7955280" cy="320040"/>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What indicators should have made John suspicious? What training gaps does this reveal?</a:t>
            </a:r>
            <a:endParaRPr lang="en-US" sz="1100" dirty="0"/>
          </a:p>
        </p:txBody>
      </p:sp>
      <p:sp>
        <p:nvSpPr>
          <p:cNvPr id="16" name="Shape 14"/>
          <p:cNvSpPr/>
          <p:nvPr/>
        </p:nvSpPr>
        <p:spPr>
          <a:xfrm>
            <a:off x="457200" y="3767328"/>
            <a:ext cx="274320" cy="292608"/>
          </a:xfrm>
          <a:prstGeom prst="rect">
            <a:avLst/>
          </a:prstGeom>
          <a:solidFill>
            <a:srgbClr val="C0392B"/>
          </a:solidFill>
          <a:ln/>
        </p:spPr>
      </p:sp>
      <p:sp>
        <p:nvSpPr>
          <p:cNvPr id="17" name="Text 15"/>
          <p:cNvSpPr/>
          <p:nvPr/>
        </p:nvSpPr>
        <p:spPr>
          <a:xfrm>
            <a:off x="457200" y="3785616"/>
            <a:ext cx="27432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8" name="Text 16"/>
          <p:cNvSpPr/>
          <p:nvPr/>
        </p:nvSpPr>
        <p:spPr>
          <a:xfrm>
            <a:off x="804672" y="3767328"/>
            <a:ext cx="7955280" cy="320040"/>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Does your organisation have an after-hours IT support contact process employees can verify callers against?</a:t>
            </a:r>
            <a:endParaRPr lang="en-US" sz="1100" dirty="0"/>
          </a:p>
        </p:txBody>
      </p:sp>
      <p:sp>
        <p:nvSpPr>
          <p:cNvPr id="19" name="Shape 17"/>
          <p:cNvSpPr/>
          <p:nvPr/>
        </p:nvSpPr>
        <p:spPr>
          <a:xfrm>
            <a:off x="457200" y="4133088"/>
            <a:ext cx="274320" cy="292608"/>
          </a:xfrm>
          <a:prstGeom prst="rect">
            <a:avLst/>
          </a:prstGeom>
          <a:solidFill>
            <a:srgbClr val="C0392B"/>
          </a:solidFill>
          <a:ln/>
        </p:spPr>
      </p:sp>
      <p:sp>
        <p:nvSpPr>
          <p:cNvPr id="20" name="Text 18"/>
          <p:cNvSpPr/>
          <p:nvPr/>
        </p:nvSpPr>
        <p:spPr>
          <a:xfrm>
            <a:off x="457200" y="4151376"/>
            <a:ext cx="27432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21" name="Text 19"/>
          <p:cNvSpPr/>
          <p:nvPr/>
        </p:nvSpPr>
        <p:spPr>
          <a:xfrm>
            <a:off x="804672" y="4133088"/>
            <a:ext cx="7955280" cy="320040"/>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At what point — if any — would your detection controls have flagged this call as social engineering?</a:t>
            </a:r>
            <a:endParaRPr lang="en-US" sz="1100" dirty="0"/>
          </a:p>
        </p:txBody>
      </p:sp>
      <p:sp>
        <p:nvSpPr>
          <p:cNvPr id="22" name="Shape 20"/>
          <p:cNvSpPr/>
          <p:nvPr/>
        </p:nvSpPr>
        <p:spPr>
          <a:xfrm>
            <a:off x="457200" y="4498848"/>
            <a:ext cx="274320" cy="292608"/>
          </a:xfrm>
          <a:prstGeom prst="rect">
            <a:avLst/>
          </a:prstGeom>
          <a:solidFill>
            <a:srgbClr val="C0392B"/>
          </a:solidFill>
          <a:ln/>
        </p:spPr>
      </p:sp>
      <p:sp>
        <p:nvSpPr>
          <p:cNvPr id="23" name="Text 21"/>
          <p:cNvSpPr/>
          <p:nvPr/>
        </p:nvSpPr>
        <p:spPr>
          <a:xfrm>
            <a:off x="457200" y="4517136"/>
            <a:ext cx="27432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Q4</a:t>
            </a:r>
            <a:endParaRPr lang="en-US" sz="1100" dirty="0"/>
          </a:p>
        </p:txBody>
      </p:sp>
      <p:sp>
        <p:nvSpPr>
          <p:cNvPr id="24" name="Text 22"/>
          <p:cNvSpPr/>
          <p:nvPr/>
        </p:nvSpPr>
        <p:spPr>
          <a:xfrm>
            <a:off x="804672" y="4498848"/>
            <a:ext cx="7955280" cy="320040"/>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Who is the first person John should have called before complying? Is that person and number clearly published?</a:t>
            </a:r>
            <a:endParaRPr lang="en-US" sz="1100" dirty="0"/>
          </a:p>
        </p:txBody>
      </p:sp>
      <p:sp>
        <p:nvSpPr>
          <p:cNvPr id="25" name="Text 23"/>
          <p:cNvSpPr/>
          <p:nvPr/>
        </p:nvSpPr>
        <p:spPr>
          <a:xfrm>
            <a:off x="0" y="4864608"/>
            <a:ext cx="9144000" cy="274320"/>
          </a:xfrm>
          <a:prstGeom prst="rect">
            <a:avLst/>
          </a:prstGeom>
          <a:noFill/>
          <a:ln/>
        </p:spPr>
        <p:txBody>
          <a:bodyPr wrap="square" lIns="0" tIns="0" rIns="0" bIns="0" rtlCol="0" anchor="ctr"/>
          <a:lstStyle/>
          <a:p>
            <a:pPr algn="ctr" indent="0" marL="0">
              <a:buNone/>
            </a:pPr>
            <a:r>
              <a:rPr lang="en-US" sz="900" dirty="0">
                <a:solidFill>
                  <a:srgbClr val="8899AA"/>
                </a:solidFill>
                <a:latin typeface="Calibri" pitchFamily="34" charset="0"/>
                <a:ea typeface="Calibri" pitchFamily="34" charset="-122"/>
                <a:cs typeface="Calibri" pitchFamily="34" charset="-120"/>
              </a:rPr>
              <a:t>INC-2026-0322-001 | CONFIDENTIAL — INTERNAL USE ONLY | Slide 5 of 14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8F0FA"/>
        </a:solidFill>
      </p:bgPr>
    </p:bg>
    <p:spTree>
      <p:nvGrpSpPr>
        <p:cNvPr id="1" name=""/>
        <p:cNvGrpSpPr/>
        <p:nvPr/>
      </p:nvGrpSpPr>
      <p:grpSpPr>
        <a:xfrm>
          <a:off x="0" y="0"/>
          <a:ext cx="0" cy="0"/>
          <a:chOff x="0" y="0"/>
          <a:chExt cx="0" cy="0"/>
        </a:xfrm>
      </p:grpSpPr>
      <p:sp>
        <p:nvSpPr>
          <p:cNvPr id="2" name="Shape 0"/>
          <p:cNvSpPr/>
          <p:nvPr/>
        </p:nvSpPr>
        <p:spPr>
          <a:xfrm>
            <a:off x="457200" y="256032"/>
            <a:ext cx="45720" cy="347472"/>
          </a:xfrm>
          <a:prstGeom prst="rect">
            <a:avLst/>
          </a:prstGeom>
          <a:solidFill>
            <a:srgbClr val="C0392B"/>
          </a:solidFill>
          <a:ln/>
        </p:spPr>
      </p:sp>
      <p:sp>
        <p:nvSpPr>
          <p:cNvPr id="3" name="Text 1"/>
          <p:cNvSpPr/>
          <p:nvPr/>
        </p:nvSpPr>
        <p:spPr>
          <a:xfrm>
            <a:off x="566928" y="228600"/>
            <a:ext cx="7315200" cy="411480"/>
          </a:xfrm>
          <a:prstGeom prst="rect">
            <a:avLst/>
          </a:prstGeom>
          <a:noFill/>
          <a:ln/>
        </p:spPr>
        <p:txBody>
          <a:bodyPr wrap="square" lIns="0" tIns="0" rIns="0" bIns="0" rtlCol="0" anchor="ctr"/>
          <a:lstStyle/>
          <a:p>
            <a:pPr indent="0" marL="0">
              <a:buNone/>
            </a:pPr>
            <a:r>
              <a:rPr lang="en-US" sz="1100" b="1" spc="200" kern="0" dirty="0">
                <a:solidFill>
                  <a:srgbClr val="8899AA"/>
                </a:solidFill>
                <a:latin typeface="Calibri" pitchFamily="34" charset="0"/>
                <a:ea typeface="Calibri" pitchFamily="34" charset="-122"/>
                <a:cs typeface="Calibri" pitchFamily="34" charset="-120"/>
              </a:rPr>
              <a:t>INJECT 2 OF 4 — UNAUTHORIZED ACCESS</a:t>
            </a:r>
            <a:endParaRPr lang="en-US" sz="1100" dirty="0"/>
          </a:p>
        </p:txBody>
      </p:sp>
      <p:sp>
        <p:nvSpPr>
          <p:cNvPr id="4" name="Text 2"/>
          <p:cNvSpPr/>
          <p:nvPr/>
        </p:nvSpPr>
        <p:spPr>
          <a:xfrm>
            <a:off x="502920" y="658368"/>
            <a:ext cx="8138160" cy="685800"/>
          </a:xfrm>
          <a:prstGeom prst="rect">
            <a:avLst/>
          </a:prstGeom>
          <a:noFill/>
          <a:ln/>
        </p:spPr>
        <p:txBody>
          <a:bodyPr wrap="square" lIns="0" tIns="0" rIns="0" bIns="0" rtlCol="0" anchor="ctr"/>
          <a:lstStyle/>
          <a:p>
            <a:pPr indent="0" marL="0">
              <a:buNone/>
            </a:pPr>
            <a:r>
              <a:rPr lang="en-US" sz="2800" b="1" dirty="0">
                <a:solidFill>
                  <a:srgbClr val="1A2335"/>
                </a:solidFill>
                <a:latin typeface="Calibri" pitchFamily="34" charset="0"/>
                <a:ea typeface="Calibri" pitchFamily="34" charset="-122"/>
                <a:cs typeface="Calibri" pitchFamily="34" charset="-120"/>
              </a:rPr>
              <a:t>The Attacker Logs In</a:t>
            </a:r>
            <a:endParaRPr lang="en-US" sz="2800" dirty="0"/>
          </a:p>
        </p:txBody>
      </p:sp>
      <p:sp>
        <p:nvSpPr>
          <p:cNvPr id="5" name="Shape 3"/>
          <p:cNvSpPr/>
          <p:nvPr/>
        </p:nvSpPr>
        <p:spPr>
          <a:xfrm>
            <a:off x="502920" y="1371600"/>
            <a:ext cx="8138160" cy="0"/>
          </a:xfrm>
          <a:prstGeom prst="line">
            <a:avLst/>
          </a:prstGeom>
          <a:noFill/>
          <a:ln w="12700">
            <a:solidFill>
              <a:srgbClr val="D0DAE8"/>
            </a:solidFill>
            <a:prstDash val="solid"/>
          </a:ln>
        </p:spPr>
      </p:sp>
      <p:sp>
        <p:nvSpPr>
          <p:cNvPr id="6" name="Shape 4"/>
          <p:cNvSpPr/>
          <p:nvPr/>
        </p:nvSpPr>
        <p:spPr>
          <a:xfrm>
            <a:off x="7406640" y="256032"/>
            <a:ext cx="1371600" cy="292608"/>
          </a:xfrm>
          <a:prstGeom prst="rect">
            <a:avLst/>
          </a:prstGeom>
          <a:solidFill>
            <a:srgbClr val="D4861A"/>
          </a:solidFill>
          <a:ln/>
        </p:spPr>
      </p:sp>
      <p:sp>
        <p:nvSpPr>
          <p:cNvPr id="7" name="Text 5"/>
          <p:cNvSpPr/>
          <p:nvPr/>
        </p:nvSpPr>
        <p:spPr>
          <a:xfrm>
            <a:off x="7406640" y="274320"/>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6:10 AM CST</a:t>
            </a:r>
            <a:endParaRPr lang="en-US" sz="1000" dirty="0"/>
          </a:p>
        </p:txBody>
      </p:sp>
      <p:sp>
        <p:nvSpPr>
          <p:cNvPr id="8" name="Shape 6"/>
          <p:cNvSpPr/>
          <p:nvPr/>
        </p:nvSpPr>
        <p:spPr>
          <a:xfrm>
            <a:off x="457200" y="1508760"/>
            <a:ext cx="8229600" cy="1417320"/>
          </a:xfrm>
          <a:prstGeom prst="rect">
            <a:avLst/>
          </a:prstGeom>
          <a:solidFill>
            <a:srgbClr val="FFFFFF"/>
          </a:solidFill>
          <a:ln w="6350">
            <a:solidFill>
              <a:srgbClr val="D0DAE8"/>
            </a:solidFill>
            <a:prstDash val="solid"/>
          </a:ln>
          <a:effectLst>
            <a:outerShdw sx="100000" sy="100000" kx="0" ky="0" algn="bl" rotWithShape="0" blurRad="63500" dist="25400" dir="8100000">
              <a:srgbClr val="000000">
                <a:alpha val="12000"/>
              </a:srgbClr>
            </a:outerShdw>
          </a:effectLst>
        </p:spPr>
      </p:sp>
      <p:sp>
        <p:nvSpPr>
          <p:cNvPr id="9" name="Shape 7"/>
          <p:cNvSpPr/>
          <p:nvPr/>
        </p:nvSpPr>
        <p:spPr>
          <a:xfrm>
            <a:off x="457200" y="1508760"/>
            <a:ext cx="8229600" cy="320040"/>
          </a:xfrm>
          <a:prstGeom prst="rect">
            <a:avLst/>
          </a:prstGeom>
          <a:solidFill>
            <a:srgbClr val="1A2E45"/>
          </a:solidFill>
          <a:ln/>
        </p:spPr>
      </p:sp>
      <p:sp>
        <p:nvSpPr>
          <p:cNvPr id="10" name="Text 8"/>
          <p:cNvSpPr/>
          <p:nvPr/>
        </p:nvSpPr>
        <p:spPr>
          <a:xfrm>
            <a:off x="594360" y="1508760"/>
            <a:ext cx="7955280" cy="320040"/>
          </a:xfrm>
          <a:prstGeom prst="rect">
            <a:avLst/>
          </a:prstGeom>
          <a:noFill/>
          <a:ln/>
        </p:spPr>
        <p:txBody>
          <a:bodyPr wrap="square" lIns="0" tIns="0" rIns="0" bIns="0" rtlCol="0" anchor="ctr"/>
          <a:lstStyle/>
          <a:p>
            <a:pPr indent="0" marL="0">
              <a:buNone/>
            </a:pPr>
            <a:r>
              <a:rPr lang="en-US" sz="1100" b="1" dirty="0">
                <a:solidFill>
                  <a:srgbClr val="D0DAE8"/>
                </a:solidFill>
                <a:latin typeface="Calibri" pitchFamily="34" charset="0"/>
                <a:ea typeface="Calibri" pitchFamily="34" charset="-122"/>
                <a:cs typeface="Calibri" pitchFamily="34" charset="-120"/>
              </a:rPr>
              <a:t>🔓  SCENARIO INJECT</a:t>
            </a:r>
            <a:endParaRPr lang="en-US" sz="1100" dirty="0"/>
          </a:p>
        </p:txBody>
      </p:sp>
      <p:sp>
        <p:nvSpPr>
          <p:cNvPr id="11" name="Text 9"/>
          <p:cNvSpPr/>
          <p:nvPr/>
        </p:nvSpPr>
        <p:spPr>
          <a:xfrm>
            <a:off x="594360" y="1874520"/>
            <a:ext cx="7955280" cy="987552"/>
          </a:xfrm>
          <a:prstGeom prst="rect">
            <a:avLst/>
          </a:prstGeom>
          <a:noFill/>
          <a:ln/>
        </p:spPr>
        <p:txBody>
          <a:bodyPr wrap="square" lIns="0" tIns="0" rIns="0" bIns="0" rtlCol="0" anchor="ctr"/>
          <a:lstStyle/>
          <a:p>
            <a:pPr indent="0" marL="0">
              <a:buNone/>
            </a:pPr>
            <a:r>
              <a:rPr lang="en-US" sz="1200" dirty="0">
                <a:solidFill>
                  <a:srgbClr val="1A2335"/>
                </a:solidFill>
                <a:latin typeface="Calibri" pitchFamily="34" charset="0"/>
                <a:ea typeface="Calibri" pitchFamily="34" charset="-122"/>
                <a:cs typeface="Calibri" pitchFamily="34" charset="-120"/>
              </a:rPr>
              <a:t>At 6:10 AM, an attacker authenticates to Microsoft 365 from a Microsoft Azure datacenter IP (172.183.155.156) using John's stolen credentials. MFA is NOT challenged because John never completed MFA registration. Within minutes, the attacker browses OfficeHome, enumerates group memberships, creates a group named "THIS IS PHISHED," and at 6:41 AM resets the account password — locking John out.</a:t>
            </a:r>
            <a:endParaRPr lang="en-US" sz="1200" dirty="0"/>
          </a:p>
        </p:txBody>
      </p:sp>
      <p:sp>
        <p:nvSpPr>
          <p:cNvPr id="12" name="Text 10"/>
          <p:cNvSpPr/>
          <p:nvPr/>
        </p:nvSpPr>
        <p:spPr>
          <a:xfrm>
            <a:off x="457200" y="3035808"/>
            <a:ext cx="8229600" cy="347472"/>
          </a:xfrm>
          <a:prstGeom prst="rect">
            <a:avLst/>
          </a:prstGeom>
          <a:noFill/>
          <a:ln/>
        </p:spPr>
        <p:txBody>
          <a:bodyPr wrap="square" lIns="0" tIns="0" rIns="0" bIns="0" rtlCol="0" anchor="ctr"/>
          <a:lstStyle/>
          <a:p>
            <a:pPr indent="0" marL="0">
              <a:buNone/>
            </a:pPr>
            <a:r>
              <a:rPr lang="en-US" sz="1400" b="1" dirty="0">
                <a:solidFill>
                  <a:srgbClr val="1A2335"/>
                </a:solidFill>
                <a:latin typeface="Calibri" pitchFamily="34" charset="0"/>
                <a:ea typeface="Calibri" pitchFamily="34" charset="-122"/>
                <a:cs typeface="Calibri" pitchFamily="34" charset="-120"/>
              </a:rPr>
              <a:t>Discussion Questions:</a:t>
            </a:r>
            <a:endParaRPr lang="en-US" sz="1400" dirty="0"/>
          </a:p>
        </p:txBody>
      </p:sp>
      <p:sp>
        <p:nvSpPr>
          <p:cNvPr id="13" name="Shape 11"/>
          <p:cNvSpPr/>
          <p:nvPr/>
        </p:nvSpPr>
        <p:spPr>
          <a:xfrm>
            <a:off x="457200" y="3419856"/>
            <a:ext cx="274320" cy="292608"/>
          </a:xfrm>
          <a:prstGeom prst="rect">
            <a:avLst/>
          </a:prstGeom>
          <a:solidFill>
            <a:srgbClr val="D4861A"/>
          </a:solidFill>
          <a:ln/>
        </p:spPr>
      </p:sp>
      <p:sp>
        <p:nvSpPr>
          <p:cNvPr id="14" name="Text 12"/>
          <p:cNvSpPr/>
          <p:nvPr/>
        </p:nvSpPr>
        <p:spPr>
          <a:xfrm>
            <a:off x="457200" y="3438144"/>
            <a:ext cx="27432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15" name="Text 13"/>
          <p:cNvSpPr/>
          <p:nvPr/>
        </p:nvSpPr>
        <p:spPr>
          <a:xfrm>
            <a:off x="804672" y="3419856"/>
            <a:ext cx="7955280" cy="329184"/>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Your MFA Conditional Access policy was set to 'On' — why did it not stop this login? Who owns checking registration completeness?</a:t>
            </a:r>
            <a:endParaRPr lang="en-US" sz="1100" dirty="0"/>
          </a:p>
        </p:txBody>
      </p:sp>
      <p:sp>
        <p:nvSpPr>
          <p:cNvPr id="16" name="Shape 14"/>
          <p:cNvSpPr/>
          <p:nvPr/>
        </p:nvSpPr>
        <p:spPr>
          <a:xfrm>
            <a:off x="457200" y="3794760"/>
            <a:ext cx="274320" cy="292608"/>
          </a:xfrm>
          <a:prstGeom prst="rect">
            <a:avLst/>
          </a:prstGeom>
          <a:solidFill>
            <a:srgbClr val="D4861A"/>
          </a:solidFill>
          <a:ln/>
        </p:spPr>
      </p:sp>
      <p:sp>
        <p:nvSpPr>
          <p:cNvPr id="17" name="Text 15"/>
          <p:cNvSpPr/>
          <p:nvPr/>
        </p:nvSpPr>
        <p:spPr>
          <a:xfrm>
            <a:off x="457200" y="3813048"/>
            <a:ext cx="27432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8" name="Text 16"/>
          <p:cNvSpPr/>
          <p:nvPr/>
        </p:nvSpPr>
        <p:spPr>
          <a:xfrm>
            <a:off x="804672" y="3794760"/>
            <a:ext cx="7955280" cy="329184"/>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Authentication from a Microsoft Azure datacenter IP at 6 AM is anomalous. What alerts, if any, would fire in your environment?</a:t>
            </a:r>
            <a:endParaRPr lang="en-US" sz="1100" dirty="0"/>
          </a:p>
        </p:txBody>
      </p:sp>
      <p:sp>
        <p:nvSpPr>
          <p:cNvPr id="19" name="Shape 17"/>
          <p:cNvSpPr/>
          <p:nvPr/>
        </p:nvSpPr>
        <p:spPr>
          <a:xfrm>
            <a:off x="457200" y="4169664"/>
            <a:ext cx="274320" cy="292608"/>
          </a:xfrm>
          <a:prstGeom prst="rect">
            <a:avLst/>
          </a:prstGeom>
          <a:solidFill>
            <a:srgbClr val="D4861A"/>
          </a:solidFill>
          <a:ln/>
        </p:spPr>
      </p:sp>
      <p:sp>
        <p:nvSpPr>
          <p:cNvPr id="20" name="Text 18"/>
          <p:cNvSpPr/>
          <p:nvPr/>
        </p:nvSpPr>
        <p:spPr>
          <a:xfrm>
            <a:off x="457200" y="4187952"/>
            <a:ext cx="27432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21" name="Text 19"/>
          <p:cNvSpPr/>
          <p:nvPr/>
        </p:nvSpPr>
        <p:spPr>
          <a:xfrm>
            <a:off x="804672" y="4169664"/>
            <a:ext cx="7955280" cy="329184"/>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The self-service password reset was used as a weaponised lockout. Should SSPR require secondary verification? Who decides?</a:t>
            </a:r>
            <a:endParaRPr lang="en-US" sz="1100" dirty="0"/>
          </a:p>
        </p:txBody>
      </p:sp>
      <p:sp>
        <p:nvSpPr>
          <p:cNvPr id="22" name="Shape 20"/>
          <p:cNvSpPr/>
          <p:nvPr/>
        </p:nvSpPr>
        <p:spPr>
          <a:xfrm>
            <a:off x="457200" y="4544568"/>
            <a:ext cx="274320" cy="292608"/>
          </a:xfrm>
          <a:prstGeom prst="rect">
            <a:avLst/>
          </a:prstGeom>
          <a:solidFill>
            <a:srgbClr val="D4861A"/>
          </a:solidFill>
          <a:ln/>
        </p:spPr>
      </p:sp>
      <p:sp>
        <p:nvSpPr>
          <p:cNvPr id="23" name="Text 21"/>
          <p:cNvSpPr/>
          <p:nvPr/>
        </p:nvSpPr>
        <p:spPr>
          <a:xfrm>
            <a:off x="457200" y="4562856"/>
            <a:ext cx="27432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Q4</a:t>
            </a:r>
            <a:endParaRPr lang="en-US" sz="1100" dirty="0"/>
          </a:p>
        </p:txBody>
      </p:sp>
      <p:sp>
        <p:nvSpPr>
          <p:cNvPr id="24" name="Text 22"/>
          <p:cNvSpPr/>
          <p:nvPr/>
        </p:nvSpPr>
        <p:spPr>
          <a:xfrm>
            <a:off x="804672" y="4544568"/>
            <a:ext cx="7955280" cy="329184"/>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At this point the attacker can reach Salesforce via SSO. What is your blast radius? Who needs to be notified?</a:t>
            </a:r>
            <a:endParaRPr lang="en-US" sz="1100" dirty="0"/>
          </a:p>
        </p:txBody>
      </p:sp>
      <p:sp>
        <p:nvSpPr>
          <p:cNvPr id="25" name="Text 23"/>
          <p:cNvSpPr/>
          <p:nvPr/>
        </p:nvSpPr>
        <p:spPr>
          <a:xfrm>
            <a:off x="0" y="4864608"/>
            <a:ext cx="9144000" cy="274320"/>
          </a:xfrm>
          <a:prstGeom prst="rect">
            <a:avLst/>
          </a:prstGeom>
          <a:noFill/>
          <a:ln/>
        </p:spPr>
        <p:txBody>
          <a:bodyPr wrap="square" lIns="0" tIns="0" rIns="0" bIns="0" rtlCol="0" anchor="ctr"/>
          <a:lstStyle/>
          <a:p>
            <a:pPr algn="ctr" indent="0" marL="0">
              <a:buNone/>
            </a:pPr>
            <a:r>
              <a:rPr lang="en-US" sz="900" dirty="0">
                <a:solidFill>
                  <a:srgbClr val="8899AA"/>
                </a:solidFill>
                <a:latin typeface="Calibri" pitchFamily="34" charset="0"/>
                <a:ea typeface="Calibri" pitchFamily="34" charset="-122"/>
                <a:cs typeface="Calibri" pitchFamily="34" charset="-120"/>
              </a:rPr>
              <a:t>INC-2026-0322-001 | CONFIDENTIAL — INTERNAL USE ONLY | Slide 6 of 14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8F0FA"/>
        </a:solidFill>
      </p:bgPr>
    </p:bg>
    <p:spTree>
      <p:nvGrpSpPr>
        <p:cNvPr id="1" name=""/>
        <p:cNvGrpSpPr/>
        <p:nvPr/>
      </p:nvGrpSpPr>
      <p:grpSpPr>
        <a:xfrm>
          <a:off x="0" y="0"/>
          <a:ext cx="0" cy="0"/>
          <a:chOff x="0" y="0"/>
          <a:chExt cx="0" cy="0"/>
        </a:xfrm>
      </p:grpSpPr>
      <p:sp>
        <p:nvSpPr>
          <p:cNvPr id="2" name="Shape 0"/>
          <p:cNvSpPr/>
          <p:nvPr/>
        </p:nvSpPr>
        <p:spPr>
          <a:xfrm>
            <a:off x="457200" y="256032"/>
            <a:ext cx="45720" cy="347472"/>
          </a:xfrm>
          <a:prstGeom prst="rect">
            <a:avLst/>
          </a:prstGeom>
          <a:solidFill>
            <a:srgbClr val="C0392B"/>
          </a:solidFill>
          <a:ln/>
        </p:spPr>
      </p:sp>
      <p:sp>
        <p:nvSpPr>
          <p:cNvPr id="3" name="Text 1"/>
          <p:cNvSpPr/>
          <p:nvPr/>
        </p:nvSpPr>
        <p:spPr>
          <a:xfrm>
            <a:off x="566928" y="228600"/>
            <a:ext cx="7315200" cy="411480"/>
          </a:xfrm>
          <a:prstGeom prst="rect">
            <a:avLst/>
          </a:prstGeom>
          <a:noFill/>
          <a:ln/>
        </p:spPr>
        <p:txBody>
          <a:bodyPr wrap="square" lIns="0" tIns="0" rIns="0" bIns="0" rtlCol="0" anchor="ctr"/>
          <a:lstStyle/>
          <a:p>
            <a:pPr indent="0" marL="0">
              <a:buNone/>
            </a:pPr>
            <a:r>
              <a:rPr lang="en-US" sz="1100" b="1" spc="200" kern="0" dirty="0">
                <a:solidFill>
                  <a:srgbClr val="8899AA"/>
                </a:solidFill>
                <a:latin typeface="Calibri" pitchFamily="34" charset="0"/>
                <a:ea typeface="Calibri" pitchFamily="34" charset="-122"/>
                <a:cs typeface="Calibri" pitchFamily="34" charset="-120"/>
              </a:rPr>
              <a:t>INJECT 3 OF 4 — DETECTION &amp; CONTAINMENT</a:t>
            </a:r>
            <a:endParaRPr lang="en-US" sz="1100" dirty="0"/>
          </a:p>
        </p:txBody>
      </p:sp>
      <p:sp>
        <p:nvSpPr>
          <p:cNvPr id="4" name="Text 2"/>
          <p:cNvSpPr/>
          <p:nvPr/>
        </p:nvSpPr>
        <p:spPr>
          <a:xfrm>
            <a:off x="502920" y="658368"/>
            <a:ext cx="8138160" cy="685800"/>
          </a:xfrm>
          <a:prstGeom prst="rect">
            <a:avLst/>
          </a:prstGeom>
          <a:noFill/>
          <a:ln/>
        </p:spPr>
        <p:txBody>
          <a:bodyPr wrap="square" lIns="0" tIns="0" rIns="0" bIns="0" rtlCol="0" anchor="ctr"/>
          <a:lstStyle/>
          <a:p>
            <a:pPr indent="0" marL="0">
              <a:buNone/>
            </a:pPr>
            <a:r>
              <a:rPr lang="en-US" sz="2800" b="1" dirty="0">
                <a:solidFill>
                  <a:srgbClr val="1A2335"/>
                </a:solidFill>
                <a:latin typeface="Calibri" pitchFamily="34" charset="0"/>
                <a:ea typeface="Calibri" pitchFamily="34" charset="-122"/>
                <a:cs typeface="Calibri" pitchFamily="34" charset="-120"/>
              </a:rPr>
              <a:t>The Anomaly is Spotted</a:t>
            </a:r>
            <a:endParaRPr lang="en-US" sz="2800" dirty="0"/>
          </a:p>
        </p:txBody>
      </p:sp>
      <p:sp>
        <p:nvSpPr>
          <p:cNvPr id="5" name="Shape 3"/>
          <p:cNvSpPr/>
          <p:nvPr/>
        </p:nvSpPr>
        <p:spPr>
          <a:xfrm>
            <a:off x="502920" y="1371600"/>
            <a:ext cx="8138160" cy="0"/>
          </a:xfrm>
          <a:prstGeom prst="line">
            <a:avLst/>
          </a:prstGeom>
          <a:noFill/>
          <a:ln w="12700">
            <a:solidFill>
              <a:srgbClr val="D0DAE8"/>
            </a:solidFill>
            <a:prstDash val="solid"/>
          </a:ln>
        </p:spPr>
      </p:sp>
      <p:sp>
        <p:nvSpPr>
          <p:cNvPr id="6" name="Shape 4"/>
          <p:cNvSpPr/>
          <p:nvPr/>
        </p:nvSpPr>
        <p:spPr>
          <a:xfrm>
            <a:off x="7223760" y="256032"/>
            <a:ext cx="1188720" cy="292608"/>
          </a:xfrm>
          <a:prstGeom prst="rect">
            <a:avLst>
              <a:gd name="adj" fmla="val 15625"/>
            </a:avLst>
          </a:prstGeom>
          <a:solidFill>
            <a:srgbClr val="C0392B"/>
          </a:solidFill>
          <a:ln/>
        </p:spPr>
      </p:sp>
      <p:sp>
        <p:nvSpPr>
          <p:cNvPr id="7" name="Text 5"/>
          <p:cNvSpPr/>
          <p:nvPr/>
        </p:nvSpPr>
        <p:spPr>
          <a:xfrm>
            <a:off x="7223760" y="274320"/>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~7:00 AM CST</a:t>
            </a:r>
            <a:endParaRPr lang="en-US" sz="1000" dirty="0"/>
          </a:p>
        </p:txBody>
      </p:sp>
      <p:sp>
        <p:nvSpPr>
          <p:cNvPr id="8" name="Shape 6"/>
          <p:cNvSpPr/>
          <p:nvPr/>
        </p:nvSpPr>
        <p:spPr>
          <a:xfrm>
            <a:off x="457200" y="1508760"/>
            <a:ext cx="8229600" cy="1325880"/>
          </a:xfrm>
          <a:prstGeom prst="rect">
            <a:avLst/>
          </a:prstGeom>
          <a:solidFill>
            <a:srgbClr val="FFFFFF"/>
          </a:solidFill>
          <a:ln w="6350">
            <a:solidFill>
              <a:srgbClr val="D0DAE8"/>
            </a:solidFill>
            <a:prstDash val="solid"/>
          </a:ln>
          <a:effectLst>
            <a:outerShdw sx="100000" sy="100000" kx="0" ky="0" algn="bl" rotWithShape="0" blurRad="63500" dist="25400" dir="8100000">
              <a:srgbClr val="000000">
                <a:alpha val="12000"/>
              </a:srgbClr>
            </a:outerShdw>
          </a:effectLst>
        </p:spPr>
      </p:sp>
      <p:sp>
        <p:nvSpPr>
          <p:cNvPr id="9" name="Shape 7"/>
          <p:cNvSpPr/>
          <p:nvPr/>
        </p:nvSpPr>
        <p:spPr>
          <a:xfrm>
            <a:off x="457200" y="1508760"/>
            <a:ext cx="8229600" cy="320040"/>
          </a:xfrm>
          <a:prstGeom prst="rect">
            <a:avLst/>
          </a:prstGeom>
          <a:solidFill>
            <a:srgbClr val="1A2E45"/>
          </a:solidFill>
          <a:ln/>
        </p:spPr>
      </p:sp>
      <p:sp>
        <p:nvSpPr>
          <p:cNvPr id="10" name="Text 8"/>
          <p:cNvSpPr/>
          <p:nvPr/>
        </p:nvSpPr>
        <p:spPr>
          <a:xfrm>
            <a:off x="594360" y="1508760"/>
            <a:ext cx="7955280" cy="320040"/>
          </a:xfrm>
          <a:prstGeom prst="rect">
            <a:avLst/>
          </a:prstGeom>
          <a:noFill/>
          <a:ln/>
        </p:spPr>
        <p:txBody>
          <a:bodyPr wrap="square" lIns="0" tIns="0" rIns="0" bIns="0" rtlCol="0" anchor="ctr"/>
          <a:lstStyle/>
          <a:p>
            <a:pPr indent="0" marL="0">
              <a:buNone/>
            </a:pPr>
            <a:r>
              <a:rPr lang="en-US" sz="1100" b="1" dirty="0">
                <a:solidFill>
                  <a:srgbClr val="D0DAE8"/>
                </a:solidFill>
                <a:latin typeface="Calibri" pitchFamily="34" charset="0"/>
                <a:ea typeface="Calibri" pitchFamily="34" charset="-122"/>
                <a:cs typeface="Calibri" pitchFamily="34" charset="-120"/>
              </a:rPr>
              <a:t>🔍  SCENARIO INJECT</a:t>
            </a:r>
            <a:endParaRPr lang="en-US" sz="1100" dirty="0"/>
          </a:p>
        </p:txBody>
      </p:sp>
      <p:sp>
        <p:nvSpPr>
          <p:cNvPr id="11" name="Text 9"/>
          <p:cNvSpPr/>
          <p:nvPr/>
        </p:nvSpPr>
        <p:spPr>
          <a:xfrm>
            <a:off x="594360" y="1874520"/>
            <a:ext cx="7955280" cy="914400"/>
          </a:xfrm>
          <a:prstGeom prst="rect">
            <a:avLst/>
          </a:prstGeom>
          <a:noFill/>
          <a:ln/>
        </p:spPr>
        <p:txBody>
          <a:bodyPr wrap="square" lIns="0" tIns="0" rIns="0" bIns="0" rtlCol="0" anchor="ctr"/>
          <a:lstStyle/>
          <a:p>
            <a:pPr indent="0" marL="0">
              <a:buNone/>
            </a:pPr>
            <a:r>
              <a:rPr lang="en-US" sz="1200" dirty="0">
                <a:solidFill>
                  <a:srgbClr val="1A2335"/>
                </a:solidFill>
                <a:latin typeface="Calibri" pitchFamily="34" charset="0"/>
                <a:ea typeface="Calibri" pitchFamily="34" charset="-122"/>
                <a:cs typeface="Calibri" pitchFamily="34" charset="-120"/>
              </a:rPr>
              <a:t>An IT Security Administrator performing a routine morning log review notices an anomalous sign-in for john.smith — error 50126 (bad password) at 6:10 AM followed by a successful single-factor login 15 seconds later. A new group 'THIS IS PHISHED' appears in Audit Logs. The SIEM (Wazuh) shows 350+ alerts from the Windows endpoint but none directly correlated to the Entra ID events.</a:t>
            </a:r>
            <a:endParaRPr lang="en-US" sz="1200" dirty="0"/>
          </a:p>
        </p:txBody>
      </p:sp>
      <p:sp>
        <p:nvSpPr>
          <p:cNvPr id="12" name="Text 10"/>
          <p:cNvSpPr/>
          <p:nvPr/>
        </p:nvSpPr>
        <p:spPr>
          <a:xfrm>
            <a:off x="457200" y="2944368"/>
            <a:ext cx="8229600" cy="347472"/>
          </a:xfrm>
          <a:prstGeom prst="rect">
            <a:avLst/>
          </a:prstGeom>
          <a:noFill/>
          <a:ln/>
        </p:spPr>
        <p:txBody>
          <a:bodyPr wrap="square" lIns="0" tIns="0" rIns="0" bIns="0" rtlCol="0" anchor="ctr"/>
          <a:lstStyle/>
          <a:p>
            <a:pPr indent="0" marL="0">
              <a:buNone/>
            </a:pPr>
            <a:r>
              <a:rPr lang="en-US" sz="1400" b="1" dirty="0">
                <a:solidFill>
                  <a:srgbClr val="1A2335"/>
                </a:solidFill>
                <a:latin typeface="Calibri" pitchFamily="34" charset="0"/>
                <a:ea typeface="Calibri" pitchFamily="34" charset="-122"/>
                <a:cs typeface="Calibri" pitchFamily="34" charset="-120"/>
              </a:rPr>
              <a:t>Discussion Questions:</a:t>
            </a:r>
            <a:endParaRPr lang="en-US" sz="1400" dirty="0"/>
          </a:p>
        </p:txBody>
      </p:sp>
      <p:sp>
        <p:nvSpPr>
          <p:cNvPr id="13" name="Shape 11"/>
          <p:cNvSpPr/>
          <p:nvPr/>
        </p:nvSpPr>
        <p:spPr>
          <a:xfrm>
            <a:off x="457200" y="3346704"/>
            <a:ext cx="274320" cy="292608"/>
          </a:xfrm>
          <a:prstGeom prst="rect">
            <a:avLst/>
          </a:prstGeom>
          <a:solidFill>
            <a:srgbClr val="C0392B"/>
          </a:solidFill>
          <a:ln/>
        </p:spPr>
      </p:sp>
      <p:sp>
        <p:nvSpPr>
          <p:cNvPr id="14" name="Text 12"/>
          <p:cNvSpPr/>
          <p:nvPr/>
        </p:nvSpPr>
        <p:spPr>
          <a:xfrm>
            <a:off x="457200" y="3364992"/>
            <a:ext cx="27432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15" name="Text 13"/>
          <p:cNvSpPr/>
          <p:nvPr/>
        </p:nvSpPr>
        <p:spPr>
          <a:xfrm>
            <a:off x="804672" y="3346704"/>
            <a:ext cx="7955280" cy="329184"/>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Detection took 3 hours 40 minutes via manual log review. What automated detection rules would reduce this to &lt;15 minutes?</a:t>
            </a:r>
            <a:endParaRPr lang="en-US" sz="1100" dirty="0"/>
          </a:p>
        </p:txBody>
      </p:sp>
      <p:sp>
        <p:nvSpPr>
          <p:cNvPr id="16" name="Shape 14"/>
          <p:cNvSpPr/>
          <p:nvPr/>
        </p:nvSpPr>
        <p:spPr>
          <a:xfrm>
            <a:off x="457200" y="3730752"/>
            <a:ext cx="274320" cy="292608"/>
          </a:xfrm>
          <a:prstGeom prst="rect">
            <a:avLst/>
          </a:prstGeom>
          <a:solidFill>
            <a:srgbClr val="C0392B"/>
          </a:solidFill>
          <a:ln/>
        </p:spPr>
      </p:sp>
      <p:sp>
        <p:nvSpPr>
          <p:cNvPr id="17" name="Text 15"/>
          <p:cNvSpPr/>
          <p:nvPr/>
        </p:nvSpPr>
        <p:spPr>
          <a:xfrm>
            <a:off x="457200" y="3749040"/>
            <a:ext cx="27432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8" name="Text 16"/>
          <p:cNvSpPr/>
          <p:nvPr/>
        </p:nvSpPr>
        <p:spPr>
          <a:xfrm>
            <a:off x="804672" y="3730752"/>
            <a:ext cx="7955280" cy="329184"/>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Walk through your immediate containment checklist: who executes session revocation, password reset, and group deletion?</a:t>
            </a:r>
            <a:endParaRPr lang="en-US" sz="1100" dirty="0"/>
          </a:p>
        </p:txBody>
      </p:sp>
      <p:sp>
        <p:nvSpPr>
          <p:cNvPr id="19" name="Shape 17"/>
          <p:cNvSpPr/>
          <p:nvPr/>
        </p:nvSpPr>
        <p:spPr>
          <a:xfrm>
            <a:off x="457200" y="4114800"/>
            <a:ext cx="274320" cy="292608"/>
          </a:xfrm>
          <a:prstGeom prst="rect">
            <a:avLst/>
          </a:prstGeom>
          <a:solidFill>
            <a:srgbClr val="C0392B"/>
          </a:solidFill>
          <a:ln/>
        </p:spPr>
      </p:sp>
      <p:sp>
        <p:nvSpPr>
          <p:cNvPr id="20" name="Text 18"/>
          <p:cNvSpPr/>
          <p:nvPr/>
        </p:nvSpPr>
        <p:spPr>
          <a:xfrm>
            <a:off x="457200" y="4133088"/>
            <a:ext cx="27432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21" name="Text 19"/>
          <p:cNvSpPr/>
          <p:nvPr/>
        </p:nvSpPr>
        <p:spPr>
          <a:xfrm>
            <a:off x="804672" y="4114800"/>
            <a:ext cx="7955280" cy="329184"/>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Your SIEM has no Microsoft Graph integration — cloud identity events are blind spots. How do you prioritise remediating this?</a:t>
            </a:r>
            <a:endParaRPr lang="en-US" sz="1100" dirty="0"/>
          </a:p>
        </p:txBody>
      </p:sp>
      <p:sp>
        <p:nvSpPr>
          <p:cNvPr id="22" name="Shape 20"/>
          <p:cNvSpPr/>
          <p:nvPr/>
        </p:nvSpPr>
        <p:spPr>
          <a:xfrm>
            <a:off x="457200" y="4498848"/>
            <a:ext cx="274320" cy="292608"/>
          </a:xfrm>
          <a:prstGeom prst="rect">
            <a:avLst/>
          </a:prstGeom>
          <a:solidFill>
            <a:srgbClr val="C0392B"/>
          </a:solidFill>
          <a:ln/>
        </p:spPr>
      </p:sp>
      <p:sp>
        <p:nvSpPr>
          <p:cNvPr id="23" name="Text 21"/>
          <p:cNvSpPr/>
          <p:nvPr/>
        </p:nvSpPr>
        <p:spPr>
          <a:xfrm>
            <a:off x="457200" y="4517136"/>
            <a:ext cx="27432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Q4</a:t>
            </a:r>
            <a:endParaRPr lang="en-US" sz="1100" dirty="0"/>
          </a:p>
        </p:txBody>
      </p:sp>
      <p:sp>
        <p:nvSpPr>
          <p:cNvPr id="24" name="Text 22"/>
          <p:cNvSpPr/>
          <p:nvPr/>
        </p:nvSpPr>
        <p:spPr>
          <a:xfrm>
            <a:off x="804672" y="4498848"/>
            <a:ext cx="7955280" cy="329184"/>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Who do you notify, and in what order? (affected user, HR leadership, legal, executive leadership, Salesforce admin?)</a:t>
            </a:r>
            <a:endParaRPr lang="en-US" sz="1100" dirty="0"/>
          </a:p>
        </p:txBody>
      </p:sp>
      <p:sp>
        <p:nvSpPr>
          <p:cNvPr id="25" name="Text 23"/>
          <p:cNvSpPr/>
          <p:nvPr/>
        </p:nvSpPr>
        <p:spPr>
          <a:xfrm>
            <a:off x="0" y="4864608"/>
            <a:ext cx="9144000" cy="274320"/>
          </a:xfrm>
          <a:prstGeom prst="rect">
            <a:avLst/>
          </a:prstGeom>
          <a:noFill/>
          <a:ln/>
        </p:spPr>
        <p:txBody>
          <a:bodyPr wrap="square" lIns="0" tIns="0" rIns="0" bIns="0" rtlCol="0" anchor="ctr"/>
          <a:lstStyle/>
          <a:p>
            <a:pPr algn="ctr" indent="0" marL="0">
              <a:buNone/>
            </a:pPr>
            <a:r>
              <a:rPr lang="en-US" sz="900" dirty="0">
                <a:solidFill>
                  <a:srgbClr val="8899AA"/>
                </a:solidFill>
                <a:latin typeface="Calibri" pitchFamily="34" charset="0"/>
                <a:ea typeface="Calibri" pitchFamily="34" charset="-122"/>
                <a:cs typeface="Calibri" pitchFamily="34" charset="-120"/>
              </a:rPr>
              <a:t>INC-2026-0322-001 | CONFIDENTIAL — INTERNAL USE ONLY | Slide 7 of 14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F0FA"/>
        </a:solidFill>
      </p:bgPr>
    </p:bg>
    <p:spTree>
      <p:nvGrpSpPr>
        <p:cNvPr id="1" name=""/>
        <p:cNvGrpSpPr/>
        <p:nvPr/>
      </p:nvGrpSpPr>
      <p:grpSpPr>
        <a:xfrm>
          <a:off x="0" y="0"/>
          <a:ext cx="0" cy="0"/>
          <a:chOff x="0" y="0"/>
          <a:chExt cx="0" cy="0"/>
        </a:xfrm>
      </p:grpSpPr>
      <p:sp>
        <p:nvSpPr>
          <p:cNvPr id="2" name="Shape 0"/>
          <p:cNvSpPr/>
          <p:nvPr/>
        </p:nvSpPr>
        <p:spPr>
          <a:xfrm>
            <a:off x="457200" y="256032"/>
            <a:ext cx="45720" cy="347472"/>
          </a:xfrm>
          <a:prstGeom prst="rect">
            <a:avLst/>
          </a:prstGeom>
          <a:solidFill>
            <a:srgbClr val="C0392B"/>
          </a:solidFill>
          <a:ln/>
        </p:spPr>
      </p:sp>
      <p:sp>
        <p:nvSpPr>
          <p:cNvPr id="3" name="Text 1"/>
          <p:cNvSpPr/>
          <p:nvPr/>
        </p:nvSpPr>
        <p:spPr>
          <a:xfrm>
            <a:off x="566928" y="228600"/>
            <a:ext cx="7315200" cy="411480"/>
          </a:xfrm>
          <a:prstGeom prst="rect">
            <a:avLst/>
          </a:prstGeom>
          <a:noFill/>
          <a:ln/>
        </p:spPr>
        <p:txBody>
          <a:bodyPr wrap="square" lIns="0" tIns="0" rIns="0" bIns="0" rtlCol="0" anchor="ctr"/>
          <a:lstStyle/>
          <a:p>
            <a:pPr indent="0" marL="0">
              <a:buNone/>
            </a:pPr>
            <a:r>
              <a:rPr lang="en-US" sz="1100" b="1" spc="200" kern="0" dirty="0">
                <a:solidFill>
                  <a:srgbClr val="8899AA"/>
                </a:solidFill>
                <a:latin typeface="Calibri" pitchFamily="34" charset="0"/>
                <a:ea typeface="Calibri" pitchFamily="34" charset="-122"/>
                <a:cs typeface="Calibri" pitchFamily="34" charset="-120"/>
              </a:rPr>
              <a:t>INJECT 4 OF 4 — REMEDIATION &amp; HARDENING</a:t>
            </a:r>
            <a:endParaRPr lang="en-US" sz="1100" dirty="0"/>
          </a:p>
        </p:txBody>
      </p:sp>
      <p:sp>
        <p:nvSpPr>
          <p:cNvPr id="4" name="Text 2"/>
          <p:cNvSpPr/>
          <p:nvPr/>
        </p:nvSpPr>
        <p:spPr>
          <a:xfrm>
            <a:off x="502920" y="658368"/>
            <a:ext cx="8138160" cy="685800"/>
          </a:xfrm>
          <a:prstGeom prst="rect">
            <a:avLst/>
          </a:prstGeom>
          <a:noFill/>
          <a:ln/>
        </p:spPr>
        <p:txBody>
          <a:bodyPr wrap="square" lIns="0" tIns="0" rIns="0" bIns="0" rtlCol="0" anchor="ctr"/>
          <a:lstStyle/>
          <a:p>
            <a:pPr indent="0" marL="0">
              <a:buNone/>
            </a:pPr>
            <a:r>
              <a:rPr lang="en-US" sz="2800" b="1" dirty="0">
                <a:solidFill>
                  <a:srgbClr val="1A2335"/>
                </a:solidFill>
                <a:latin typeface="Calibri" pitchFamily="34" charset="0"/>
                <a:ea typeface="Calibri" pitchFamily="34" charset="-122"/>
                <a:cs typeface="Calibri" pitchFamily="34" charset="-120"/>
              </a:rPr>
              <a:t>Closing the Gaps</a:t>
            </a:r>
            <a:endParaRPr lang="en-US" sz="2800" dirty="0"/>
          </a:p>
        </p:txBody>
      </p:sp>
      <p:sp>
        <p:nvSpPr>
          <p:cNvPr id="5" name="Shape 3"/>
          <p:cNvSpPr/>
          <p:nvPr/>
        </p:nvSpPr>
        <p:spPr>
          <a:xfrm>
            <a:off x="502920" y="1371600"/>
            <a:ext cx="8138160" cy="0"/>
          </a:xfrm>
          <a:prstGeom prst="line">
            <a:avLst/>
          </a:prstGeom>
          <a:noFill/>
          <a:ln w="12700">
            <a:solidFill>
              <a:srgbClr val="D0DAE8"/>
            </a:solidFill>
            <a:prstDash val="solid"/>
          </a:ln>
        </p:spPr>
      </p:sp>
      <p:sp>
        <p:nvSpPr>
          <p:cNvPr id="6" name="Shape 4"/>
          <p:cNvSpPr/>
          <p:nvPr/>
        </p:nvSpPr>
        <p:spPr>
          <a:xfrm>
            <a:off x="7315200" y="256032"/>
            <a:ext cx="1371600" cy="292608"/>
          </a:xfrm>
          <a:prstGeom prst="rect">
            <a:avLst/>
          </a:prstGeom>
          <a:solidFill>
            <a:srgbClr val="1E7A4C"/>
          </a:solidFill>
          <a:ln/>
        </p:spPr>
      </p:sp>
      <p:sp>
        <p:nvSpPr>
          <p:cNvPr id="7" name="Text 5"/>
          <p:cNvSpPr/>
          <p:nvPr/>
        </p:nvSpPr>
        <p:spPr>
          <a:xfrm>
            <a:off x="7315200" y="274320"/>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~7:30 AM CST</a:t>
            </a:r>
            <a:endParaRPr lang="en-US" sz="1000" dirty="0"/>
          </a:p>
        </p:txBody>
      </p:sp>
      <p:sp>
        <p:nvSpPr>
          <p:cNvPr id="8" name="Shape 6"/>
          <p:cNvSpPr/>
          <p:nvPr/>
        </p:nvSpPr>
        <p:spPr>
          <a:xfrm>
            <a:off x="457200" y="1508760"/>
            <a:ext cx="8229600" cy="1188720"/>
          </a:xfrm>
          <a:prstGeom prst="rect">
            <a:avLst/>
          </a:prstGeom>
          <a:solidFill>
            <a:srgbClr val="FFFFFF"/>
          </a:solidFill>
          <a:ln w="6350">
            <a:solidFill>
              <a:srgbClr val="D0DAE8"/>
            </a:solidFill>
            <a:prstDash val="solid"/>
          </a:ln>
          <a:effectLst>
            <a:outerShdw sx="100000" sy="100000" kx="0" ky="0" algn="bl" rotWithShape="0" blurRad="63500" dist="25400" dir="8100000">
              <a:srgbClr val="000000">
                <a:alpha val="12000"/>
              </a:srgbClr>
            </a:outerShdw>
          </a:effectLst>
        </p:spPr>
      </p:sp>
      <p:sp>
        <p:nvSpPr>
          <p:cNvPr id="9" name="Shape 7"/>
          <p:cNvSpPr/>
          <p:nvPr/>
        </p:nvSpPr>
        <p:spPr>
          <a:xfrm>
            <a:off x="457200" y="1508760"/>
            <a:ext cx="8229600" cy="320040"/>
          </a:xfrm>
          <a:prstGeom prst="rect">
            <a:avLst/>
          </a:prstGeom>
          <a:solidFill>
            <a:srgbClr val="1A2E45"/>
          </a:solidFill>
          <a:ln/>
        </p:spPr>
      </p:sp>
      <p:sp>
        <p:nvSpPr>
          <p:cNvPr id="10" name="Text 8"/>
          <p:cNvSpPr/>
          <p:nvPr/>
        </p:nvSpPr>
        <p:spPr>
          <a:xfrm>
            <a:off x="594360" y="1508760"/>
            <a:ext cx="7955280" cy="320040"/>
          </a:xfrm>
          <a:prstGeom prst="rect">
            <a:avLst/>
          </a:prstGeom>
          <a:noFill/>
          <a:ln/>
        </p:spPr>
        <p:txBody>
          <a:bodyPr wrap="square" lIns="0" tIns="0" rIns="0" bIns="0" rtlCol="0" anchor="ctr"/>
          <a:lstStyle/>
          <a:p>
            <a:pPr indent="0" marL="0">
              <a:buNone/>
            </a:pPr>
            <a:r>
              <a:rPr lang="en-US" sz="1100" b="1" dirty="0">
                <a:solidFill>
                  <a:srgbClr val="D0DAE8"/>
                </a:solidFill>
                <a:latin typeface="Calibri" pitchFamily="34" charset="0"/>
                <a:ea typeface="Calibri" pitchFamily="34" charset="-122"/>
                <a:cs typeface="Calibri" pitchFamily="34" charset="-120"/>
              </a:rPr>
              <a:t>🛠️  SCENARIO INJECT</a:t>
            </a:r>
            <a:endParaRPr lang="en-US" sz="1100" dirty="0"/>
          </a:p>
        </p:txBody>
      </p:sp>
      <p:sp>
        <p:nvSpPr>
          <p:cNvPr id="11" name="Text 9"/>
          <p:cNvSpPr/>
          <p:nvPr/>
        </p:nvSpPr>
        <p:spPr>
          <a:xfrm>
            <a:off x="594360" y="1874520"/>
            <a:ext cx="7955280" cy="795528"/>
          </a:xfrm>
          <a:prstGeom prst="rect">
            <a:avLst/>
          </a:prstGeom>
          <a:noFill/>
          <a:ln/>
        </p:spPr>
        <p:txBody>
          <a:bodyPr wrap="square" lIns="0" tIns="0" rIns="0" bIns="0" rtlCol="0" anchor="ctr"/>
          <a:lstStyle/>
          <a:p>
            <a:pPr indent="0" marL="0">
              <a:buNone/>
            </a:pPr>
            <a:r>
              <a:rPr lang="en-US" sz="1200" dirty="0">
                <a:solidFill>
                  <a:srgbClr val="1A2335"/>
                </a:solidFill>
                <a:latin typeface="Calibri" pitchFamily="34" charset="0"/>
                <a:ea typeface="Calibri" pitchFamily="34" charset="-122"/>
                <a:cs typeface="Calibri" pitchFamily="34" charset="-120"/>
              </a:rPr>
              <a:t>The attacker's session is revoked, John's password is reset, and the malicious group deleted. The security team now proposes five new Conditional Access policies (CA-ZT-01 through CA-ZT-05), an MFA registration enforcement policy, Windows endpoint hardening, and a Wazuh–Microsoft Graph integration. Legal asks whether a PII breach notification is required.</a:t>
            </a:r>
            <a:endParaRPr lang="en-US" sz="1200" dirty="0"/>
          </a:p>
        </p:txBody>
      </p:sp>
      <p:sp>
        <p:nvSpPr>
          <p:cNvPr id="12" name="Text 10"/>
          <p:cNvSpPr/>
          <p:nvPr/>
        </p:nvSpPr>
        <p:spPr>
          <a:xfrm>
            <a:off x="457200" y="2788920"/>
            <a:ext cx="8229600" cy="347472"/>
          </a:xfrm>
          <a:prstGeom prst="rect">
            <a:avLst/>
          </a:prstGeom>
          <a:noFill/>
          <a:ln/>
        </p:spPr>
        <p:txBody>
          <a:bodyPr wrap="square" lIns="0" tIns="0" rIns="0" bIns="0" rtlCol="0" anchor="ctr"/>
          <a:lstStyle/>
          <a:p>
            <a:pPr indent="0" marL="0">
              <a:buNone/>
            </a:pPr>
            <a:r>
              <a:rPr lang="en-US" sz="1400" b="1" dirty="0">
                <a:solidFill>
                  <a:srgbClr val="1A2335"/>
                </a:solidFill>
                <a:latin typeface="Calibri" pitchFamily="34" charset="0"/>
                <a:ea typeface="Calibri" pitchFamily="34" charset="-122"/>
                <a:cs typeface="Calibri" pitchFamily="34" charset="-120"/>
              </a:rPr>
              <a:t>Discussion Questions:</a:t>
            </a:r>
            <a:endParaRPr lang="en-US" sz="1400" dirty="0"/>
          </a:p>
        </p:txBody>
      </p:sp>
      <p:sp>
        <p:nvSpPr>
          <p:cNvPr id="13" name="Shape 11"/>
          <p:cNvSpPr/>
          <p:nvPr/>
        </p:nvSpPr>
        <p:spPr>
          <a:xfrm>
            <a:off x="457200" y="3200400"/>
            <a:ext cx="274320" cy="292608"/>
          </a:xfrm>
          <a:prstGeom prst="rect">
            <a:avLst/>
          </a:prstGeom>
          <a:solidFill>
            <a:srgbClr val="1E7A4C"/>
          </a:solidFill>
          <a:ln/>
        </p:spPr>
      </p:sp>
      <p:sp>
        <p:nvSpPr>
          <p:cNvPr id="14" name="Text 12"/>
          <p:cNvSpPr/>
          <p:nvPr/>
        </p:nvSpPr>
        <p:spPr>
          <a:xfrm>
            <a:off x="457200" y="3218688"/>
            <a:ext cx="27432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15" name="Text 13"/>
          <p:cNvSpPr/>
          <p:nvPr/>
        </p:nvSpPr>
        <p:spPr>
          <a:xfrm>
            <a:off x="804672" y="3200400"/>
            <a:ext cx="7955280" cy="329184"/>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Which of the 5 CA policies (Block Legacy Auth, Non-Trusted Locations, Compliant Device, Risk-Based, Salesforce MFA) do you deploy first? Why?</a:t>
            </a:r>
            <a:endParaRPr lang="en-US" sz="1100" dirty="0"/>
          </a:p>
        </p:txBody>
      </p:sp>
      <p:sp>
        <p:nvSpPr>
          <p:cNvPr id="16" name="Shape 14"/>
          <p:cNvSpPr/>
          <p:nvPr/>
        </p:nvSpPr>
        <p:spPr>
          <a:xfrm>
            <a:off x="457200" y="3593592"/>
            <a:ext cx="274320" cy="292608"/>
          </a:xfrm>
          <a:prstGeom prst="rect">
            <a:avLst/>
          </a:prstGeom>
          <a:solidFill>
            <a:srgbClr val="1E7A4C"/>
          </a:solidFill>
          <a:ln/>
        </p:spPr>
      </p:sp>
      <p:sp>
        <p:nvSpPr>
          <p:cNvPr id="17" name="Text 15"/>
          <p:cNvSpPr/>
          <p:nvPr/>
        </p:nvSpPr>
        <p:spPr>
          <a:xfrm>
            <a:off x="457200" y="3611880"/>
            <a:ext cx="27432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8" name="Text 16"/>
          <p:cNvSpPr/>
          <p:nvPr/>
        </p:nvSpPr>
        <p:spPr>
          <a:xfrm>
            <a:off x="804672" y="3593592"/>
            <a:ext cx="7955280" cy="329184"/>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Does this incident meet the threshold for mandatory breach notification? Who owns that decision and what is your timeline?</a:t>
            </a:r>
            <a:endParaRPr lang="en-US" sz="1100" dirty="0"/>
          </a:p>
        </p:txBody>
      </p:sp>
      <p:sp>
        <p:nvSpPr>
          <p:cNvPr id="19" name="Shape 17"/>
          <p:cNvSpPr/>
          <p:nvPr/>
        </p:nvSpPr>
        <p:spPr>
          <a:xfrm>
            <a:off x="457200" y="3986784"/>
            <a:ext cx="274320" cy="292608"/>
          </a:xfrm>
          <a:prstGeom prst="rect">
            <a:avLst/>
          </a:prstGeom>
          <a:solidFill>
            <a:srgbClr val="1E7A4C"/>
          </a:solidFill>
          <a:ln/>
        </p:spPr>
      </p:sp>
      <p:sp>
        <p:nvSpPr>
          <p:cNvPr id="20" name="Text 18"/>
          <p:cNvSpPr/>
          <p:nvPr/>
        </p:nvSpPr>
        <p:spPr>
          <a:xfrm>
            <a:off x="457200" y="4005072"/>
            <a:ext cx="27432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21" name="Text 19"/>
          <p:cNvSpPr/>
          <p:nvPr/>
        </p:nvSpPr>
        <p:spPr>
          <a:xfrm>
            <a:off x="804672" y="3986784"/>
            <a:ext cx="7955280" cy="329184"/>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349 CIS benchmark failures exist on the Windows endpoint (score 26/100). How do you prioritise remediation without disrupting operations?</a:t>
            </a:r>
            <a:endParaRPr lang="en-US" sz="1100" dirty="0"/>
          </a:p>
        </p:txBody>
      </p:sp>
      <p:sp>
        <p:nvSpPr>
          <p:cNvPr id="22" name="Shape 20"/>
          <p:cNvSpPr/>
          <p:nvPr/>
        </p:nvSpPr>
        <p:spPr>
          <a:xfrm>
            <a:off x="457200" y="4379976"/>
            <a:ext cx="274320" cy="292608"/>
          </a:xfrm>
          <a:prstGeom prst="rect">
            <a:avLst/>
          </a:prstGeom>
          <a:solidFill>
            <a:srgbClr val="1E7A4C"/>
          </a:solidFill>
          <a:ln/>
        </p:spPr>
      </p:sp>
      <p:sp>
        <p:nvSpPr>
          <p:cNvPr id="23" name="Text 21"/>
          <p:cNvSpPr/>
          <p:nvPr/>
        </p:nvSpPr>
        <p:spPr>
          <a:xfrm>
            <a:off x="457200" y="4398264"/>
            <a:ext cx="27432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Q4</a:t>
            </a:r>
            <a:endParaRPr lang="en-US" sz="1100" dirty="0"/>
          </a:p>
        </p:txBody>
      </p:sp>
      <p:sp>
        <p:nvSpPr>
          <p:cNvPr id="24" name="Text 22"/>
          <p:cNvSpPr/>
          <p:nvPr/>
        </p:nvSpPr>
        <p:spPr>
          <a:xfrm>
            <a:off x="804672" y="4379976"/>
            <a:ext cx="7955280" cy="329184"/>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How do you verify the attacker achieved no further persistence (backdoor apps, OAuth grants, forwarding rules)?</a:t>
            </a:r>
            <a:endParaRPr lang="en-US" sz="1100" dirty="0"/>
          </a:p>
        </p:txBody>
      </p:sp>
      <p:sp>
        <p:nvSpPr>
          <p:cNvPr id="25" name="Text 23"/>
          <p:cNvSpPr/>
          <p:nvPr/>
        </p:nvSpPr>
        <p:spPr>
          <a:xfrm>
            <a:off x="0" y="4864608"/>
            <a:ext cx="9144000" cy="274320"/>
          </a:xfrm>
          <a:prstGeom prst="rect">
            <a:avLst/>
          </a:prstGeom>
          <a:noFill/>
          <a:ln/>
        </p:spPr>
        <p:txBody>
          <a:bodyPr wrap="square" lIns="0" tIns="0" rIns="0" bIns="0" rtlCol="0" anchor="ctr"/>
          <a:lstStyle/>
          <a:p>
            <a:pPr algn="ctr" indent="0" marL="0">
              <a:buNone/>
            </a:pPr>
            <a:r>
              <a:rPr lang="en-US" sz="900" dirty="0">
                <a:solidFill>
                  <a:srgbClr val="8899AA"/>
                </a:solidFill>
                <a:latin typeface="Calibri" pitchFamily="34" charset="0"/>
                <a:ea typeface="Calibri" pitchFamily="34" charset="-122"/>
                <a:cs typeface="Calibri" pitchFamily="34" charset="-120"/>
              </a:rPr>
              <a:t>INC-2026-0322-001 | CONFIDENTIAL — INTERNAL USE ONLY | Slide 8 of 14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F0FA"/>
        </a:solidFill>
      </p:bgPr>
    </p:bg>
    <p:spTree>
      <p:nvGrpSpPr>
        <p:cNvPr id="1" name=""/>
        <p:cNvGrpSpPr/>
        <p:nvPr/>
      </p:nvGrpSpPr>
      <p:grpSpPr>
        <a:xfrm>
          <a:off x="0" y="0"/>
          <a:ext cx="0" cy="0"/>
          <a:chOff x="0" y="0"/>
          <a:chExt cx="0" cy="0"/>
        </a:xfrm>
      </p:grpSpPr>
      <p:sp>
        <p:nvSpPr>
          <p:cNvPr id="2" name="Shape 0"/>
          <p:cNvSpPr/>
          <p:nvPr/>
        </p:nvSpPr>
        <p:spPr>
          <a:xfrm>
            <a:off x="457200" y="256032"/>
            <a:ext cx="45720" cy="347472"/>
          </a:xfrm>
          <a:prstGeom prst="rect">
            <a:avLst/>
          </a:prstGeom>
          <a:solidFill>
            <a:srgbClr val="C0392B"/>
          </a:solidFill>
          <a:ln/>
        </p:spPr>
      </p:sp>
      <p:sp>
        <p:nvSpPr>
          <p:cNvPr id="3" name="Text 1"/>
          <p:cNvSpPr/>
          <p:nvPr/>
        </p:nvSpPr>
        <p:spPr>
          <a:xfrm>
            <a:off x="566928" y="228600"/>
            <a:ext cx="7315200" cy="411480"/>
          </a:xfrm>
          <a:prstGeom prst="rect">
            <a:avLst/>
          </a:prstGeom>
          <a:noFill/>
          <a:ln/>
        </p:spPr>
        <p:txBody>
          <a:bodyPr wrap="square" lIns="0" tIns="0" rIns="0" bIns="0" rtlCol="0" anchor="ctr"/>
          <a:lstStyle/>
          <a:p>
            <a:pPr indent="0" marL="0">
              <a:buNone/>
            </a:pPr>
            <a:r>
              <a:rPr lang="en-US" sz="1100" b="1" spc="200" kern="0" dirty="0">
                <a:solidFill>
                  <a:srgbClr val="8899AA"/>
                </a:solidFill>
                <a:latin typeface="Calibri" pitchFamily="34" charset="0"/>
                <a:ea typeface="Calibri" pitchFamily="34" charset="-122"/>
                <a:cs typeface="Calibri" pitchFamily="34" charset="-120"/>
              </a:rPr>
              <a:t>THREAT INTELLIGENCE</a:t>
            </a:r>
            <a:endParaRPr lang="en-US" sz="1100" dirty="0"/>
          </a:p>
        </p:txBody>
      </p:sp>
      <p:sp>
        <p:nvSpPr>
          <p:cNvPr id="4" name="Text 2"/>
          <p:cNvSpPr/>
          <p:nvPr/>
        </p:nvSpPr>
        <p:spPr>
          <a:xfrm>
            <a:off x="502920" y="658368"/>
            <a:ext cx="8138160" cy="685800"/>
          </a:xfrm>
          <a:prstGeom prst="rect">
            <a:avLst/>
          </a:prstGeom>
          <a:noFill/>
          <a:ln/>
        </p:spPr>
        <p:txBody>
          <a:bodyPr wrap="square" lIns="0" tIns="0" rIns="0" bIns="0" rtlCol="0" anchor="ctr"/>
          <a:lstStyle/>
          <a:p>
            <a:pPr indent="0" marL="0">
              <a:buNone/>
            </a:pPr>
            <a:r>
              <a:rPr lang="en-US" sz="2800" b="1" dirty="0">
                <a:solidFill>
                  <a:srgbClr val="1A2335"/>
                </a:solidFill>
                <a:latin typeface="Calibri" pitchFamily="34" charset="0"/>
                <a:ea typeface="Calibri" pitchFamily="34" charset="-122"/>
                <a:cs typeface="Calibri" pitchFamily="34" charset="-120"/>
              </a:rPr>
              <a:t>MITRE ATT&amp;CK® Technique Mapping</a:t>
            </a:r>
            <a:endParaRPr lang="en-US" sz="2800" dirty="0"/>
          </a:p>
        </p:txBody>
      </p:sp>
      <p:sp>
        <p:nvSpPr>
          <p:cNvPr id="5" name="Shape 3"/>
          <p:cNvSpPr/>
          <p:nvPr/>
        </p:nvSpPr>
        <p:spPr>
          <a:xfrm>
            <a:off x="502920" y="1371600"/>
            <a:ext cx="8138160" cy="0"/>
          </a:xfrm>
          <a:prstGeom prst="line">
            <a:avLst/>
          </a:prstGeom>
          <a:noFill/>
          <a:ln w="12700">
            <a:solidFill>
              <a:srgbClr val="D0DAE8"/>
            </a:solidFill>
            <a:prstDash val="solid"/>
          </a:ln>
        </p:spPr>
      </p:sp>
      <p:sp>
        <p:nvSpPr>
          <p:cNvPr id="6" name="Shape 4"/>
          <p:cNvSpPr/>
          <p:nvPr/>
        </p:nvSpPr>
        <p:spPr>
          <a:xfrm>
            <a:off x="457200" y="1508760"/>
            <a:ext cx="8229600" cy="621792"/>
          </a:xfrm>
          <a:prstGeom prst="rect">
            <a:avLst/>
          </a:prstGeom>
          <a:solidFill>
            <a:srgbClr val="FFFFFF"/>
          </a:solidFill>
          <a:ln w="6350">
            <a:solidFill>
              <a:srgbClr val="D0DAE8"/>
            </a:solidFill>
            <a:prstDash val="solid"/>
          </a:ln>
          <a:effectLst>
            <a:outerShdw sx="100000" sy="100000" kx="0" ky="0" algn="bl" rotWithShape="0" blurRad="63500" dist="25400" dir="8100000">
              <a:srgbClr val="000000">
                <a:alpha val="12000"/>
              </a:srgbClr>
            </a:outerShdw>
          </a:effectLst>
        </p:spPr>
      </p:sp>
      <p:sp>
        <p:nvSpPr>
          <p:cNvPr id="7" name="Shape 5"/>
          <p:cNvSpPr/>
          <p:nvPr/>
        </p:nvSpPr>
        <p:spPr>
          <a:xfrm>
            <a:off x="457200" y="1508760"/>
            <a:ext cx="1371600" cy="621792"/>
          </a:xfrm>
          <a:prstGeom prst="rect">
            <a:avLst/>
          </a:prstGeom>
          <a:solidFill>
            <a:srgbClr val="C0392B"/>
          </a:solidFill>
          <a:ln/>
        </p:spPr>
      </p:sp>
      <p:sp>
        <p:nvSpPr>
          <p:cNvPr id="8" name="Text 6"/>
          <p:cNvSpPr/>
          <p:nvPr/>
        </p:nvSpPr>
        <p:spPr>
          <a:xfrm>
            <a:off x="475488" y="1563624"/>
            <a:ext cx="133502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Initial Access</a:t>
            </a:r>
            <a:endParaRPr lang="en-US" sz="1000" dirty="0"/>
          </a:p>
        </p:txBody>
      </p:sp>
      <p:sp>
        <p:nvSpPr>
          <p:cNvPr id="9" name="Text 7"/>
          <p:cNvSpPr/>
          <p:nvPr/>
        </p:nvSpPr>
        <p:spPr>
          <a:xfrm>
            <a:off x="475488" y="1828800"/>
            <a:ext cx="1335024" cy="2286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T1566.004</a:t>
            </a:r>
            <a:endParaRPr lang="en-US" sz="1100" dirty="0"/>
          </a:p>
        </p:txBody>
      </p:sp>
      <p:sp>
        <p:nvSpPr>
          <p:cNvPr id="10" name="Text 8"/>
          <p:cNvSpPr/>
          <p:nvPr/>
        </p:nvSpPr>
        <p:spPr>
          <a:xfrm>
            <a:off x="1965960" y="1563624"/>
            <a:ext cx="2286000" cy="274320"/>
          </a:xfrm>
          <a:prstGeom prst="rect">
            <a:avLst/>
          </a:prstGeom>
          <a:noFill/>
          <a:ln/>
        </p:spPr>
        <p:txBody>
          <a:bodyPr wrap="square" lIns="0" tIns="0" rIns="0" bIns="0" rtlCol="0" anchor="ctr"/>
          <a:lstStyle/>
          <a:p>
            <a:pPr indent="0" marL="0">
              <a:buNone/>
            </a:pPr>
            <a:r>
              <a:rPr lang="en-US" sz="1300" b="1" dirty="0">
                <a:solidFill>
                  <a:srgbClr val="1A2335"/>
                </a:solidFill>
                <a:latin typeface="Calibri" pitchFamily="34" charset="0"/>
                <a:ea typeface="Calibri" pitchFamily="34" charset="-122"/>
                <a:cs typeface="Calibri" pitchFamily="34" charset="-120"/>
              </a:rPr>
              <a:t>Vishing</a:t>
            </a:r>
            <a:endParaRPr lang="en-US" sz="1300" dirty="0"/>
          </a:p>
        </p:txBody>
      </p:sp>
      <p:sp>
        <p:nvSpPr>
          <p:cNvPr id="11" name="Text 9"/>
          <p:cNvSpPr/>
          <p:nvPr/>
        </p:nvSpPr>
        <p:spPr>
          <a:xfrm>
            <a:off x="1965960" y="1828800"/>
            <a:ext cx="6537960" cy="256032"/>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Caller impersonating Microsoft Azure Support pressured user into surrendering credentials.</a:t>
            </a:r>
            <a:endParaRPr lang="en-US" sz="1100" dirty="0"/>
          </a:p>
        </p:txBody>
      </p:sp>
      <p:sp>
        <p:nvSpPr>
          <p:cNvPr id="12" name="Shape 10"/>
          <p:cNvSpPr/>
          <p:nvPr/>
        </p:nvSpPr>
        <p:spPr>
          <a:xfrm>
            <a:off x="457200" y="2212848"/>
            <a:ext cx="8229600" cy="621792"/>
          </a:xfrm>
          <a:prstGeom prst="rect">
            <a:avLst/>
          </a:prstGeom>
          <a:solidFill>
            <a:srgbClr val="FFFFFF"/>
          </a:solidFill>
          <a:ln w="6350">
            <a:solidFill>
              <a:srgbClr val="D0DAE8"/>
            </a:solidFill>
            <a:prstDash val="solid"/>
          </a:ln>
          <a:effectLst>
            <a:outerShdw sx="100000" sy="100000" kx="0" ky="0" algn="bl" rotWithShape="0" blurRad="63500" dist="25400" dir="8100000">
              <a:srgbClr val="000000">
                <a:alpha val="12000"/>
              </a:srgbClr>
            </a:outerShdw>
          </a:effectLst>
        </p:spPr>
      </p:sp>
      <p:sp>
        <p:nvSpPr>
          <p:cNvPr id="13" name="Shape 11"/>
          <p:cNvSpPr/>
          <p:nvPr/>
        </p:nvSpPr>
        <p:spPr>
          <a:xfrm>
            <a:off x="457200" y="2212848"/>
            <a:ext cx="1371600" cy="621792"/>
          </a:xfrm>
          <a:prstGeom prst="rect">
            <a:avLst/>
          </a:prstGeom>
          <a:solidFill>
            <a:srgbClr val="C0392B"/>
          </a:solidFill>
          <a:ln/>
        </p:spPr>
      </p:sp>
      <p:sp>
        <p:nvSpPr>
          <p:cNvPr id="14" name="Text 12"/>
          <p:cNvSpPr/>
          <p:nvPr/>
        </p:nvSpPr>
        <p:spPr>
          <a:xfrm>
            <a:off x="475488" y="2267712"/>
            <a:ext cx="133502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Credential Access</a:t>
            </a:r>
            <a:endParaRPr lang="en-US" sz="1000" dirty="0"/>
          </a:p>
        </p:txBody>
      </p:sp>
      <p:sp>
        <p:nvSpPr>
          <p:cNvPr id="15" name="Text 13"/>
          <p:cNvSpPr/>
          <p:nvPr/>
        </p:nvSpPr>
        <p:spPr>
          <a:xfrm>
            <a:off x="475488" y="2532888"/>
            <a:ext cx="1335024" cy="2286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T1078</a:t>
            </a:r>
            <a:endParaRPr lang="en-US" sz="1100" dirty="0"/>
          </a:p>
        </p:txBody>
      </p:sp>
      <p:sp>
        <p:nvSpPr>
          <p:cNvPr id="16" name="Text 14"/>
          <p:cNvSpPr/>
          <p:nvPr/>
        </p:nvSpPr>
        <p:spPr>
          <a:xfrm>
            <a:off x="1965960" y="2267712"/>
            <a:ext cx="2286000" cy="274320"/>
          </a:xfrm>
          <a:prstGeom prst="rect">
            <a:avLst/>
          </a:prstGeom>
          <a:noFill/>
          <a:ln/>
        </p:spPr>
        <p:txBody>
          <a:bodyPr wrap="square" lIns="0" tIns="0" rIns="0" bIns="0" rtlCol="0" anchor="ctr"/>
          <a:lstStyle/>
          <a:p>
            <a:pPr indent="0" marL="0">
              <a:buNone/>
            </a:pPr>
            <a:r>
              <a:rPr lang="en-US" sz="1300" b="1" dirty="0">
                <a:solidFill>
                  <a:srgbClr val="1A2335"/>
                </a:solidFill>
                <a:latin typeface="Calibri" pitchFamily="34" charset="0"/>
                <a:ea typeface="Calibri" pitchFamily="34" charset="-122"/>
                <a:cs typeface="Calibri" pitchFamily="34" charset="-120"/>
              </a:rPr>
              <a:t>Valid Accounts</a:t>
            </a:r>
            <a:endParaRPr lang="en-US" sz="1300" dirty="0"/>
          </a:p>
        </p:txBody>
      </p:sp>
      <p:sp>
        <p:nvSpPr>
          <p:cNvPr id="17" name="Text 15"/>
          <p:cNvSpPr/>
          <p:nvPr/>
        </p:nvSpPr>
        <p:spPr>
          <a:xfrm>
            <a:off x="1965960" y="2532888"/>
            <a:ext cx="6537960" cy="256032"/>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Stolen credentials used to authenticate directly — no exploitation required.</a:t>
            </a:r>
            <a:endParaRPr lang="en-US" sz="1100" dirty="0"/>
          </a:p>
        </p:txBody>
      </p:sp>
      <p:sp>
        <p:nvSpPr>
          <p:cNvPr id="18" name="Shape 16"/>
          <p:cNvSpPr/>
          <p:nvPr/>
        </p:nvSpPr>
        <p:spPr>
          <a:xfrm>
            <a:off x="457200" y="2916936"/>
            <a:ext cx="8229600" cy="621792"/>
          </a:xfrm>
          <a:prstGeom prst="rect">
            <a:avLst/>
          </a:prstGeom>
          <a:solidFill>
            <a:srgbClr val="FFFFFF"/>
          </a:solidFill>
          <a:ln w="6350">
            <a:solidFill>
              <a:srgbClr val="D0DAE8"/>
            </a:solidFill>
            <a:prstDash val="solid"/>
          </a:ln>
          <a:effectLst>
            <a:outerShdw sx="100000" sy="100000" kx="0" ky="0" algn="bl" rotWithShape="0" blurRad="63500" dist="25400" dir="8100000">
              <a:srgbClr val="000000">
                <a:alpha val="12000"/>
              </a:srgbClr>
            </a:outerShdw>
          </a:effectLst>
        </p:spPr>
      </p:sp>
      <p:sp>
        <p:nvSpPr>
          <p:cNvPr id="19" name="Shape 17"/>
          <p:cNvSpPr/>
          <p:nvPr/>
        </p:nvSpPr>
        <p:spPr>
          <a:xfrm>
            <a:off x="457200" y="2916936"/>
            <a:ext cx="1371600" cy="621792"/>
          </a:xfrm>
          <a:prstGeom prst="rect">
            <a:avLst/>
          </a:prstGeom>
          <a:solidFill>
            <a:srgbClr val="D4861A"/>
          </a:solidFill>
          <a:ln/>
        </p:spPr>
      </p:sp>
      <p:sp>
        <p:nvSpPr>
          <p:cNvPr id="20" name="Text 18"/>
          <p:cNvSpPr/>
          <p:nvPr/>
        </p:nvSpPr>
        <p:spPr>
          <a:xfrm>
            <a:off x="475488" y="2971800"/>
            <a:ext cx="133502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Persistence</a:t>
            </a:r>
            <a:endParaRPr lang="en-US" sz="1000" dirty="0"/>
          </a:p>
        </p:txBody>
      </p:sp>
      <p:sp>
        <p:nvSpPr>
          <p:cNvPr id="21" name="Text 19"/>
          <p:cNvSpPr/>
          <p:nvPr/>
        </p:nvSpPr>
        <p:spPr>
          <a:xfrm>
            <a:off x="475488" y="3236976"/>
            <a:ext cx="1335024" cy="2286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T1098</a:t>
            </a:r>
            <a:endParaRPr lang="en-US" sz="1100" dirty="0"/>
          </a:p>
        </p:txBody>
      </p:sp>
      <p:sp>
        <p:nvSpPr>
          <p:cNvPr id="22" name="Text 20"/>
          <p:cNvSpPr/>
          <p:nvPr/>
        </p:nvSpPr>
        <p:spPr>
          <a:xfrm>
            <a:off x="1965960" y="2971800"/>
            <a:ext cx="2286000" cy="274320"/>
          </a:xfrm>
          <a:prstGeom prst="rect">
            <a:avLst/>
          </a:prstGeom>
          <a:noFill/>
          <a:ln/>
        </p:spPr>
        <p:txBody>
          <a:bodyPr wrap="square" lIns="0" tIns="0" rIns="0" bIns="0" rtlCol="0" anchor="ctr"/>
          <a:lstStyle/>
          <a:p>
            <a:pPr indent="0" marL="0">
              <a:buNone/>
            </a:pPr>
            <a:r>
              <a:rPr lang="en-US" sz="1300" b="1" dirty="0">
                <a:solidFill>
                  <a:srgbClr val="1A2335"/>
                </a:solidFill>
                <a:latin typeface="Calibri" pitchFamily="34" charset="0"/>
                <a:ea typeface="Calibri" pitchFamily="34" charset="-122"/>
                <a:cs typeface="Calibri" pitchFamily="34" charset="-120"/>
              </a:rPr>
              <a:t>Account Manipulation</a:t>
            </a:r>
            <a:endParaRPr lang="en-US" sz="1300" dirty="0"/>
          </a:p>
        </p:txBody>
      </p:sp>
      <p:sp>
        <p:nvSpPr>
          <p:cNvPr id="23" name="Text 21"/>
          <p:cNvSpPr/>
          <p:nvPr/>
        </p:nvSpPr>
        <p:spPr>
          <a:xfrm>
            <a:off x="1965960" y="3236976"/>
            <a:ext cx="6537960" cy="256032"/>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Self-service password reset locked out legitimate user; malicious group created.</a:t>
            </a:r>
            <a:endParaRPr lang="en-US" sz="1100" dirty="0"/>
          </a:p>
        </p:txBody>
      </p:sp>
      <p:sp>
        <p:nvSpPr>
          <p:cNvPr id="24" name="Shape 22"/>
          <p:cNvSpPr/>
          <p:nvPr/>
        </p:nvSpPr>
        <p:spPr>
          <a:xfrm>
            <a:off x="457200" y="3621024"/>
            <a:ext cx="8229600" cy="621792"/>
          </a:xfrm>
          <a:prstGeom prst="rect">
            <a:avLst/>
          </a:prstGeom>
          <a:solidFill>
            <a:srgbClr val="FFFFFF"/>
          </a:solidFill>
          <a:ln w="6350">
            <a:solidFill>
              <a:srgbClr val="D0DAE8"/>
            </a:solidFill>
            <a:prstDash val="solid"/>
          </a:ln>
          <a:effectLst>
            <a:outerShdw sx="100000" sy="100000" kx="0" ky="0" algn="bl" rotWithShape="0" blurRad="63500" dist="25400" dir="8100000">
              <a:srgbClr val="000000">
                <a:alpha val="12000"/>
              </a:srgbClr>
            </a:outerShdw>
          </a:effectLst>
        </p:spPr>
      </p:sp>
      <p:sp>
        <p:nvSpPr>
          <p:cNvPr id="25" name="Shape 23"/>
          <p:cNvSpPr/>
          <p:nvPr/>
        </p:nvSpPr>
        <p:spPr>
          <a:xfrm>
            <a:off x="457200" y="3621024"/>
            <a:ext cx="1371600" cy="621792"/>
          </a:xfrm>
          <a:prstGeom prst="rect">
            <a:avLst/>
          </a:prstGeom>
          <a:solidFill>
            <a:srgbClr val="D4861A"/>
          </a:solidFill>
          <a:ln/>
        </p:spPr>
      </p:sp>
      <p:sp>
        <p:nvSpPr>
          <p:cNvPr id="26" name="Text 24"/>
          <p:cNvSpPr/>
          <p:nvPr/>
        </p:nvSpPr>
        <p:spPr>
          <a:xfrm>
            <a:off x="475488" y="3675888"/>
            <a:ext cx="133502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Discovery</a:t>
            </a:r>
            <a:endParaRPr lang="en-US" sz="1000" dirty="0"/>
          </a:p>
        </p:txBody>
      </p:sp>
      <p:sp>
        <p:nvSpPr>
          <p:cNvPr id="27" name="Text 25"/>
          <p:cNvSpPr/>
          <p:nvPr/>
        </p:nvSpPr>
        <p:spPr>
          <a:xfrm>
            <a:off x="475488" y="3941064"/>
            <a:ext cx="1335024" cy="2286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T1069</a:t>
            </a:r>
            <a:endParaRPr lang="en-US" sz="1100" dirty="0"/>
          </a:p>
        </p:txBody>
      </p:sp>
      <p:sp>
        <p:nvSpPr>
          <p:cNvPr id="28" name="Text 26"/>
          <p:cNvSpPr/>
          <p:nvPr/>
        </p:nvSpPr>
        <p:spPr>
          <a:xfrm>
            <a:off x="1965960" y="3675888"/>
            <a:ext cx="2286000" cy="274320"/>
          </a:xfrm>
          <a:prstGeom prst="rect">
            <a:avLst/>
          </a:prstGeom>
          <a:noFill/>
          <a:ln/>
        </p:spPr>
        <p:txBody>
          <a:bodyPr wrap="square" lIns="0" tIns="0" rIns="0" bIns="0" rtlCol="0" anchor="ctr"/>
          <a:lstStyle/>
          <a:p>
            <a:pPr indent="0" marL="0">
              <a:buNone/>
            </a:pPr>
            <a:r>
              <a:rPr lang="en-US" sz="1300" b="1" dirty="0">
                <a:solidFill>
                  <a:srgbClr val="1A2335"/>
                </a:solidFill>
                <a:latin typeface="Calibri" pitchFamily="34" charset="0"/>
                <a:ea typeface="Calibri" pitchFamily="34" charset="-122"/>
                <a:cs typeface="Calibri" pitchFamily="34" charset="-120"/>
              </a:rPr>
              <a:t>Permission Groups Discovery</a:t>
            </a:r>
            <a:endParaRPr lang="en-US" sz="1300" dirty="0"/>
          </a:p>
        </p:txBody>
      </p:sp>
      <p:sp>
        <p:nvSpPr>
          <p:cNvPr id="29" name="Text 27"/>
          <p:cNvSpPr/>
          <p:nvPr/>
        </p:nvSpPr>
        <p:spPr>
          <a:xfrm>
            <a:off x="1965960" y="3941064"/>
            <a:ext cx="6537960" cy="256032"/>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Group management API queried to map organisational structure and access paths.</a:t>
            </a:r>
            <a:endParaRPr lang="en-US" sz="1100" dirty="0"/>
          </a:p>
        </p:txBody>
      </p:sp>
      <p:sp>
        <p:nvSpPr>
          <p:cNvPr id="30" name="Shape 28"/>
          <p:cNvSpPr/>
          <p:nvPr/>
        </p:nvSpPr>
        <p:spPr>
          <a:xfrm>
            <a:off x="457200" y="4325112"/>
            <a:ext cx="8229600" cy="621792"/>
          </a:xfrm>
          <a:prstGeom prst="rect">
            <a:avLst/>
          </a:prstGeom>
          <a:solidFill>
            <a:srgbClr val="FFFFFF"/>
          </a:solidFill>
          <a:ln w="6350">
            <a:solidFill>
              <a:srgbClr val="D0DAE8"/>
            </a:solidFill>
            <a:prstDash val="solid"/>
          </a:ln>
          <a:effectLst>
            <a:outerShdw sx="100000" sy="100000" kx="0" ky="0" algn="bl" rotWithShape="0" blurRad="63500" dist="25400" dir="8100000">
              <a:srgbClr val="000000">
                <a:alpha val="12000"/>
              </a:srgbClr>
            </a:outerShdw>
          </a:effectLst>
        </p:spPr>
      </p:sp>
      <p:sp>
        <p:nvSpPr>
          <p:cNvPr id="31" name="Shape 29"/>
          <p:cNvSpPr/>
          <p:nvPr/>
        </p:nvSpPr>
        <p:spPr>
          <a:xfrm>
            <a:off x="457200" y="4325112"/>
            <a:ext cx="1371600" cy="621792"/>
          </a:xfrm>
          <a:prstGeom prst="rect">
            <a:avLst/>
          </a:prstGeom>
          <a:solidFill>
            <a:srgbClr val="0D1B2A"/>
          </a:solidFill>
          <a:ln/>
        </p:spPr>
      </p:sp>
      <p:sp>
        <p:nvSpPr>
          <p:cNvPr id="32" name="Text 30"/>
          <p:cNvSpPr/>
          <p:nvPr/>
        </p:nvSpPr>
        <p:spPr>
          <a:xfrm>
            <a:off x="475488" y="4379976"/>
            <a:ext cx="133502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Defense Evasion</a:t>
            </a:r>
            <a:endParaRPr lang="en-US" sz="1000" dirty="0"/>
          </a:p>
        </p:txBody>
      </p:sp>
      <p:sp>
        <p:nvSpPr>
          <p:cNvPr id="33" name="Text 31"/>
          <p:cNvSpPr/>
          <p:nvPr/>
        </p:nvSpPr>
        <p:spPr>
          <a:xfrm>
            <a:off x="475488" y="4645152"/>
            <a:ext cx="1335024" cy="2286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T1078.004</a:t>
            </a:r>
            <a:endParaRPr lang="en-US" sz="1100" dirty="0"/>
          </a:p>
        </p:txBody>
      </p:sp>
      <p:sp>
        <p:nvSpPr>
          <p:cNvPr id="34" name="Text 32"/>
          <p:cNvSpPr/>
          <p:nvPr/>
        </p:nvSpPr>
        <p:spPr>
          <a:xfrm>
            <a:off x="1965960" y="4379976"/>
            <a:ext cx="2286000" cy="274320"/>
          </a:xfrm>
          <a:prstGeom prst="rect">
            <a:avLst/>
          </a:prstGeom>
          <a:noFill/>
          <a:ln/>
        </p:spPr>
        <p:txBody>
          <a:bodyPr wrap="square" lIns="0" tIns="0" rIns="0" bIns="0" rtlCol="0" anchor="ctr"/>
          <a:lstStyle/>
          <a:p>
            <a:pPr indent="0" marL="0">
              <a:buNone/>
            </a:pPr>
            <a:r>
              <a:rPr lang="en-US" sz="1300" b="1" dirty="0">
                <a:solidFill>
                  <a:srgbClr val="1A2335"/>
                </a:solidFill>
                <a:latin typeface="Calibri" pitchFamily="34" charset="0"/>
                <a:ea typeface="Calibri" pitchFamily="34" charset="-122"/>
                <a:cs typeface="Calibri" pitchFamily="34" charset="-120"/>
              </a:rPr>
              <a:t>Cloud Accounts</a:t>
            </a:r>
            <a:endParaRPr lang="en-US" sz="1300" dirty="0"/>
          </a:p>
        </p:txBody>
      </p:sp>
      <p:sp>
        <p:nvSpPr>
          <p:cNvPr id="35" name="Text 33"/>
          <p:cNvSpPr/>
          <p:nvPr/>
        </p:nvSpPr>
        <p:spPr>
          <a:xfrm>
            <a:off x="1965960" y="4645152"/>
            <a:ext cx="6537960" cy="256032"/>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Azure datacenter IPs used to blend with legitimate Microsoft traffic.</a:t>
            </a:r>
            <a:endParaRPr lang="en-US" sz="1100" dirty="0"/>
          </a:p>
        </p:txBody>
      </p:sp>
      <p:sp>
        <p:nvSpPr>
          <p:cNvPr id="36" name="Text 34"/>
          <p:cNvSpPr/>
          <p:nvPr/>
        </p:nvSpPr>
        <p:spPr>
          <a:xfrm>
            <a:off x="0" y="4864608"/>
            <a:ext cx="9144000" cy="274320"/>
          </a:xfrm>
          <a:prstGeom prst="rect">
            <a:avLst/>
          </a:prstGeom>
          <a:noFill/>
          <a:ln/>
        </p:spPr>
        <p:txBody>
          <a:bodyPr wrap="square" lIns="0" tIns="0" rIns="0" bIns="0" rtlCol="0" anchor="ctr"/>
          <a:lstStyle/>
          <a:p>
            <a:pPr algn="ctr" indent="0" marL="0">
              <a:buNone/>
            </a:pPr>
            <a:r>
              <a:rPr lang="en-US" sz="900" dirty="0">
                <a:solidFill>
                  <a:srgbClr val="8899AA"/>
                </a:solidFill>
                <a:latin typeface="Calibri" pitchFamily="34" charset="0"/>
                <a:ea typeface="Calibri" pitchFamily="34" charset="-122"/>
                <a:cs typeface="Calibri" pitchFamily="34" charset="-120"/>
              </a:rPr>
              <a:t>INC-2026-0322-001 | CONFIDENTIAL — INTERNAL USE ONLY | Slide 9 of 14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0FA"/>
        </a:solidFill>
      </p:bgPr>
    </p:bg>
    <p:spTree>
      <p:nvGrpSpPr>
        <p:cNvPr id="1" name=""/>
        <p:cNvGrpSpPr/>
        <p:nvPr/>
      </p:nvGrpSpPr>
      <p:grpSpPr>
        <a:xfrm>
          <a:off x="0" y="0"/>
          <a:ext cx="0" cy="0"/>
          <a:chOff x="0" y="0"/>
          <a:chExt cx="0" cy="0"/>
        </a:xfrm>
      </p:grpSpPr>
      <p:sp>
        <p:nvSpPr>
          <p:cNvPr id="2" name="Shape 0"/>
          <p:cNvSpPr/>
          <p:nvPr/>
        </p:nvSpPr>
        <p:spPr>
          <a:xfrm>
            <a:off x="457200" y="256032"/>
            <a:ext cx="45720" cy="347472"/>
          </a:xfrm>
          <a:prstGeom prst="rect">
            <a:avLst/>
          </a:prstGeom>
          <a:solidFill>
            <a:srgbClr val="C0392B"/>
          </a:solidFill>
          <a:ln/>
        </p:spPr>
      </p:sp>
      <p:sp>
        <p:nvSpPr>
          <p:cNvPr id="3" name="Text 1"/>
          <p:cNvSpPr/>
          <p:nvPr/>
        </p:nvSpPr>
        <p:spPr>
          <a:xfrm>
            <a:off x="566928" y="228600"/>
            <a:ext cx="7315200" cy="411480"/>
          </a:xfrm>
          <a:prstGeom prst="rect">
            <a:avLst/>
          </a:prstGeom>
          <a:noFill/>
          <a:ln/>
        </p:spPr>
        <p:txBody>
          <a:bodyPr wrap="square" lIns="0" tIns="0" rIns="0" bIns="0" rtlCol="0" anchor="ctr"/>
          <a:lstStyle/>
          <a:p>
            <a:pPr indent="0" marL="0">
              <a:buNone/>
            </a:pPr>
            <a:r>
              <a:rPr lang="en-US" sz="1100" b="1" spc="200" kern="0" dirty="0">
                <a:solidFill>
                  <a:srgbClr val="8899AA"/>
                </a:solidFill>
                <a:latin typeface="Calibri" pitchFamily="34" charset="0"/>
                <a:ea typeface="Calibri" pitchFamily="34" charset="-122"/>
                <a:cs typeface="Calibri" pitchFamily="34" charset="-120"/>
              </a:rPr>
              <a:t>REFERENCE TIMELINE</a:t>
            </a:r>
            <a:endParaRPr lang="en-US" sz="1100" dirty="0"/>
          </a:p>
        </p:txBody>
      </p:sp>
      <p:sp>
        <p:nvSpPr>
          <p:cNvPr id="4" name="Text 2"/>
          <p:cNvSpPr/>
          <p:nvPr/>
        </p:nvSpPr>
        <p:spPr>
          <a:xfrm>
            <a:off x="502920" y="658368"/>
            <a:ext cx="8138160" cy="685800"/>
          </a:xfrm>
          <a:prstGeom prst="rect">
            <a:avLst/>
          </a:prstGeom>
          <a:noFill/>
          <a:ln/>
        </p:spPr>
        <p:txBody>
          <a:bodyPr wrap="square" lIns="0" tIns="0" rIns="0" bIns="0" rtlCol="0" anchor="ctr"/>
          <a:lstStyle/>
          <a:p>
            <a:pPr indent="0" marL="0">
              <a:buNone/>
            </a:pPr>
            <a:r>
              <a:rPr lang="en-US" sz="2800" b="1" dirty="0">
                <a:solidFill>
                  <a:srgbClr val="1A2335"/>
                </a:solidFill>
                <a:latin typeface="Calibri" pitchFamily="34" charset="0"/>
                <a:ea typeface="Calibri" pitchFamily="34" charset="-122"/>
                <a:cs typeface="Calibri" pitchFamily="34" charset="-120"/>
              </a:rPr>
              <a:t>Attack Timeline — March 22, 2026</a:t>
            </a:r>
            <a:endParaRPr lang="en-US" sz="2800" dirty="0"/>
          </a:p>
        </p:txBody>
      </p:sp>
      <p:sp>
        <p:nvSpPr>
          <p:cNvPr id="5" name="Shape 3"/>
          <p:cNvSpPr/>
          <p:nvPr/>
        </p:nvSpPr>
        <p:spPr>
          <a:xfrm>
            <a:off x="502920" y="1371600"/>
            <a:ext cx="8138160" cy="0"/>
          </a:xfrm>
          <a:prstGeom prst="line">
            <a:avLst/>
          </a:prstGeom>
          <a:noFill/>
          <a:ln w="12700">
            <a:solidFill>
              <a:srgbClr val="D0DAE8"/>
            </a:solidFill>
            <a:prstDash val="solid"/>
          </a:ln>
        </p:spPr>
      </p:sp>
      <p:sp>
        <p:nvSpPr>
          <p:cNvPr id="6" name="Shape 4"/>
          <p:cNvSpPr/>
          <p:nvPr/>
        </p:nvSpPr>
        <p:spPr>
          <a:xfrm>
            <a:off x="1645920" y="1481328"/>
            <a:ext cx="0" cy="3520440"/>
          </a:xfrm>
          <a:prstGeom prst="line">
            <a:avLst/>
          </a:prstGeom>
          <a:noFill/>
          <a:ln w="25400">
            <a:solidFill>
              <a:srgbClr val="D0DAE8"/>
            </a:solidFill>
            <a:prstDash val="solid"/>
          </a:ln>
        </p:spPr>
      </p:sp>
      <p:sp>
        <p:nvSpPr>
          <p:cNvPr id="7" name="Shape 5"/>
          <p:cNvSpPr/>
          <p:nvPr/>
        </p:nvSpPr>
        <p:spPr>
          <a:xfrm>
            <a:off x="1527048" y="1472184"/>
            <a:ext cx="219456" cy="219456"/>
          </a:xfrm>
          <a:prstGeom prst="ellipse">
            <a:avLst/>
          </a:prstGeom>
          <a:solidFill>
            <a:srgbClr val="C0392B"/>
          </a:solidFill>
          <a:ln w="19050">
            <a:solidFill>
              <a:srgbClr val="FFFFFF"/>
            </a:solidFill>
            <a:prstDash val="solid"/>
          </a:ln>
        </p:spPr>
      </p:sp>
      <p:sp>
        <p:nvSpPr>
          <p:cNvPr id="8" name="Text 6"/>
          <p:cNvSpPr/>
          <p:nvPr/>
        </p:nvSpPr>
        <p:spPr>
          <a:xfrm>
            <a:off x="164592" y="1417320"/>
            <a:ext cx="1316736" cy="320040"/>
          </a:xfrm>
          <a:prstGeom prst="rect">
            <a:avLst/>
          </a:prstGeom>
          <a:noFill/>
          <a:ln/>
        </p:spPr>
        <p:txBody>
          <a:bodyPr wrap="square" lIns="0" tIns="0" rIns="0" bIns="0" rtlCol="0" anchor="ctr"/>
          <a:lstStyle/>
          <a:p>
            <a:pPr algn="r" indent="0" marL="0">
              <a:buNone/>
            </a:pPr>
            <a:r>
              <a:rPr lang="en-US" sz="1000" b="1" dirty="0">
                <a:solidFill>
                  <a:srgbClr val="C0392B"/>
                </a:solidFill>
                <a:latin typeface="Calibri" pitchFamily="34" charset="0"/>
                <a:ea typeface="Calibri" pitchFamily="34" charset="-122"/>
                <a:cs typeface="Calibri" pitchFamily="34" charset="-120"/>
              </a:rPr>
              <a:t>2:30 AM</a:t>
            </a:r>
            <a:endParaRPr lang="en-US" sz="1000" dirty="0"/>
          </a:p>
        </p:txBody>
      </p:sp>
      <p:sp>
        <p:nvSpPr>
          <p:cNvPr id="9" name="Text 7"/>
          <p:cNvSpPr/>
          <p:nvPr/>
        </p:nvSpPr>
        <p:spPr>
          <a:xfrm>
            <a:off x="1874520" y="1417320"/>
            <a:ext cx="5943600" cy="320040"/>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Vishing call received</a:t>
            </a:r>
            <a:endParaRPr lang="en-US" sz="1100" dirty="0"/>
          </a:p>
        </p:txBody>
      </p:sp>
      <p:sp>
        <p:nvSpPr>
          <p:cNvPr id="10" name="Shape 8"/>
          <p:cNvSpPr/>
          <p:nvPr/>
        </p:nvSpPr>
        <p:spPr>
          <a:xfrm>
            <a:off x="7909560" y="1444752"/>
            <a:ext cx="777240" cy="237744"/>
          </a:xfrm>
          <a:prstGeom prst="rect">
            <a:avLst/>
          </a:prstGeom>
          <a:solidFill>
            <a:srgbClr val="C0392B"/>
          </a:solidFill>
          <a:ln/>
        </p:spPr>
      </p:sp>
      <p:sp>
        <p:nvSpPr>
          <p:cNvPr id="11" name="Text 9"/>
          <p:cNvSpPr/>
          <p:nvPr/>
        </p:nvSpPr>
        <p:spPr>
          <a:xfrm>
            <a:off x="7909560" y="1444752"/>
            <a:ext cx="77724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ATTACK</a:t>
            </a:r>
            <a:endParaRPr lang="en-US" sz="800" dirty="0"/>
          </a:p>
        </p:txBody>
      </p:sp>
      <p:sp>
        <p:nvSpPr>
          <p:cNvPr id="12" name="Shape 10"/>
          <p:cNvSpPr/>
          <p:nvPr/>
        </p:nvSpPr>
        <p:spPr>
          <a:xfrm>
            <a:off x="1527048" y="1874520"/>
            <a:ext cx="219456" cy="219456"/>
          </a:xfrm>
          <a:prstGeom prst="ellipse">
            <a:avLst/>
          </a:prstGeom>
          <a:solidFill>
            <a:srgbClr val="C0392B"/>
          </a:solidFill>
          <a:ln w="19050">
            <a:solidFill>
              <a:srgbClr val="FFFFFF"/>
            </a:solidFill>
            <a:prstDash val="solid"/>
          </a:ln>
        </p:spPr>
      </p:sp>
      <p:sp>
        <p:nvSpPr>
          <p:cNvPr id="13" name="Text 11"/>
          <p:cNvSpPr/>
          <p:nvPr/>
        </p:nvSpPr>
        <p:spPr>
          <a:xfrm>
            <a:off x="164592" y="1819656"/>
            <a:ext cx="1316736" cy="320040"/>
          </a:xfrm>
          <a:prstGeom prst="rect">
            <a:avLst/>
          </a:prstGeom>
          <a:noFill/>
          <a:ln/>
        </p:spPr>
        <p:txBody>
          <a:bodyPr wrap="square" lIns="0" tIns="0" rIns="0" bIns="0" rtlCol="0" anchor="ctr"/>
          <a:lstStyle/>
          <a:p>
            <a:pPr algn="r" indent="0" marL="0">
              <a:buNone/>
            </a:pPr>
            <a:r>
              <a:rPr lang="en-US" sz="1000" b="1" dirty="0">
                <a:solidFill>
                  <a:srgbClr val="C0392B"/>
                </a:solidFill>
                <a:latin typeface="Calibri" pitchFamily="34" charset="0"/>
                <a:ea typeface="Calibri" pitchFamily="34" charset="-122"/>
                <a:cs typeface="Calibri" pitchFamily="34" charset="-120"/>
              </a:rPr>
              <a:t>~2:35 AM</a:t>
            </a:r>
            <a:endParaRPr lang="en-US" sz="1000" dirty="0"/>
          </a:p>
        </p:txBody>
      </p:sp>
      <p:sp>
        <p:nvSpPr>
          <p:cNvPr id="14" name="Text 12"/>
          <p:cNvSpPr/>
          <p:nvPr/>
        </p:nvSpPr>
        <p:spPr>
          <a:xfrm>
            <a:off x="1874520" y="1819656"/>
            <a:ext cx="5943600" cy="320040"/>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John Smith surrenders credentials</a:t>
            </a:r>
            <a:endParaRPr lang="en-US" sz="1100" dirty="0"/>
          </a:p>
        </p:txBody>
      </p:sp>
      <p:sp>
        <p:nvSpPr>
          <p:cNvPr id="15" name="Shape 13"/>
          <p:cNvSpPr/>
          <p:nvPr/>
        </p:nvSpPr>
        <p:spPr>
          <a:xfrm>
            <a:off x="7909560" y="1847088"/>
            <a:ext cx="777240" cy="237744"/>
          </a:xfrm>
          <a:prstGeom prst="rect">
            <a:avLst/>
          </a:prstGeom>
          <a:solidFill>
            <a:srgbClr val="C0392B"/>
          </a:solidFill>
          <a:ln/>
        </p:spPr>
      </p:sp>
      <p:sp>
        <p:nvSpPr>
          <p:cNvPr id="16" name="Text 14"/>
          <p:cNvSpPr/>
          <p:nvPr/>
        </p:nvSpPr>
        <p:spPr>
          <a:xfrm>
            <a:off x="7909560" y="1847088"/>
            <a:ext cx="77724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ATTACK</a:t>
            </a:r>
            <a:endParaRPr lang="en-US" sz="800" dirty="0"/>
          </a:p>
        </p:txBody>
      </p:sp>
      <p:sp>
        <p:nvSpPr>
          <p:cNvPr id="17" name="Shape 15"/>
          <p:cNvSpPr/>
          <p:nvPr/>
        </p:nvSpPr>
        <p:spPr>
          <a:xfrm>
            <a:off x="1527048" y="2276856"/>
            <a:ext cx="219456" cy="219456"/>
          </a:xfrm>
          <a:prstGeom prst="ellipse">
            <a:avLst/>
          </a:prstGeom>
          <a:solidFill>
            <a:srgbClr val="D4861A"/>
          </a:solidFill>
          <a:ln w="19050">
            <a:solidFill>
              <a:srgbClr val="FFFFFF"/>
            </a:solidFill>
            <a:prstDash val="solid"/>
          </a:ln>
        </p:spPr>
      </p:sp>
      <p:sp>
        <p:nvSpPr>
          <p:cNvPr id="18" name="Text 16"/>
          <p:cNvSpPr/>
          <p:nvPr/>
        </p:nvSpPr>
        <p:spPr>
          <a:xfrm>
            <a:off x="164592" y="2221992"/>
            <a:ext cx="1316736" cy="320040"/>
          </a:xfrm>
          <a:prstGeom prst="rect">
            <a:avLst/>
          </a:prstGeom>
          <a:noFill/>
          <a:ln/>
        </p:spPr>
        <p:txBody>
          <a:bodyPr wrap="square" lIns="0" tIns="0" rIns="0" bIns="0" rtlCol="0" anchor="ctr"/>
          <a:lstStyle/>
          <a:p>
            <a:pPr algn="r" indent="0" marL="0">
              <a:buNone/>
            </a:pPr>
            <a:r>
              <a:rPr lang="en-US" sz="1000" b="1" dirty="0">
                <a:solidFill>
                  <a:srgbClr val="D4861A"/>
                </a:solidFill>
                <a:latin typeface="Calibri" pitchFamily="34" charset="0"/>
                <a:ea typeface="Calibri" pitchFamily="34" charset="-122"/>
                <a:cs typeface="Calibri" pitchFamily="34" charset="-120"/>
              </a:rPr>
              <a:t>6:10 AM</a:t>
            </a:r>
            <a:endParaRPr lang="en-US" sz="1000" dirty="0"/>
          </a:p>
        </p:txBody>
      </p:sp>
      <p:sp>
        <p:nvSpPr>
          <p:cNvPr id="19" name="Text 17"/>
          <p:cNvSpPr/>
          <p:nvPr/>
        </p:nvSpPr>
        <p:spPr>
          <a:xfrm>
            <a:off x="1874520" y="2221992"/>
            <a:ext cx="5943600" cy="320040"/>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First failed login (error 50126) — bad password</a:t>
            </a:r>
            <a:endParaRPr lang="en-US" sz="1100" dirty="0"/>
          </a:p>
        </p:txBody>
      </p:sp>
      <p:sp>
        <p:nvSpPr>
          <p:cNvPr id="20" name="Shape 18"/>
          <p:cNvSpPr/>
          <p:nvPr/>
        </p:nvSpPr>
        <p:spPr>
          <a:xfrm>
            <a:off x="7909560" y="2249424"/>
            <a:ext cx="777240" cy="237744"/>
          </a:xfrm>
          <a:prstGeom prst="rect">
            <a:avLst/>
          </a:prstGeom>
          <a:solidFill>
            <a:srgbClr val="D4861A"/>
          </a:solidFill>
          <a:ln/>
        </p:spPr>
      </p:sp>
      <p:sp>
        <p:nvSpPr>
          <p:cNvPr id="21" name="Text 19"/>
          <p:cNvSpPr/>
          <p:nvPr/>
        </p:nvSpPr>
        <p:spPr>
          <a:xfrm>
            <a:off x="7909560" y="2249424"/>
            <a:ext cx="77724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WARN</a:t>
            </a:r>
            <a:endParaRPr lang="en-US" sz="800" dirty="0"/>
          </a:p>
        </p:txBody>
      </p:sp>
      <p:sp>
        <p:nvSpPr>
          <p:cNvPr id="22" name="Shape 20"/>
          <p:cNvSpPr/>
          <p:nvPr/>
        </p:nvSpPr>
        <p:spPr>
          <a:xfrm>
            <a:off x="1527048" y="2679192"/>
            <a:ext cx="219456" cy="219456"/>
          </a:xfrm>
          <a:prstGeom prst="ellipse">
            <a:avLst/>
          </a:prstGeom>
          <a:solidFill>
            <a:srgbClr val="C0392B"/>
          </a:solidFill>
          <a:ln w="19050">
            <a:solidFill>
              <a:srgbClr val="FFFFFF"/>
            </a:solidFill>
            <a:prstDash val="solid"/>
          </a:ln>
        </p:spPr>
      </p:sp>
      <p:sp>
        <p:nvSpPr>
          <p:cNvPr id="23" name="Text 21"/>
          <p:cNvSpPr/>
          <p:nvPr/>
        </p:nvSpPr>
        <p:spPr>
          <a:xfrm>
            <a:off x="164592" y="2624328"/>
            <a:ext cx="1316736" cy="320040"/>
          </a:xfrm>
          <a:prstGeom prst="rect">
            <a:avLst/>
          </a:prstGeom>
          <a:noFill/>
          <a:ln/>
        </p:spPr>
        <p:txBody>
          <a:bodyPr wrap="square" lIns="0" tIns="0" rIns="0" bIns="0" rtlCol="0" anchor="ctr"/>
          <a:lstStyle/>
          <a:p>
            <a:pPr algn="r" indent="0" marL="0">
              <a:buNone/>
            </a:pPr>
            <a:r>
              <a:rPr lang="en-US" sz="1000" b="1" dirty="0">
                <a:solidFill>
                  <a:srgbClr val="C0392B"/>
                </a:solidFill>
                <a:latin typeface="Calibri" pitchFamily="34" charset="0"/>
                <a:ea typeface="Calibri" pitchFamily="34" charset="-122"/>
                <a:cs typeface="Calibri" pitchFamily="34" charset="-120"/>
              </a:rPr>
              <a:t>6:10 AM</a:t>
            </a:r>
            <a:endParaRPr lang="en-US" sz="1000" dirty="0"/>
          </a:p>
        </p:txBody>
      </p:sp>
      <p:sp>
        <p:nvSpPr>
          <p:cNvPr id="24" name="Text 22"/>
          <p:cNvSpPr/>
          <p:nvPr/>
        </p:nvSpPr>
        <p:spPr>
          <a:xfrm>
            <a:off x="1874520" y="2624328"/>
            <a:ext cx="5943600" cy="320040"/>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Successful single-factor login to OfficeHome</a:t>
            </a:r>
            <a:endParaRPr lang="en-US" sz="1100" dirty="0"/>
          </a:p>
        </p:txBody>
      </p:sp>
      <p:sp>
        <p:nvSpPr>
          <p:cNvPr id="25" name="Shape 23"/>
          <p:cNvSpPr/>
          <p:nvPr/>
        </p:nvSpPr>
        <p:spPr>
          <a:xfrm>
            <a:off x="7909560" y="2651760"/>
            <a:ext cx="777240" cy="237744"/>
          </a:xfrm>
          <a:prstGeom prst="rect">
            <a:avLst/>
          </a:prstGeom>
          <a:solidFill>
            <a:srgbClr val="C0392B"/>
          </a:solidFill>
          <a:ln/>
        </p:spPr>
      </p:sp>
      <p:sp>
        <p:nvSpPr>
          <p:cNvPr id="26" name="Text 24"/>
          <p:cNvSpPr/>
          <p:nvPr/>
        </p:nvSpPr>
        <p:spPr>
          <a:xfrm>
            <a:off x="7909560" y="2651760"/>
            <a:ext cx="77724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BREACH</a:t>
            </a:r>
            <a:endParaRPr lang="en-US" sz="800" dirty="0"/>
          </a:p>
        </p:txBody>
      </p:sp>
      <p:sp>
        <p:nvSpPr>
          <p:cNvPr id="27" name="Shape 25"/>
          <p:cNvSpPr/>
          <p:nvPr/>
        </p:nvSpPr>
        <p:spPr>
          <a:xfrm>
            <a:off x="1527048" y="3081528"/>
            <a:ext cx="219456" cy="219456"/>
          </a:xfrm>
          <a:prstGeom prst="ellipse">
            <a:avLst/>
          </a:prstGeom>
          <a:solidFill>
            <a:srgbClr val="C0392B"/>
          </a:solidFill>
          <a:ln w="19050">
            <a:solidFill>
              <a:srgbClr val="FFFFFF"/>
            </a:solidFill>
            <a:prstDash val="solid"/>
          </a:ln>
        </p:spPr>
      </p:sp>
      <p:sp>
        <p:nvSpPr>
          <p:cNvPr id="28" name="Text 26"/>
          <p:cNvSpPr/>
          <p:nvPr/>
        </p:nvSpPr>
        <p:spPr>
          <a:xfrm>
            <a:off x="164592" y="3026664"/>
            <a:ext cx="1316736" cy="320040"/>
          </a:xfrm>
          <a:prstGeom prst="rect">
            <a:avLst/>
          </a:prstGeom>
          <a:noFill/>
          <a:ln/>
        </p:spPr>
        <p:txBody>
          <a:bodyPr wrap="square" lIns="0" tIns="0" rIns="0" bIns="0" rtlCol="0" anchor="ctr"/>
          <a:lstStyle/>
          <a:p>
            <a:pPr algn="r" indent="0" marL="0">
              <a:buNone/>
            </a:pPr>
            <a:r>
              <a:rPr lang="en-US" sz="1000" b="1" dirty="0">
                <a:solidFill>
                  <a:srgbClr val="C0392B"/>
                </a:solidFill>
                <a:latin typeface="Calibri" pitchFamily="34" charset="0"/>
                <a:ea typeface="Calibri" pitchFamily="34" charset="-122"/>
                <a:cs typeface="Calibri" pitchFamily="34" charset="-120"/>
              </a:rPr>
              <a:t>6:41 AM</a:t>
            </a:r>
            <a:endParaRPr lang="en-US" sz="1000" dirty="0"/>
          </a:p>
        </p:txBody>
      </p:sp>
      <p:sp>
        <p:nvSpPr>
          <p:cNvPr id="29" name="Text 27"/>
          <p:cNvSpPr/>
          <p:nvPr/>
        </p:nvSpPr>
        <p:spPr>
          <a:xfrm>
            <a:off x="1874520" y="3026664"/>
            <a:ext cx="5943600" cy="320040"/>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Self-service password reset — legitimate user locked out</a:t>
            </a:r>
            <a:endParaRPr lang="en-US" sz="1100" dirty="0"/>
          </a:p>
        </p:txBody>
      </p:sp>
      <p:sp>
        <p:nvSpPr>
          <p:cNvPr id="30" name="Shape 28"/>
          <p:cNvSpPr/>
          <p:nvPr/>
        </p:nvSpPr>
        <p:spPr>
          <a:xfrm>
            <a:off x="7909560" y="3054096"/>
            <a:ext cx="777240" cy="237744"/>
          </a:xfrm>
          <a:prstGeom prst="rect">
            <a:avLst/>
          </a:prstGeom>
          <a:solidFill>
            <a:srgbClr val="C0392B"/>
          </a:solidFill>
          <a:ln/>
        </p:spPr>
      </p:sp>
      <p:sp>
        <p:nvSpPr>
          <p:cNvPr id="31" name="Text 29"/>
          <p:cNvSpPr/>
          <p:nvPr/>
        </p:nvSpPr>
        <p:spPr>
          <a:xfrm>
            <a:off x="7909560" y="3054096"/>
            <a:ext cx="77724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BREACH</a:t>
            </a:r>
            <a:endParaRPr lang="en-US" sz="800" dirty="0"/>
          </a:p>
        </p:txBody>
      </p:sp>
      <p:sp>
        <p:nvSpPr>
          <p:cNvPr id="32" name="Shape 30"/>
          <p:cNvSpPr/>
          <p:nvPr/>
        </p:nvSpPr>
        <p:spPr>
          <a:xfrm>
            <a:off x="1527048" y="3483864"/>
            <a:ext cx="219456" cy="219456"/>
          </a:xfrm>
          <a:prstGeom prst="ellipse">
            <a:avLst/>
          </a:prstGeom>
          <a:solidFill>
            <a:srgbClr val="C0392B"/>
          </a:solidFill>
          <a:ln w="19050">
            <a:solidFill>
              <a:srgbClr val="FFFFFF"/>
            </a:solidFill>
            <a:prstDash val="solid"/>
          </a:ln>
        </p:spPr>
      </p:sp>
      <p:sp>
        <p:nvSpPr>
          <p:cNvPr id="33" name="Text 31"/>
          <p:cNvSpPr/>
          <p:nvPr/>
        </p:nvSpPr>
        <p:spPr>
          <a:xfrm>
            <a:off x="164592" y="3429000"/>
            <a:ext cx="1316736" cy="320040"/>
          </a:xfrm>
          <a:prstGeom prst="rect">
            <a:avLst/>
          </a:prstGeom>
          <a:noFill/>
          <a:ln/>
        </p:spPr>
        <p:txBody>
          <a:bodyPr wrap="square" lIns="0" tIns="0" rIns="0" bIns="0" rtlCol="0" anchor="ctr"/>
          <a:lstStyle/>
          <a:p>
            <a:pPr algn="r" indent="0" marL="0">
              <a:buNone/>
            </a:pPr>
            <a:r>
              <a:rPr lang="en-US" sz="1000" b="1" dirty="0">
                <a:solidFill>
                  <a:srgbClr val="C0392B"/>
                </a:solidFill>
                <a:latin typeface="Calibri" pitchFamily="34" charset="0"/>
                <a:ea typeface="Calibri" pitchFamily="34" charset="-122"/>
                <a:cs typeface="Calibri" pitchFamily="34" charset="-120"/>
              </a:rPr>
              <a:t>6:42 AM</a:t>
            </a:r>
            <a:endParaRPr lang="en-US" sz="1000" dirty="0"/>
          </a:p>
        </p:txBody>
      </p:sp>
      <p:sp>
        <p:nvSpPr>
          <p:cNvPr id="34" name="Text 32"/>
          <p:cNvSpPr/>
          <p:nvPr/>
        </p:nvSpPr>
        <p:spPr>
          <a:xfrm>
            <a:off x="1874520" y="3429000"/>
            <a:ext cx="5943600" cy="320040"/>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Malicious group 'THIS IS PHISHED' created; org enumeration</a:t>
            </a:r>
            <a:endParaRPr lang="en-US" sz="1100" dirty="0"/>
          </a:p>
        </p:txBody>
      </p:sp>
      <p:sp>
        <p:nvSpPr>
          <p:cNvPr id="35" name="Shape 33"/>
          <p:cNvSpPr/>
          <p:nvPr/>
        </p:nvSpPr>
        <p:spPr>
          <a:xfrm>
            <a:off x="7909560" y="3456432"/>
            <a:ext cx="777240" cy="237744"/>
          </a:xfrm>
          <a:prstGeom prst="rect">
            <a:avLst/>
          </a:prstGeom>
          <a:solidFill>
            <a:srgbClr val="C0392B"/>
          </a:solidFill>
          <a:ln/>
        </p:spPr>
      </p:sp>
      <p:sp>
        <p:nvSpPr>
          <p:cNvPr id="36" name="Text 34"/>
          <p:cNvSpPr/>
          <p:nvPr/>
        </p:nvSpPr>
        <p:spPr>
          <a:xfrm>
            <a:off x="7909560" y="3456432"/>
            <a:ext cx="77724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BREACH</a:t>
            </a:r>
            <a:endParaRPr lang="en-US" sz="800" dirty="0"/>
          </a:p>
        </p:txBody>
      </p:sp>
      <p:sp>
        <p:nvSpPr>
          <p:cNvPr id="37" name="Shape 35"/>
          <p:cNvSpPr/>
          <p:nvPr/>
        </p:nvSpPr>
        <p:spPr>
          <a:xfrm>
            <a:off x="1527048" y="3886200"/>
            <a:ext cx="219456" cy="219456"/>
          </a:xfrm>
          <a:prstGeom prst="ellipse">
            <a:avLst/>
          </a:prstGeom>
          <a:solidFill>
            <a:srgbClr val="D4861A"/>
          </a:solidFill>
          <a:ln w="19050">
            <a:solidFill>
              <a:srgbClr val="FFFFFF"/>
            </a:solidFill>
            <a:prstDash val="solid"/>
          </a:ln>
        </p:spPr>
      </p:sp>
      <p:sp>
        <p:nvSpPr>
          <p:cNvPr id="38" name="Text 36"/>
          <p:cNvSpPr/>
          <p:nvPr/>
        </p:nvSpPr>
        <p:spPr>
          <a:xfrm>
            <a:off x="164592" y="3831336"/>
            <a:ext cx="1316736" cy="320040"/>
          </a:xfrm>
          <a:prstGeom prst="rect">
            <a:avLst/>
          </a:prstGeom>
          <a:noFill/>
          <a:ln/>
        </p:spPr>
        <p:txBody>
          <a:bodyPr wrap="square" lIns="0" tIns="0" rIns="0" bIns="0" rtlCol="0" anchor="ctr"/>
          <a:lstStyle/>
          <a:p>
            <a:pPr algn="r" indent="0" marL="0">
              <a:buNone/>
            </a:pPr>
            <a:r>
              <a:rPr lang="en-US" sz="1000" b="1" dirty="0">
                <a:solidFill>
                  <a:srgbClr val="D4861A"/>
                </a:solidFill>
                <a:latin typeface="Calibri" pitchFamily="34" charset="0"/>
                <a:ea typeface="Calibri" pitchFamily="34" charset="-122"/>
                <a:cs typeface="Calibri" pitchFamily="34" charset="-120"/>
              </a:rPr>
              <a:t>~7:00 AM</a:t>
            </a:r>
            <a:endParaRPr lang="en-US" sz="1000" dirty="0"/>
          </a:p>
        </p:txBody>
      </p:sp>
      <p:sp>
        <p:nvSpPr>
          <p:cNvPr id="39" name="Text 37"/>
          <p:cNvSpPr/>
          <p:nvPr/>
        </p:nvSpPr>
        <p:spPr>
          <a:xfrm>
            <a:off x="1874520" y="3831336"/>
            <a:ext cx="5943600" cy="320040"/>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Incident detected via manual sign-in log review</a:t>
            </a:r>
            <a:endParaRPr lang="en-US" sz="1100" dirty="0"/>
          </a:p>
        </p:txBody>
      </p:sp>
      <p:sp>
        <p:nvSpPr>
          <p:cNvPr id="40" name="Shape 38"/>
          <p:cNvSpPr/>
          <p:nvPr/>
        </p:nvSpPr>
        <p:spPr>
          <a:xfrm>
            <a:off x="7909560" y="3858768"/>
            <a:ext cx="777240" cy="237744"/>
          </a:xfrm>
          <a:prstGeom prst="rect">
            <a:avLst/>
          </a:prstGeom>
          <a:solidFill>
            <a:srgbClr val="D4861A"/>
          </a:solidFill>
          <a:ln/>
        </p:spPr>
      </p:sp>
      <p:sp>
        <p:nvSpPr>
          <p:cNvPr id="41" name="Text 39"/>
          <p:cNvSpPr/>
          <p:nvPr/>
        </p:nvSpPr>
        <p:spPr>
          <a:xfrm>
            <a:off x="7909560" y="3858768"/>
            <a:ext cx="77724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DETECT</a:t>
            </a:r>
            <a:endParaRPr lang="en-US" sz="800" dirty="0"/>
          </a:p>
        </p:txBody>
      </p:sp>
      <p:sp>
        <p:nvSpPr>
          <p:cNvPr id="42" name="Shape 40"/>
          <p:cNvSpPr/>
          <p:nvPr/>
        </p:nvSpPr>
        <p:spPr>
          <a:xfrm>
            <a:off x="1527048" y="4288536"/>
            <a:ext cx="219456" cy="219456"/>
          </a:xfrm>
          <a:prstGeom prst="ellipse">
            <a:avLst/>
          </a:prstGeom>
          <a:solidFill>
            <a:srgbClr val="1E7A4C"/>
          </a:solidFill>
          <a:ln w="19050">
            <a:solidFill>
              <a:srgbClr val="FFFFFF"/>
            </a:solidFill>
            <a:prstDash val="solid"/>
          </a:ln>
        </p:spPr>
      </p:sp>
      <p:sp>
        <p:nvSpPr>
          <p:cNvPr id="43" name="Text 41"/>
          <p:cNvSpPr/>
          <p:nvPr/>
        </p:nvSpPr>
        <p:spPr>
          <a:xfrm>
            <a:off x="164592" y="4233672"/>
            <a:ext cx="1316736" cy="320040"/>
          </a:xfrm>
          <a:prstGeom prst="rect">
            <a:avLst/>
          </a:prstGeom>
          <a:noFill/>
          <a:ln/>
        </p:spPr>
        <p:txBody>
          <a:bodyPr wrap="square" lIns="0" tIns="0" rIns="0" bIns="0" rtlCol="0" anchor="ctr"/>
          <a:lstStyle/>
          <a:p>
            <a:pPr algn="r" indent="0" marL="0">
              <a:buNone/>
            </a:pPr>
            <a:r>
              <a:rPr lang="en-US" sz="1000" b="1" dirty="0">
                <a:solidFill>
                  <a:srgbClr val="1E7A4C"/>
                </a:solidFill>
                <a:latin typeface="Calibri" pitchFamily="34" charset="0"/>
                <a:ea typeface="Calibri" pitchFamily="34" charset="-122"/>
                <a:cs typeface="Calibri" pitchFamily="34" charset="-120"/>
              </a:rPr>
              <a:t>~7:10 AM</a:t>
            </a:r>
            <a:endParaRPr lang="en-US" sz="1000" dirty="0"/>
          </a:p>
        </p:txBody>
      </p:sp>
      <p:sp>
        <p:nvSpPr>
          <p:cNvPr id="44" name="Text 42"/>
          <p:cNvSpPr/>
          <p:nvPr/>
        </p:nvSpPr>
        <p:spPr>
          <a:xfrm>
            <a:off x="1874520" y="4233672"/>
            <a:ext cx="5943600" cy="320040"/>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Sessions revoked; password reset initiated</a:t>
            </a:r>
            <a:endParaRPr lang="en-US" sz="1100" dirty="0"/>
          </a:p>
        </p:txBody>
      </p:sp>
      <p:sp>
        <p:nvSpPr>
          <p:cNvPr id="45" name="Shape 43"/>
          <p:cNvSpPr/>
          <p:nvPr/>
        </p:nvSpPr>
        <p:spPr>
          <a:xfrm>
            <a:off x="7909560" y="4261104"/>
            <a:ext cx="777240" cy="237744"/>
          </a:xfrm>
          <a:prstGeom prst="rect">
            <a:avLst/>
          </a:prstGeom>
          <a:solidFill>
            <a:srgbClr val="1E7A4C"/>
          </a:solidFill>
          <a:ln/>
        </p:spPr>
      </p:sp>
      <p:sp>
        <p:nvSpPr>
          <p:cNvPr id="46" name="Text 44"/>
          <p:cNvSpPr/>
          <p:nvPr/>
        </p:nvSpPr>
        <p:spPr>
          <a:xfrm>
            <a:off x="7909560" y="4261104"/>
            <a:ext cx="77724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CONTAIN</a:t>
            </a:r>
            <a:endParaRPr lang="en-US" sz="800" dirty="0"/>
          </a:p>
        </p:txBody>
      </p:sp>
      <p:sp>
        <p:nvSpPr>
          <p:cNvPr id="47" name="Shape 45"/>
          <p:cNvSpPr/>
          <p:nvPr/>
        </p:nvSpPr>
        <p:spPr>
          <a:xfrm>
            <a:off x="1527048" y="4690872"/>
            <a:ext cx="219456" cy="219456"/>
          </a:xfrm>
          <a:prstGeom prst="ellipse">
            <a:avLst/>
          </a:prstGeom>
          <a:solidFill>
            <a:srgbClr val="1E7A4C"/>
          </a:solidFill>
          <a:ln w="19050">
            <a:solidFill>
              <a:srgbClr val="FFFFFF"/>
            </a:solidFill>
            <a:prstDash val="solid"/>
          </a:ln>
        </p:spPr>
      </p:sp>
      <p:sp>
        <p:nvSpPr>
          <p:cNvPr id="48" name="Text 46"/>
          <p:cNvSpPr/>
          <p:nvPr/>
        </p:nvSpPr>
        <p:spPr>
          <a:xfrm>
            <a:off x="164592" y="4636008"/>
            <a:ext cx="1316736" cy="320040"/>
          </a:xfrm>
          <a:prstGeom prst="rect">
            <a:avLst/>
          </a:prstGeom>
          <a:noFill/>
          <a:ln/>
        </p:spPr>
        <p:txBody>
          <a:bodyPr wrap="square" lIns="0" tIns="0" rIns="0" bIns="0" rtlCol="0" anchor="ctr"/>
          <a:lstStyle/>
          <a:p>
            <a:pPr algn="r" indent="0" marL="0">
              <a:buNone/>
            </a:pPr>
            <a:r>
              <a:rPr lang="en-US" sz="1000" b="1" dirty="0">
                <a:solidFill>
                  <a:srgbClr val="1E7A4C"/>
                </a:solidFill>
                <a:latin typeface="Calibri" pitchFamily="34" charset="0"/>
                <a:ea typeface="Calibri" pitchFamily="34" charset="-122"/>
                <a:cs typeface="Calibri" pitchFamily="34" charset="-120"/>
              </a:rPr>
              <a:t>~7:30 AM</a:t>
            </a:r>
            <a:endParaRPr lang="en-US" sz="1000" dirty="0"/>
          </a:p>
        </p:txBody>
      </p:sp>
      <p:sp>
        <p:nvSpPr>
          <p:cNvPr id="49" name="Text 47"/>
          <p:cNvSpPr/>
          <p:nvPr/>
        </p:nvSpPr>
        <p:spPr>
          <a:xfrm>
            <a:off x="1874520" y="4636008"/>
            <a:ext cx="5943600" cy="320040"/>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Zero Trust CA policies deployed; MFA registration enforced</a:t>
            </a:r>
            <a:endParaRPr lang="en-US" sz="1100" dirty="0"/>
          </a:p>
        </p:txBody>
      </p:sp>
      <p:sp>
        <p:nvSpPr>
          <p:cNvPr id="50" name="Shape 48"/>
          <p:cNvSpPr/>
          <p:nvPr/>
        </p:nvSpPr>
        <p:spPr>
          <a:xfrm>
            <a:off x="7909560" y="4663440"/>
            <a:ext cx="777240" cy="237744"/>
          </a:xfrm>
          <a:prstGeom prst="rect">
            <a:avLst/>
          </a:prstGeom>
          <a:solidFill>
            <a:srgbClr val="1E7A4C"/>
          </a:solidFill>
          <a:ln/>
        </p:spPr>
      </p:sp>
      <p:sp>
        <p:nvSpPr>
          <p:cNvPr id="51" name="Text 49"/>
          <p:cNvSpPr/>
          <p:nvPr/>
        </p:nvSpPr>
        <p:spPr>
          <a:xfrm>
            <a:off x="7909560" y="4663440"/>
            <a:ext cx="77724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HARDEN</a:t>
            </a:r>
            <a:endParaRPr lang="en-US" sz="800" dirty="0"/>
          </a:p>
        </p:txBody>
      </p:sp>
      <p:sp>
        <p:nvSpPr>
          <p:cNvPr id="52" name="Text 50"/>
          <p:cNvSpPr/>
          <p:nvPr/>
        </p:nvSpPr>
        <p:spPr>
          <a:xfrm>
            <a:off x="0" y="4864608"/>
            <a:ext cx="9144000" cy="274320"/>
          </a:xfrm>
          <a:prstGeom prst="rect">
            <a:avLst/>
          </a:prstGeom>
          <a:noFill/>
          <a:ln/>
        </p:spPr>
        <p:txBody>
          <a:bodyPr wrap="square" lIns="0" tIns="0" rIns="0" bIns="0" rtlCol="0" anchor="ctr"/>
          <a:lstStyle/>
          <a:p>
            <a:pPr algn="ctr" indent="0" marL="0">
              <a:buNone/>
            </a:pPr>
            <a:r>
              <a:rPr lang="en-US" sz="900" dirty="0">
                <a:solidFill>
                  <a:srgbClr val="8899AA"/>
                </a:solidFill>
                <a:latin typeface="Calibri" pitchFamily="34" charset="0"/>
                <a:ea typeface="Calibri" pitchFamily="34" charset="-122"/>
                <a:cs typeface="Calibri" pitchFamily="34" charset="-120"/>
              </a:rPr>
              <a:t>INC-2026-0322-001 | CONFIDENTIAL — INTERNAL USE ONLY | Slide 10 of 14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8F0FA"/>
        </a:solidFill>
      </p:bgPr>
    </p:bg>
    <p:spTree>
      <p:nvGrpSpPr>
        <p:cNvPr id="1" name=""/>
        <p:cNvGrpSpPr/>
        <p:nvPr/>
      </p:nvGrpSpPr>
      <p:grpSpPr>
        <a:xfrm>
          <a:off x="0" y="0"/>
          <a:ext cx="0" cy="0"/>
          <a:chOff x="0" y="0"/>
          <a:chExt cx="0" cy="0"/>
        </a:xfrm>
      </p:grpSpPr>
      <p:sp>
        <p:nvSpPr>
          <p:cNvPr id="2" name="Shape 0"/>
          <p:cNvSpPr/>
          <p:nvPr/>
        </p:nvSpPr>
        <p:spPr>
          <a:xfrm>
            <a:off x="457200" y="256032"/>
            <a:ext cx="45720" cy="347472"/>
          </a:xfrm>
          <a:prstGeom prst="rect">
            <a:avLst/>
          </a:prstGeom>
          <a:solidFill>
            <a:srgbClr val="C0392B"/>
          </a:solidFill>
          <a:ln/>
        </p:spPr>
      </p:sp>
      <p:sp>
        <p:nvSpPr>
          <p:cNvPr id="3" name="Text 1"/>
          <p:cNvSpPr/>
          <p:nvPr/>
        </p:nvSpPr>
        <p:spPr>
          <a:xfrm>
            <a:off x="566928" y="228600"/>
            <a:ext cx="7315200" cy="411480"/>
          </a:xfrm>
          <a:prstGeom prst="rect">
            <a:avLst/>
          </a:prstGeom>
          <a:noFill/>
          <a:ln/>
        </p:spPr>
        <p:txBody>
          <a:bodyPr wrap="square" lIns="0" tIns="0" rIns="0" bIns="0" rtlCol="0" anchor="ctr"/>
          <a:lstStyle/>
          <a:p>
            <a:pPr indent="0" marL="0">
              <a:buNone/>
            </a:pPr>
            <a:r>
              <a:rPr lang="en-US" sz="1100" b="1" spc="200" kern="0" dirty="0">
                <a:solidFill>
                  <a:srgbClr val="8899AA"/>
                </a:solidFill>
                <a:latin typeface="Calibri" pitchFamily="34" charset="0"/>
                <a:ea typeface="Calibri" pitchFamily="34" charset="-122"/>
                <a:cs typeface="Calibri" pitchFamily="34" charset="-120"/>
              </a:rPr>
              <a:t>SECURITY ANALYSIS</a:t>
            </a:r>
            <a:endParaRPr lang="en-US" sz="1100" dirty="0"/>
          </a:p>
        </p:txBody>
      </p:sp>
      <p:sp>
        <p:nvSpPr>
          <p:cNvPr id="4" name="Text 2"/>
          <p:cNvSpPr/>
          <p:nvPr/>
        </p:nvSpPr>
        <p:spPr>
          <a:xfrm>
            <a:off x="502920" y="658368"/>
            <a:ext cx="8138160" cy="685800"/>
          </a:xfrm>
          <a:prstGeom prst="rect">
            <a:avLst/>
          </a:prstGeom>
          <a:noFill/>
          <a:ln/>
        </p:spPr>
        <p:txBody>
          <a:bodyPr wrap="square" lIns="0" tIns="0" rIns="0" bIns="0" rtlCol="0" anchor="ctr"/>
          <a:lstStyle/>
          <a:p>
            <a:pPr indent="0" marL="0">
              <a:buNone/>
            </a:pPr>
            <a:r>
              <a:rPr lang="en-US" sz="2800" b="1" dirty="0">
                <a:solidFill>
                  <a:srgbClr val="1A2335"/>
                </a:solidFill>
                <a:latin typeface="Calibri" pitchFamily="34" charset="0"/>
                <a:ea typeface="Calibri" pitchFamily="34" charset="-122"/>
                <a:cs typeface="Calibri" pitchFamily="34" charset="-120"/>
              </a:rPr>
              <a:t>Key Control Gaps Identified</a:t>
            </a:r>
            <a:endParaRPr lang="en-US" sz="2800" dirty="0"/>
          </a:p>
        </p:txBody>
      </p:sp>
      <p:sp>
        <p:nvSpPr>
          <p:cNvPr id="5" name="Shape 3"/>
          <p:cNvSpPr/>
          <p:nvPr/>
        </p:nvSpPr>
        <p:spPr>
          <a:xfrm>
            <a:off x="502920" y="1371600"/>
            <a:ext cx="8138160" cy="0"/>
          </a:xfrm>
          <a:prstGeom prst="line">
            <a:avLst/>
          </a:prstGeom>
          <a:noFill/>
          <a:ln w="12700">
            <a:solidFill>
              <a:srgbClr val="D0DAE8"/>
            </a:solidFill>
            <a:prstDash val="solid"/>
          </a:ln>
        </p:spPr>
      </p:sp>
      <p:sp>
        <p:nvSpPr>
          <p:cNvPr id="6" name="Shape 4"/>
          <p:cNvSpPr/>
          <p:nvPr/>
        </p:nvSpPr>
        <p:spPr>
          <a:xfrm>
            <a:off x="457200" y="1554480"/>
            <a:ext cx="4114800" cy="1645920"/>
          </a:xfrm>
          <a:prstGeom prst="rect">
            <a:avLst/>
          </a:prstGeom>
          <a:solidFill>
            <a:srgbClr val="FFFFFF"/>
          </a:solidFill>
          <a:ln w="6350">
            <a:solidFill>
              <a:srgbClr val="D0DAE8"/>
            </a:solidFill>
            <a:prstDash val="solid"/>
          </a:ln>
          <a:effectLst>
            <a:outerShdw sx="100000" sy="100000" kx="0" ky="0" algn="bl" rotWithShape="0" blurRad="63500" dist="25400" dir="8100000">
              <a:srgbClr val="000000">
                <a:alpha val="12000"/>
              </a:srgbClr>
            </a:outerShdw>
          </a:effectLst>
        </p:spPr>
      </p:sp>
      <p:sp>
        <p:nvSpPr>
          <p:cNvPr id="7" name="Shape 5"/>
          <p:cNvSpPr/>
          <p:nvPr/>
        </p:nvSpPr>
        <p:spPr>
          <a:xfrm>
            <a:off x="457200" y="1554480"/>
            <a:ext cx="4114800" cy="347472"/>
          </a:xfrm>
          <a:prstGeom prst="rect">
            <a:avLst/>
          </a:prstGeom>
          <a:solidFill>
            <a:srgbClr val="C0392B"/>
          </a:solidFill>
          <a:ln/>
        </p:spPr>
      </p:sp>
      <p:sp>
        <p:nvSpPr>
          <p:cNvPr id="8" name="Text 6"/>
          <p:cNvSpPr/>
          <p:nvPr/>
        </p:nvSpPr>
        <p:spPr>
          <a:xfrm>
            <a:off x="548640" y="1554480"/>
            <a:ext cx="274320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Finding 1  ·  CRITICAL</a:t>
            </a:r>
            <a:endParaRPr lang="en-US" sz="1100" dirty="0"/>
          </a:p>
        </p:txBody>
      </p:sp>
      <p:sp>
        <p:nvSpPr>
          <p:cNvPr id="9" name="Text 7"/>
          <p:cNvSpPr/>
          <p:nvPr/>
        </p:nvSpPr>
        <p:spPr>
          <a:xfrm>
            <a:off x="548640" y="1938528"/>
            <a:ext cx="3931920" cy="320040"/>
          </a:xfrm>
          <a:prstGeom prst="rect">
            <a:avLst/>
          </a:prstGeom>
          <a:noFill/>
          <a:ln/>
        </p:spPr>
        <p:txBody>
          <a:bodyPr wrap="square" lIns="0" tIns="0" rIns="0" bIns="0" rtlCol="0" anchor="ctr"/>
          <a:lstStyle/>
          <a:p>
            <a:pPr indent="0" marL="0">
              <a:buNone/>
            </a:pPr>
            <a:r>
              <a:rPr lang="en-US" sz="1400" b="1" dirty="0">
                <a:solidFill>
                  <a:srgbClr val="1A2335"/>
                </a:solidFill>
                <a:latin typeface="Calibri" pitchFamily="34" charset="0"/>
                <a:ea typeface="Calibri" pitchFamily="34" charset="-122"/>
                <a:cs typeface="Calibri" pitchFamily="34" charset="-120"/>
              </a:rPr>
              <a:t>MFA Not Enforced</a:t>
            </a:r>
            <a:endParaRPr lang="en-US" sz="1400" dirty="0"/>
          </a:p>
        </p:txBody>
      </p:sp>
      <p:sp>
        <p:nvSpPr>
          <p:cNvPr id="10" name="Text 8"/>
          <p:cNvSpPr/>
          <p:nvPr/>
        </p:nvSpPr>
        <p:spPr>
          <a:xfrm>
            <a:off x="548640" y="2267712"/>
            <a:ext cx="3931920" cy="502920"/>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Policy existed but user registration was never enforced. An incomplete MFA registration voids the policy entirely.</a:t>
            </a:r>
            <a:endParaRPr lang="en-US" sz="1100" dirty="0"/>
          </a:p>
        </p:txBody>
      </p:sp>
      <p:sp>
        <p:nvSpPr>
          <p:cNvPr id="11" name="Shape 9"/>
          <p:cNvSpPr/>
          <p:nvPr/>
        </p:nvSpPr>
        <p:spPr>
          <a:xfrm>
            <a:off x="548640" y="2788920"/>
            <a:ext cx="3840480" cy="0"/>
          </a:xfrm>
          <a:prstGeom prst="line">
            <a:avLst/>
          </a:prstGeom>
          <a:noFill/>
          <a:ln w="6350">
            <a:solidFill>
              <a:srgbClr val="D0DAE8"/>
            </a:solidFill>
            <a:prstDash val="solid"/>
          </a:ln>
        </p:spPr>
      </p:sp>
      <p:sp>
        <p:nvSpPr>
          <p:cNvPr id="12" name="Text 10"/>
          <p:cNvSpPr/>
          <p:nvPr/>
        </p:nvSpPr>
        <p:spPr>
          <a:xfrm>
            <a:off x="548640" y="2834640"/>
            <a:ext cx="3931920" cy="292608"/>
          </a:xfrm>
          <a:prstGeom prst="rect">
            <a:avLst/>
          </a:prstGeom>
          <a:noFill/>
          <a:ln/>
        </p:spPr>
        <p:txBody>
          <a:bodyPr wrap="square" lIns="0" tIns="0" rIns="0" bIns="0" rtlCol="0" anchor="ctr"/>
          <a:lstStyle/>
          <a:p>
            <a:pPr indent="0" marL="0">
              <a:buNone/>
            </a:pPr>
            <a:r>
              <a:rPr lang="en-US" sz="1000" dirty="0">
                <a:solidFill>
                  <a:srgbClr val="1E7A4C"/>
                </a:solidFill>
                <a:latin typeface="Calibri" pitchFamily="34" charset="0"/>
                <a:ea typeface="Calibri" pitchFamily="34" charset="-122"/>
                <a:cs typeface="Calibri" pitchFamily="34" charset="-120"/>
              </a:rPr>
              <a:t>✅  Mandatory MFA registration CA policy before first login.</a:t>
            </a:r>
            <a:endParaRPr lang="en-US" sz="1000" dirty="0"/>
          </a:p>
        </p:txBody>
      </p:sp>
      <p:sp>
        <p:nvSpPr>
          <p:cNvPr id="13" name="Shape 11"/>
          <p:cNvSpPr/>
          <p:nvPr/>
        </p:nvSpPr>
        <p:spPr>
          <a:xfrm>
            <a:off x="457200" y="3337560"/>
            <a:ext cx="4114800" cy="1645920"/>
          </a:xfrm>
          <a:prstGeom prst="rect">
            <a:avLst/>
          </a:prstGeom>
          <a:solidFill>
            <a:srgbClr val="FFFFFF"/>
          </a:solidFill>
          <a:ln w="6350">
            <a:solidFill>
              <a:srgbClr val="D0DAE8"/>
            </a:solidFill>
            <a:prstDash val="solid"/>
          </a:ln>
          <a:effectLst>
            <a:outerShdw sx="100000" sy="100000" kx="0" ky="0" algn="bl" rotWithShape="0" blurRad="63500" dist="25400" dir="8100000">
              <a:srgbClr val="000000">
                <a:alpha val="12000"/>
              </a:srgbClr>
            </a:outerShdw>
          </a:effectLst>
        </p:spPr>
      </p:sp>
      <p:sp>
        <p:nvSpPr>
          <p:cNvPr id="14" name="Shape 12"/>
          <p:cNvSpPr/>
          <p:nvPr/>
        </p:nvSpPr>
        <p:spPr>
          <a:xfrm>
            <a:off x="457200" y="3337560"/>
            <a:ext cx="4114800" cy="347472"/>
          </a:xfrm>
          <a:prstGeom prst="rect">
            <a:avLst/>
          </a:prstGeom>
          <a:solidFill>
            <a:srgbClr val="D4861A"/>
          </a:solidFill>
          <a:ln/>
        </p:spPr>
      </p:sp>
      <p:sp>
        <p:nvSpPr>
          <p:cNvPr id="15" name="Text 13"/>
          <p:cNvSpPr/>
          <p:nvPr/>
        </p:nvSpPr>
        <p:spPr>
          <a:xfrm>
            <a:off x="548640" y="3337560"/>
            <a:ext cx="274320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Finding 2  ·  HIGH</a:t>
            </a:r>
            <a:endParaRPr lang="en-US" sz="1100" dirty="0"/>
          </a:p>
        </p:txBody>
      </p:sp>
      <p:sp>
        <p:nvSpPr>
          <p:cNvPr id="16" name="Text 14"/>
          <p:cNvSpPr/>
          <p:nvPr/>
        </p:nvSpPr>
        <p:spPr>
          <a:xfrm>
            <a:off x="548640" y="3721608"/>
            <a:ext cx="3931920" cy="320040"/>
          </a:xfrm>
          <a:prstGeom prst="rect">
            <a:avLst/>
          </a:prstGeom>
          <a:noFill/>
          <a:ln/>
        </p:spPr>
        <p:txBody>
          <a:bodyPr wrap="square" lIns="0" tIns="0" rIns="0" bIns="0" rtlCol="0" anchor="ctr"/>
          <a:lstStyle/>
          <a:p>
            <a:pPr indent="0" marL="0">
              <a:buNone/>
            </a:pPr>
            <a:r>
              <a:rPr lang="en-US" sz="1400" b="1" dirty="0">
                <a:solidFill>
                  <a:srgbClr val="1A2335"/>
                </a:solidFill>
                <a:latin typeface="Calibri" pitchFamily="34" charset="0"/>
                <a:ea typeface="Calibri" pitchFamily="34" charset="-122"/>
                <a:cs typeface="Calibri" pitchFamily="34" charset="-120"/>
              </a:rPr>
              <a:t>SSPR Not Restricted</a:t>
            </a:r>
            <a:endParaRPr lang="en-US" sz="1400" dirty="0"/>
          </a:p>
        </p:txBody>
      </p:sp>
      <p:sp>
        <p:nvSpPr>
          <p:cNvPr id="17" name="Text 15"/>
          <p:cNvSpPr/>
          <p:nvPr/>
        </p:nvSpPr>
        <p:spPr>
          <a:xfrm>
            <a:off x="548640" y="4050792"/>
            <a:ext cx="3931920" cy="502920"/>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Self-service password reset had no location or device compliance requirements, enabling attacker lockout.</a:t>
            </a:r>
            <a:endParaRPr lang="en-US" sz="1100" dirty="0"/>
          </a:p>
        </p:txBody>
      </p:sp>
      <p:sp>
        <p:nvSpPr>
          <p:cNvPr id="18" name="Shape 16"/>
          <p:cNvSpPr/>
          <p:nvPr/>
        </p:nvSpPr>
        <p:spPr>
          <a:xfrm>
            <a:off x="548640" y="4572000"/>
            <a:ext cx="3840480" cy="0"/>
          </a:xfrm>
          <a:prstGeom prst="line">
            <a:avLst/>
          </a:prstGeom>
          <a:noFill/>
          <a:ln w="6350">
            <a:solidFill>
              <a:srgbClr val="D0DAE8"/>
            </a:solidFill>
            <a:prstDash val="solid"/>
          </a:ln>
        </p:spPr>
      </p:sp>
      <p:sp>
        <p:nvSpPr>
          <p:cNvPr id="19" name="Text 17"/>
          <p:cNvSpPr/>
          <p:nvPr/>
        </p:nvSpPr>
        <p:spPr>
          <a:xfrm>
            <a:off x="548640" y="4617720"/>
            <a:ext cx="3931920" cy="292608"/>
          </a:xfrm>
          <a:prstGeom prst="rect">
            <a:avLst/>
          </a:prstGeom>
          <a:noFill/>
          <a:ln/>
        </p:spPr>
        <p:txBody>
          <a:bodyPr wrap="square" lIns="0" tIns="0" rIns="0" bIns="0" rtlCol="0" anchor="ctr"/>
          <a:lstStyle/>
          <a:p>
            <a:pPr indent="0" marL="0">
              <a:buNone/>
            </a:pPr>
            <a:r>
              <a:rPr lang="en-US" sz="1000" dirty="0">
                <a:solidFill>
                  <a:srgbClr val="1E7A4C"/>
                </a:solidFill>
                <a:latin typeface="Calibri" pitchFamily="34" charset="0"/>
                <a:ea typeface="Calibri" pitchFamily="34" charset="-122"/>
                <a:cs typeface="Calibri" pitchFamily="34" charset="-120"/>
              </a:rPr>
              <a:t>✅  Require MFA or manager approval for all SSPR requests.</a:t>
            </a:r>
            <a:endParaRPr lang="en-US" sz="1000" dirty="0"/>
          </a:p>
        </p:txBody>
      </p:sp>
      <p:sp>
        <p:nvSpPr>
          <p:cNvPr id="20" name="Shape 18"/>
          <p:cNvSpPr/>
          <p:nvPr/>
        </p:nvSpPr>
        <p:spPr>
          <a:xfrm>
            <a:off x="4754880" y="1554480"/>
            <a:ext cx="4114800" cy="1645920"/>
          </a:xfrm>
          <a:prstGeom prst="rect">
            <a:avLst/>
          </a:prstGeom>
          <a:solidFill>
            <a:srgbClr val="FFFFFF"/>
          </a:solidFill>
          <a:ln w="6350">
            <a:solidFill>
              <a:srgbClr val="D0DAE8"/>
            </a:solidFill>
            <a:prstDash val="solid"/>
          </a:ln>
          <a:effectLst>
            <a:outerShdw sx="100000" sy="100000" kx="0" ky="0" algn="bl" rotWithShape="0" blurRad="63500" dist="25400" dir="8100000">
              <a:srgbClr val="000000">
                <a:alpha val="12000"/>
              </a:srgbClr>
            </a:outerShdw>
          </a:effectLst>
        </p:spPr>
      </p:sp>
      <p:sp>
        <p:nvSpPr>
          <p:cNvPr id="21" name="Shape 19"/>
          <p:cNvSpPr/>
          <p:nvPr/>
        </p:nvSpPr>
        <p:spPr>
          <a:xfrm>
            <a:off x="4754880" y="1554480"/>
            <a:ext cx="4114800" cy="347472"/>
          </a:xfrm>
          <a:prstGeom prst="rect">
            <a:avLst/>
          </a:prstGeom>
          <a:solidFill>
            <a:srgbClr val="D4861A"/>
          </a:solidFill>
          <a:ln/>
        </p:spPr>
      </p:sp>
      <p:sp>
        <p:nvSpPr>
          <p:cNvPr id="22" name="Text 20"/>
          <p:cNvSpPr/>
          <p:nvPr/>
        </p:nvSpPr>
        <p:spPr>
          <a:xfrm>
            <a:off x="4846320" y="1554480"/>
            <a:ext cx="274320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Finding 3  ·  HIGH</a:t>
            </a:r>
            <a:endParaRPr lang="en-US" sz="1100" dirty="0"/>
          </a:p>
        </p:txBody>
      </p:sp>
      <p:sp>
        <p:nvSpPr>
          <p:cNvPr id="23" name="Text 21"/>
          <p:cNvSpPr/>
          <p:nvPr/>
        </p:nvSpPr>
        <p:spPr>
          <a:xfrm>
            <a:off x="4846320" y="1938528"/>
            <a:ext cx="3931920" cy="320040"/>
          </a:xfrm>
          <a:prstGeom prst="rect">
            <a:avLst/>
          </a:prstGeom>
          <a:noFill/>
          <a:ln/>
        </p:spPr>
        <p:txBody>
          <a:bodyPr wrap="square" lIns="0" tIns="0" rIns="0" bIns="0" rtlCol="0" anchor="ctr"/>
          <a:lstStyle/>
          <a:p>
            <a:pPr indent="0" marL="0">
              <a:buNone/>
            </a:pPr>
            <a:r>
              <a:rPr lang="en-US" sz="1400" b="1" dirty="0">
                <a:solidFill>
                  <a:srgbClr val="1A2335"/>
                </a:solidFill>
                <a:latin typeface="Calibri" pitchFamily="34" charset="0"/>
                <a:ea typeface="Calibri" pitchFamily="34" charset="-122"/>
                <a:cs typeface="Calibri" pitchFamily="34" charset="-120"/>
              </a:rPr>
              <a:t>No Cloud Identity Alerting</a:t>
            </a:r>
            <a:endParaRPr lang="en-US" sz="1400" dirty="0"/>
          </a:p>
        </p:txBody>
      </p:sp>
      <p:sp>
        <p:nvSpPr>
          <p:cNvPr id="24" name="Text 22"/>
          <p:cNvSpPr/>
          <p:nvPr/>
        </p:nvSpPr>
        <p:spPr>
          <a:xfrm>
            <a:off x="4846320" y="2267712"/>
            <a:ext cx="3931920" cy="502920"/>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Wazuh monitored the endpoint but had zero visibility into Entra ID events — a 3h40m detection gap.</a:t>
            </a:r>
            <a:endParaRPr lang="en-US" sz="1100" dirty="0"/>
          </a:p>
        </p:txBody>
      </p:sp>
      <p:sp>
        <p:nvSpPr>
          <p:cNvPr id="25" name="Shape 23"/>
          <p:cNvSpPr/>
          <p:nvPr/>
        </p:nvSpPr>
        <p:spPr>
          <a:xfrm>
            <a:off x="4846320" y="2788920"/>
            <a:ext cx="3840480" cy="0"/>
          </a:xfrm>
          <a:prstGeom prst="line">
            <a:avLst/>
          </a:prstGeom>
          <a:noFill/>
          <a:ln w="6350">
            <a:solidFill>
              <a:srgbClr val="D0DAE8"/>
            </a:solidFill>
            <a:prstDash val="solid"/>
          </a:ln>
        </p:spPr>
      </p:sp>
      <p:sp>
        <p:nvSpPr>
          <p:cNvPr id="26" name="Text 24"/>
          <p:cNvSpPr/>
          <p:nvPr/>
        </p:nvSpPr>
        <p:spPr>
          <a:xfrm>
            <a:off x="4846320" y="2834640"/>
            <a:ext cx="3931920" cy="292608"/>
          </a:xfrm>
          <a:prstGeom prst="rect">
            <a:avLst/>
          </a:prstGeom>
          <a:noFill/>
          <a:ln/>
        </p:spPr>
        <p:txBody>
          <a:bodyPr wrap="square" lIns="0" tIns="0" rIns="0" bIns="0" rtlCol="0" anchor="ctr"/>
          <a:lstStyle/>
          <a:p>
            <a:pPr indent="0" marL="0">
              <a:buNone/>
            </a:pPr>
            <a:r>
              <a:rPr lang="en-US" sz="1000" dirty="0">
                <a:solidFill>
                  <a:srgbClr val="1E7A4C"/>
                </a:solidFill>
                <a:latin typeface="Calibri" pitchFamily="34" charset="0"/>
                <a:ea typeface="Calibri" pitchFamily="34" charset="-122"/>
                <a:cs typeface="Calibri" pitchFamily="34" charset="-120"/>
              </a:rPr>
              <a:t>✅  Integrate Microsoft Graph API into Wazuh; configure Entra ID alert rules.</a:t>
            </a:r>
            <a:endParaRPr lang="en-US" sz="1000" dirty="0"/>
          </a:p>
        </p:txBody>
      </p:sp>
      <p:sp>
        <p:nvSpPr>
          <p:cNvPr id="27" name="Shape 25"/>
          <p:cNvSpPr/>
          <p:nvPr/>
        </p:nvSpPr>
        <p:spPr>
          <a:xfrm>
            <a:off x="4754880" y="3337560"/>
            <a:ext cx="4114800" cy="1645920"/>
          </a:xfrm>
          <a:prstGeom prst="rect">
            <a:avLst/>
          </a:prstGeom>
          <a:solidFill>
            <a:srgbClr val="FFFFFF"/>
          </a:solidFill>
          <a:ln w="6350">
            <a:solidFill>
              <a:srgbClr val="D0DAE8"/>
            </a:solidFill>
            <a:prstDash val="solid"/>
          </a:ln>
          <a:effectLst>
            <a:outerShdw sx="100000" sy="100000" kx="0" ky="0" algn="bl" rotWithShape="0" blurRad="63500" dist="25400" dir="8100000">
              <a:srgbClr val="000000">
                <a:alpha val="12000"/>
              </a:srgbClr>
            </a:outerShdw>
          </a:effectLst>
        </p:spPr>
      </p:sp>
      <p:sp>
        <p:nvSpPr>
          <p:cNvPr id="28" name="Shape 26"/>
          <p:cNvSpPr/>
          <p:nvPr/>
        </p:nvSpPr>
        <p:spPr>
          <a:xfrm>
            <a:off x="4754880" y="3337560"/>
            <a:ext cx="4114800" cy="347472"/>
          </a:xfrm>
          <a:prstGeom prst="rect">
            <a:avLst/>
          </a:prstGeom>
          <a:solidFill>
            <a:srgbClr val="0D1B2A"/>
          </a:solidFill>
          <a:ln/>
        </p:spPr>
      </p:sp>
      <p:sp>
        <p:nvSpPr>
          <p:cNvPr id="29" name="Text 27"/>
          <p:cNvSpPr/>
          <p:nvPr/>
        </p:nvSpPr>
        <p:spPr>
          <a:xfrm>
            <a:off x="4846320" y="3337560"/>
            <a:ext cx="274320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Finding 4  ·  MEDIUM</a:t>
            </a:r>
            <a:endParaRPr lang="en-US" sz="1100" dirty="0"/>
          </a:p>
        </p:txBody>
      </p:sp>
      <p:sp>
        <p:nvSpPr>
          <p:cNvPr id="30" name="Text 28"/>
          <p:cNvSpPr/>
          <p:nvPr/>
        </p:nvSpPr>
        <p:spPr>
          <a:xfrm>
            <a:off x="4846320" y="3721608"/>
            <a:ext cx="3931920" cy="320040"/>
          </a:xfrm>
          <a:prstGeom prst="rect">
            <a:avLst/>
          </a:prstGeom>
          <a:noFill/>
          <a:ln/>
        </p:spPr>
        <p:txBody>
          <a:bodyPr wrap="square" lIns="0" tIns="0" rIns="0" bIns="0" rtlCol="0" anchor="ctr"/>
          <a:lstStyle/>
          <a:p>
            <a:pPr indent="0" marL="0">
              <a:buNone/>
            </a:pPr>
            <a:r>
              <a:rPr lang="en-US" sz="1400" b="1" dirty="0">
                <a:solidFill>
                  <a:srgbClr val="1A2335"/>
                </a:solidFill>
                <a:latin typeface="Calibri" pitchFamily="34" charset="0"/>
                <a:ea typeface="Calibri" pitchFamily="34" charset="-122"/>
                <a:cs typeface="Calibri" pitchFamily="34" charset="-120"/>
              </a:rPr>
              <a:t>Vishing Awareness Gap</a:t>
            </a:r>
            <a:endParaRPr lang="en-US" sz="1400" dirty="0"/>
          </a:p>
        </p:txBody>
      </p:sp>
      <p:sp>
        <p:nvSpPr>
          <p:cNvPr id="31" name="Text 29"/>
          <p:cNvSpPr/>
          <p:nvPr/>
        </p:nvSpPr>
        <p:spPr>
          <a:xfrm>
            <a:off x="4846320" y="4050792"/>
            <a:ext cx="3931920" cy="502920"/>
          </a:xfrm>
          <a:prstGeom prst="rect">
            <a:avLst/>
          </a:prstGeom>
          <a:noFill/>
          <a:ln/>
        </p:spPr>
        <p:txBody>
          <a:bodyPr wrap="square" lIns="0" tIns="0" rIns="0" bIns="0" rtlCol="0" anchor="ctr"/>
          <a:lstStyle/>
          <a:p>
            <a:pPr indent="0" marL="0">
              <a:buNone/>
            </a:pPr>
            <a:r>
              <a:rPr lang="en-US" sz="1100" dirty="0">
                <a:solidFill>
                  <a:srgbClr val="1A2335"/>
                </a:solidFill>
                <a:latin typeface="Calibri" pitchFamily="34" charset="0"/>
                <a:ea typeface="Calibri" pitchFamily="34" charset="-122"/>
                <a:cs typeface="Calibri" pitchFamily="34" charset="-120"/>
              </a:rPr>
              <a:t>After-hours urgency + IT impersonation tactic succeeded. Existing training did not cover this scenario.</a:t>
            </a:r>
            <a:endParaRPr lang="en-US" sz="1100" dirty="0"/>
          </a:p>
        </p:txBody>
      </p:sp>
      <p:sp>
        <p:nvSpPr>
          <p:cNvPr id="32" name="Shape 30"/>
          <p:cNvSpPr/>
          <p:nvPr/>
        </p:nvSpPr>
        <p:spPr>
          <a:xfrm>
            <a:off x="4846320" y="4572000"/>
            <a:ext cx="3840480" cy="0"/>
          </a:xfrm>
          <a:prstGeom prst="line">
            <a:avLst/>
          </a:prstGeom>
          <a:noFill/>
          <a:ln w="6350">
            <a:solidFill>
              <a:srgbClr val="D0DAE8"/>
            </a:solidFill>
            <a:prstDash val="solid"/>
          </a:ln>
        </p:spPr>
      </p:sp>
      <p:sp>
        <p:nvSpPr>
          <p:cNvPr id="33" name="Text 31"/>
          <p:cNvSpPr/>
          <p:nvPr/>
        </p:nvSpPr>
        <p:spPr>
          <a:xfrm>
            <a:off x="4846320" y="4617720"/>
            <a:ext cx="3931920" cy="292608"/>
          </a:xfrm>
          <a:prstGeom prst="rect">
            <a:avLst/>
          </a:prstGeom>
          <a:noFill/>
          <a:ln/>
        </p:spPr>
        <p:txBody>
          <a:bodyPr wrap="square" lIns="0" tIns="0" rIns="0" bIns="0" rtlCol="0" anchor="ctr"/>
          <a:lstStyle/>
          <a:p>
            <a:pPr indent="0" marL="0">
              <a:buNone/>
            </a:pPr>
            <a:r>
              <a:rPr lang="en-US" sz="1000" dirty="0">
                <a:solidFill>
                  <a:srgbClr val="1E7A4C"/>
                </a:solidFill>
                <a:latin typeface="Calibri" pitchFamily="34" charset="0"/>
                <a:ea typeface="Calibri" pitchFamily="34" charset="-122"/>
                <a:cs typeface="Calibri" pitchFamily="34" charset="-120"/>
              </a:rPr>
              <a:t>✅  Emergency vishing training; publish verified IT support contact numbers.</a:t>
            </a:r>
            <a:endParaRPr lang="en-US" sz="1000" dirty="0"/>
          </a:p>
        </p:txBody>
      </p:sp>
      <p:sp>
        <p:nvSpPr>
          <p:cNvPr id="34" name="Text 32"/>
          <p:cNvSpPr/>
          <p:nvPr/>
        </p:nvSpPr>
        <p:spPr>
          <a:xfrm>
            <a:off x="0" y="4864608"/>
            <a:ext cx="9144000" cy="274320"/>
          </a:xfrm>
          <a:prstGeom prst="rect">
            <a:avLst/>
          </a:prstGeom>
          <a:noFill/>
          <a:ln/>
        </p:spPr>
        <p:txBody>
          <a:bodyPr wrap="square" lIns="0" tIns="0" rIns="0" bIns="0" rtlCol="0" anchor="ctr"/>
          <a:lstStyle/>
          <a:p>
            <a:pPr algn="ctr" indent="0" marL="0">
              <a:buNone/>
            </a:pPr>
            <a:r>
              <a:rPr lang="en-US" sz="900" dirty="0">
                <a:solidFill>
                  <a:srgbClr val="8899AA"/>
                </a:solidFill>
                <a:latin typeface="Calibri" pitchFamily="34" charset="0"/>
                <a:ea typeface="Calibri" pitchFamily="34" charset="-122"/>
                <a:cs typeface="Calibri" pitchFamily="34" charset="-120"/>
              </a:rPr>
              <a:t>INC-2026-0322-001 | CONFIDENTIAL — INTERNAL USE ONLY | Slide 11 of 14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8F0FA"/>
        </a:solidFill>
      </p:bgPr>
    </p:bg>
    <p:spTree>
      <p:nvGrpSpPr>
        <p:cNvPr id="1" name=""/>
        <p:cNvGrpSpPr/>
        <p:nvPr/>
      </p:nvGrpSpPr>
      <p:grpSpPr>
        <a:xfrm>
          <a:off x="0" y="0"/>
          <a:ext cx="0" cy="0"/>
          <a:chOff x="0" y="0"/>
          <a:chExt cx="0" cy="0"/>
        </a:xfrm>
      </p:grpSpPr>
      <p:sp>
        <p:nvSpPr>
          <p:cNvPr id="2" name="Shape 0"/>
          <p:cNvSpPr/>
          <p:nvPr/>
        </p:nvSpPr>
        <p:spPr>
          <a:xfrm>
            <a:off x="457200" y="256032"/>
            <a:ext cx="45720" cy="347472"/>
          </a:xfrm>
          <a:prstGeom prst="rect">
            <a:avLst/>
          </a:prstGeom>
          <a:solidFill>
            <a:srgbClr val="C0392B"/>
          </a:solidFill>
          <a:ln/>
        </p:spPr>
      </p:sp>
      <p:sp>
        <p:nvSpPr>
          <p:cNvPr id="3" name="Text 1"/>
          <p:cNvSpPr/>
          <p:nvPr/>
        </p:nvSpPr>
        <p:spPr>
          <a:xfrm>
            <a:off x="566928" y="228600"/>
            <a:ext cx="7315200" cy="411480"/>
          </a:xfrm>
          <a:prstGeom prst="rect">
            <a:avLst/>
          </a:prstGeom>
          <a:noFill/>
          <a:ln/>
        </p:spPr>
        <p:txBody>
          <a:bodyPr wrap="square" lIns="0" tIns="0" rIns="0" bIns="0" rtlCol="0" anchor="ctr"/>
          <a:lstStyle/>
          <a:p>
            <a:pPr indent="0" marL="0">
              <a:buNone/>
            </a:pPr>
            <a:r>
              <a:rPr lang="en-US" sz="1100" b="1" spc="200" kern="0" dirty="0">
                <a:solidFill>
                  <a:srgbClr val="8899AA"/>
                </a:solidFill>
                <a:latin typeface="Calibri" pitchFamily="34" charset="0"/>
                <a:ea typeface="Calibri" pitchFamily="34" charset="-122"/>
                <a:cs typeface="Calibri" pitchFamily="34" charset="-120"/>
              </a:rPr>
              <a:t>ACTION ITEMS</a:t>
            </a:r>
            <a:endParaRPr lang="en-US" sz="1100" dirty="0"/>
          </a:p>
        </p:txBody>
      </p:sp>
      <p:sp>
        <p:nvSpPr>
          <p:cNvPr id="4" name="Text 2"/>
          <p:cNvSpPr/>
          <p:nvPr/>
        </p:nvSpPr>
        <p:spPr>
          <a:xfrm>
            <a:off x="502920" y="658368"/>
            <a:ext cx="8138160" cy="685800"/>
          </a:xfrm>
          <a:prstGeom prst="rect">
            <a:avLst/>
          </a:prstGeom>
          <a:noFill/>
          <a:ln/>
        </p:spPr>
        <p:txBody>
          <a:bodyPr wrap="square" lIns="0" tIns="0" rIns="0" bIns="0" rtlCol="0" anchor="ctr"/>
          <a:lstStyle/>
          <a:p>
            <a:pPr indent="0" marL="0">
              <a:buNone/>
            </a:pPr>
            <a:r>
              <a:rPr lang="en-US" sz="2800" b="1" dirty="0">
                <a:solidFill>
                  <a:srgbClr val="1A2335"/>
                </a:solidFill>
                <a:latin typeface="Calibri" pitchFamily="34" charset="0"/>
                <a:ea typeface="Calibri" pitchFamily="34" charset="-122"/>
                <a:cs typeface="Calibri" pitchFamily="34" charset="-120"/>
              </a:rPr>
              <a:t>Post-Exercise Remediation Tracker</a:t>
            </a:r>
            <a:endParaRPr lang="en-US" sz="2800" dirty="0"/>
          </a:p>
        </p:txBody>
      </p:sp>
      <p:sp>
        <p:nvSpPr>
          <p:cNvPr id="5" name="Shape 3"/>
          <p:cNvSpPr/>
          <p:nvPr/>
        </p:nvSpPr>
        <p:spPr>
          <a:xfrm>
            <a:off x="502920" y="1371600"/>
            <a:ext cx="8138160" cy="0"/>
          </a:xfrm>
          <a:prstGeom prst="line">
            <a:avLst/>
          </a:prstGeom>
          <a:noFill/>
          <a:ln w="12700">
            <a:solidFill>
              <a:srgbClr val="D0DAE8"/>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8229600" cy="914400"/>
        </p:xfrm>
        <a:graphic>
          <a:graphicData uri="http://schemas.openxmlformats.org/drawingml/2006/table">
            <a:tbl>
              <a:tblPr/>
              <a:tblGrid>
                <a:gridCol w="3840480"/>
                <a:gridCol w="1828800"/>
                <a:gridCol w="1417320"/>
                <a:gridCol w="777240"/>
              </a:tblGrid>
              <a:tr h="320040">
                <a:tc>
                  <a:txBody>
                    <a:bodyPr/>
                    <a:lstStyle/>
                    <a:p>
                      <a:pPr indent="0" marL="0">
                        <a:buNone/>
                      </a:pPr>
                      <a:r>
                        <a:rPr lang="en-US" sz="1100" b="1" dirty="0">
                          <a:solidFill>
                            <a:srgbClr val="FFFFFF"/>
                          </a:solidFill>
                        </a:rPr>
                        <a:t>Action Item</a:t>
                      </a:r>
                      <a:endParaRPr lang="en-US" sz="11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0D1B2A"/>
                    </a:solidFill>
                  </a:tcPr>
                </a:tc>
                <a:tc>
                  <a:txBody>
                    <a:bodyPr/>
                    <a:lstStyle/>
                    <a:p>
                      <a:pPr indent="0" marL="0">
                        <a:buNone/>
                      </a:pPr>
                      <a:r>
                        <a:rPr lang="en-US" sz="1100" b="1" dirty="0">
                          <a:solidFill>
                            <a:srgbClr val="FFFFFF"/>
                          </a:solidFill>
                        </a:rPr>
                        <a:t>Owner Role</a:t>
                      </a:r>
                      <a:endParaRPr lang="en-US" sz="11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0D1B2A"/>
                    </a:solidFill>
                  </a:tcPr>
                </a:tc>
                <a:tc>
                  <a:txBody>
                    <a:bodyPr/>
                    <a:lstStyle/>
                    <a:p>
                      <a:pPr indent="0" marL="0">
                        <a:buNone/>
                      </a:pPr>
                      <a:r>
                        <a:rPr lang="en-US" sz="1100" b="1" dirty="0">
                          <a:solidFill>
                            <a:srgbClr val="FFFFFF"/>
                          </a:solidFill>
                        </a:rPr>
                        <a:t>Priority</a:t>
                      </a:r>
                      <a:endParaRPr lang="en-US" sz="11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0D1B2A"/>
                    </a:solidFill>
                  </a:tcPr>
                </a:tc>
                <a:tc>
                  <a:txBody>
                    <a:bodyPr/>
                    <a:lstStyle/>
                    <a:p>
                      <a:pPr indent="0" marL="0">
                        <a:buNone/>
                      </a:pPr>
                      <a:r>
                        <a:rPr lang="en-US" sz="1100" b="1" dirty="0">
                          <a:solidFill>
                            <a:srgbClr val="FFFFFF"/>
                          </a:solidFill>
                        </a:rPr>
                        <a:t>Due</a:t>
                      </a:r>
                      <a:endParaRPr lang="en-US" sz="11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0D1B2A"/>
                    </a:solidFill>
                  </a:tcPr>
                </a:tc>
              </a:tr>
              <a:tr h="320040">
                <a:tc>
                  <a:txBody>
                    <a:bodyPr/>
                    <a:lstStyle/>
                    <a:p>
                      <a:pPr indent="0" marL="0">
                        <a:buNone/>
                      </a:pPr>
                      <a:r>
                        <a:rPr lang="en-US" sz="1000" dirty="0">
                          <a:solidFill>
                            <a:srgbClr val="1A2335"/>
                          </a:solidFill>
                        </a:rPr>
                        <a:t>Mandate MFA registration via CA policy — enforce before first login</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2F6FB"/>
                    </a:solidFill>
                  </a:tcPr>
                </a:tc>
                <a:tc>
                  <a:txBody>
                    <a:bodyPr/>
                    <a:lstStyle/>
                    <a:p>
                      <a:pPr indent="0" marL="0">
                        <a:buNone/>
                      </a:pPr>
                      <a:r>
                        <a:rPr lang="en-US" sz="1000" dirty="0">
                          <a:solidFill>
                            <a:srgbClr val="1A2335"/>
                          </a:solidFill>
                        </a:rPr>
                        <a:t>Identity &amp; Access Admin</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2F6FB"/>
                    </a:solidFill>
                  </a:tcPr>
                </a:tc>
                <a:tc>
                  <a:txBody>
                    <a:bodyPr/>
                    <a:lstStyle/>
                    <a:p>
                      <a:pPr indent="0" marL="0">
                        <a:buNone/>
                      </a:pPr>
                      <a:r>
                        <a:rPr lang="en-US" sz="1000" b="1" dirty="0">
                          <a:solidFill>
                            <a:srgbClr val="C0392B"/>
                          </a:solidFill>
                        </a:rPr>
                        <a:t>P1 — 24 hrs</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DE8E8"/>
                    </a:solidFill>
                  </a:tcPr>
                </a:tc>
                <a:tc>
                  <a:txBody>
                    <a:bodyPr/>
                    <a:lstStyle/>
                    <a:p>
                      <a:pPr indent="0" marL="0">
                        <a:buNone/>
                      </a:pPr>
                      <a:r>
                        <a:rPr lang="en-US" sz="1000" dirty="0">
                          <a:solidFill>
                            <a:srgbClr val="1A2335"/>
                          </a:solidFill>
                        </a:rPr>
                        <a:t>Day 1</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2F6FB"/>
                    </a:solidFill>
                  </a:tcPr>
                </a:tc>
              </a:tr>
              <a:tr h="320040">
                <a:tc>
                  <a:txBody>
                    <a:bodyPr/>
                    <a:lstStyle/>
                    <a:p>
                      <a:pPr indent="0" marL="0">
                        <a:buNone/>
                      </a:pPr>
                      <a:r>
                        <a:rPr lang="en-US" sz="1000" dirty="0">
                          <a:solidFill>
                            <a:srgbClr val="1A2335"/>
                          </a:solidFill>
                        </a:rPr>
                        <a:t>Restrict SSPR to require MFA or manager approval</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FFFFF"/>
                    </a:solidFill>
                  </a:tcPr>
                </a:tc>
                <a:tc>
                  <a:txBody>
                    <a:bodyPr/>
                    <a:lstStyle/>
                    <a:p>
                      <a:pPr indent="0" marL="0">
                        <a:buNone/>
                      </a:pPr>
                      <a:r>
                        <a:rPr lang="en-US" sz="1000" dirty="0">
                          <a:solidFill>
                            <a:srgbClr val="1A2335"/>
                          </a:solidFill>
                        </a:rPr>
                        <a:t>Identity &amp; Access Admin</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FFFFF"/>
                    </a:solidFill>
                  </a:tcPr>
                </a:tc>
                <a:tc>
                  <a:txBody>
                    <a:bodyPr/>
                    <a:lstStyle/>
                    <a:p>
                      <a:pPr indent="0" marL="0">
                        <a:buNone/>
                      </a:pPr>
                      <a:r>
                        <a:rPr lang="en-US" sz="1000" b="1" dirty="0">
                          <a:solidFill>
                            <a:srgbClr val="C0392B"/>
                          </a:solidFill>
                        </a:rPr>
                        <a:t>P1 — 24 hrs</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DE8E8"/>
                    </a:solidFill>
                  </a:tcPr>
                </a:tc>
                <a:tc>
                  <a:txBody>
                    <a:bodyPr/>
                    <a:lstStyle/>
                    <a:p>
                      <a:pPr indent="0" marL="0">
                        <a:buNone/>
                      </a:pPr>
                      <a:r>
                        <a:rPr lang="en-US" sz="1000" dirty="0">
                          <a:solidFill>
                            <a:srgbClr val="1A2335"/>
                          </a:solidFill>
                        </a:rPr>
                        <a:t>Day 1</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A2335"/>
                          </a:solidFill>
                        </a:rPr>
                        <a:t>Deploy Entra ID sign-in anomaly alert rules</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2F6FB"/>
                    </a:solidFill>
                  </a:tcPr>
                </a:tc>
                <a:tc>
                  <a:txBody>
                    <a:bodyPr/>
                    <a:lstStyle/>
                    <a:p>
                      <a:pPr indent="0" marL="0">
                        <a:buNone/>
                      </a:pPr>
                      <a:r>
                        <a:rPr lang="en-US" sz="1000" dirty="0">
                          <a:solidFill>
                            <a:srgbClr val="1A2335"/>
                          </a:solidFill>
                        </a:rPr>
                        <a:t>IT Security Analyst</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2F6FB"/>
                    </a:solidFill>
                  </a:tcPr>
                </a:tc>
                <a:tc>
                  <a:txBody>
                    <a:bodyPr/>
                    <a:lstStyle/>
                    <a:p>
                      <a:pPr indent="0" marL="0">
                        <a:buNone/>
                      </a:pPr>
                      <a:r>
                        <a:rPr lang="en-US" sz="1000" b="1" dirty="0">
                          <a:solidFill>
                            <a:srgbClr val="C0392B"/>
                          </a:solidFill>
                        </a:rPr>
                        <a:t>P1 — 24 hrs</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DE8E8"/>
                    </a:solidFill>
                  </a:tcPr>
                </a:tc>
                <a:tc>
                  <a:txBody>
                    <a:bodyPr/>
                    <a:lstStyle/>
                    <a:p>
                      <a:pPr indent="0" marL="0">
                        <a:buNone/>
                      </a:pPr>
                      <a:r>
                        <a:rPr lang="en-US" sz="1000" dirty="0">
                          <a:solidFill>
                            <a:srgbClr val="1A2335"/>
                          </a:solidFill>
                        </a:rPr>
                        <a:t>Day 1</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2F6FB"/>
                    </a:solidFill>
                  </a:tcPr>
                </a:tc>
              </a:tr>
              <a:tr h="320040">
                <a:tc>
                  <a:txBody>
                    <a:bodyPr/>
                    <a:lstStyle/>
                    <a:p>
                      <a:pPr indent="0" marL="0">
                        <a:buNone/>
                      </a:pPr>
                      <a:r>
                        <a:rPr lang="en-US" sz="1000" dirty="0">
                          <a:solidFill>
                            <a:srgbClr val="1A2335"/>
                          </a:solidFill>
                        </a:rPr>
                        <a:t>Conduct emergency vishing awareness training for all staff</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FFFFF"/>
                    </a:solidFill>
                  </a:tcPr>
                </a:tc>
                <a:tc>
                  <a:txBody>
                    <a:bodyPr/>
                    <a:lstStyle/>
                    <a:p>
                      <a:pPr indent="0" marL="0">
                        <a:buNone/>
                      </a:pPr>
                      <a:r>
                        <a:rPr lang="en-US" sz="1000" dirty="0">
                          <a:solidFill>
                            <a:srgbClr val="1A2335"/>
                          </a:solidFill>
                        </a:rPr>
                        <a:t>HR / Security</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FFFFF"/>
                    </a:solidFill>
                  </a:tcPr>
                </a:tc>
                <a:tc>
                  <a:txBody>
                    <a:bodyPr/>
                    <a:lstStyle/>
                    <a:p>
                      <a:pPr indent="0" marL="0">
                        <a:buNone/>
                      </a:pPr>
                      <a:r>
                        <a:rPr lang="en-US" sz="1000" b="1" dirty="0">
                          <a:solidFill>
                            <a:srgbClr val="C0392B"/>
                          </a:solidFill>
                        </a:rPr>
                        <a:t>P1 — 48 hrs</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DE8E8"/>
                    </a:solidFill>
                  </a:tcPr>
                </a:tc>
                <a:tc>
                  <a:txBody>
                    <a:bodyPr/>
                    <a:lstStyle/>
                    <a:p>
                      <a:pPr indent="0" marL="0">
                        <a:buNone/>
                      </a:pPr>
                      <a:r>
                        <a:rPr lang="en-US" sz="1000" dirty="0">
                          <a:solidFill>
                            <a:srgbClr val="1A2335"/>
                          </a:solidFill>
                        </a:rPr>
                        <a:t>Day 2</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A2335"/>
                          </a:solidFill>
                        </a:rPr>
                        <a:t>Integrate Microsoft Graph API into Wazuh SIEM</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2F6FB"/>
                    </a:solidFill>
                  </a:tcPr>
                </a:tc>
                <a:tc>
                  <a:txBody>
                    <a:bodyPr/>
                    <a:lstStyle/>
                    <a:p>
                      <a:pPr indent="0" marL="0">
                        <a:buNone/>
                      </a:pPr>
                      <a:r>
                        <a:rPr lang="en-US" sz="1000" dirty="0">
                          <a:solidFill>
                            <a:srgbClr val="1A2335"/>
                          </a:solidFill>
                        </a:rPr>
                        <a:t>IT Security Analyst</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2F6FB"/>
                    </a:solidFill>
                  </a:tcPr>
                </a:tc>
                <a:tc>
                  <a:txBody>
                    <a:bodyPr/>
                    <a:lstStyle/>
                    <a:p>
                      <a:pPr indent="0" marL="0">
                        <a:buNone/>
                      </a:pPr>
                      <a:r>
                        <a:rPr lang="en-US" sz="1000" b="1" dirty="0">
                          <a:solidFill>
                            <a:srgbClr val="D4861A"/>
                          </a:solidFill>
                        </a:rPr>
                        <a:t>P2 — 30 days</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EF3DC"/>
                    </a:solidFill>
                  </a:tcPr>
                </a:tc>
                <a:tc>
                  <a:txBody>
                    <a:bodyPr/>
                    <a:lstStyle/>
                    <a:p>
                      <a:pPr indent="0" marL="0">
                        <a:buNone/>
                      </a:pPr>
                      <a:r>
                        <a:rPr lang="en-US" sz="1000" dirty="0">
                          <a:solidFill>
                            <a:srgbClr val="1A2335"/>
                          </a:solidFill>
                        </a:rPr>
                        <a:t>Day 30</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2F6FB"/>
                    </a:solidFill>
                  </a:tcPr>
                </a:tc>
              </a:tr>
              <a:tr h="320040">
                <a:tc>
                  <a:txBody>
                    <a:bodyPr/>
                    <a:lstStyle/>
                    <a:p>
                      <a:pPr indent="0" marL="0">
                        <a:buNone/>
                      </a:pPr>
                      <a:r>
                        <a:rPr lang="en-US" sz="1000" dirty="0">
                          <a:solidFill>
                            <a:srgbClr val="1A2335"/>
                          </a:solidFill>
                        </a:rPr>
                        <a:t>Remediate top 50 CIS benchmark failures on Windows endpoints</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FFFFF"/>
                    </a:solidFill>
                  </a:tcPr>
                </a:tc>
                <a:tc>
                  <a:txBody>
                    <a:bodyPr/>
                    <a:lstStyle/>
                    <a:p>
                      <a:pPr indent="0" marL="0">
                        <a:buNone/>
                      </a:pPr>
                      <a:r>
                        <a:rPr lang="en-US" sz="1000" dirty="0">
                          <a:solidFill>
                            <a:srgbClr val="1A2335"/>
                          </a:solidFill>
                        </a:rPr>
                        <a:t>IT Admin</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FFFFF"/>
                    </a:solidFill>
                  </a:tcPr>
                </a:tc>
                <a:tc>
                  <a:txBody>
                    <a:bodyPr/>
                    <a:lstStyle/>
                    <a:p>
                      <a:pPr indent="0" marL="0">
                        <a:buNone/>
                      </a:pPr>
                      <a:r>
                        <a:rPr lang="en-US" sz="1000" b="1" dirty="0">
                          <a:solidFill>
                            <a:srgbClr val="D4861A"/>
                          </a:solidFill>
                        </a:rPr>
                        <a:t>P2 — 30 days</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EF3DC"/>
                    </a:solidFill>
                  </a:tcPr>
                </a:tc>
                <a:tc>
                  <a:txBody>
                    <a:bodyPr/>
                    <a:lstStyle/>
                    <a:p>
                      <a:pPr indent="0" marL="0">
                        <a:buNone/>
                      </a:pPr>
                      <a:r>
                        <a:rPr lang="en-US" sz="1000" dirty="0">
                          <a:solidFill>
                            <a:srgbClr val="1A2335"/>
                          </a:solidFill>
                        </a:rPr>
                        <a:t>Day 30</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A2335"/>
                          </a:solidFill>
                        </a:rPr>
                        <a:t>Deploy Microsoft Defender for Identity</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2F6FB"/>
                    </a:solidFill>
                  </a:tcPr>
                </a:tc>
                <a:tc>
                  <a:txBody>
                    <a:bodyPr/>
                    <a:lstStyle/>
                    <a:p>
                      <a:pPr indent="0" marL="0">
                        <a:buNone/>
                      </a:pPr>
                      <a:r>
                        <a:rPr lang="en-US" sz="1000" dirty="0">
                          <a:solidFill>
                            <a:srgbClr val="1A2335"/>
                          </a:solidFill>
                        </a:rPr>
                        <a:t>Security Architect</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2F6FB"/>
                    </a:solidFill>
                  </a:tcPr>
                </a:tc>
                <a:tc>
                  <a:txBody>
                    <a:bodyPr/>
                    <a:lstStyle/>
                    <a:p>
                      <a:pPr indent="0" marL="0">
                        <a:buNone/>
                      </a:pPr>
                      <a:r>
                        <a:rPr lang="en-US" sz="1000" b="1" dirty="0">
                          <a:solidFill>
                            <a:srgbClr val="D4861A"/>
                          </a:solidFill>
                        </a:rPr>
                        <a:t>P2 — 30 days</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EF3DC"/>
                    </a:solidFill>
                  </a:tcPr>
                </a:tc>
                <a:tc>
                  <a:txBody>
                    <a:bodyPr/>
                    <a:lstStyle/>
                    <a:p>
                      <a:pPr indent="0" marL="0">
                        <a:buNone/>
                      </a:pPr>
                      <a:r>
                        <a:rPr lang="en-US" sz="1000" dirty="0">
                          <a:solidFill>
                            <a:srgbClr val="1A2335"/>
                          </a:solidFill>
                        </a:rPr>
                        <a:t>Day 30</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2F6FB"/>
                    </a:solidFill>
                  </a:tcPr>
                </a:tc>
              </a:tr>
              <a:tr h="320040">
                <a:tc>
                  <a:txBody>
                    <a:bodyPr/>
                    <a:lstStyle/>
                    <a:p>
                      <a:pPr indent="0" marL="0">
                        <a:buNone/>
                      </a:pPr>
                      <a:r>
                        <a:rPr lang="en-US" sz="1000" dirty="0">
                          <a:solidFill>
                            <a:srgbClr val="1A2335"/>
                          </a:solidFill>
                        </a:rPr>
                        <a:t>Implement FIDO2 phishing-resistant MFA for privileged accounts</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FFFFF"/>
                    </a:solidFill>
                  </a:tcPr>
                </a:tc>
                <a:tc>
                  <a:txBody>
                    <a:bodyPr/>
                    <a:lstStyle/>
                    <a:p>
                      <a:pPr indent="0" marL="0">
                        <a:buNone/>
                      </a:pPr>
                      <a:r>
                        <a:rPr lang="en-US" sz="1000" dirty="0">
                          <a:solidFill>
                            <a:srgbClr val="1A2335"/>
                          </a:solidFill>
                        </a:rPr>
                        <a:t>Security Architect</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FFFFF"/>
                    </a:solidFill>
                  </a:tcPr>
                </a:tc>
                <a:tc>
                  <a:txBody>
                    <a:bodyPr/>
                    <a:lstStyle/>
                    <a:p>
                      <a:pPr indent="0" marL="0">
                        <a:buNone/>
                      </a:pPr>
                      <a:r>
                        <a:rPr lang="en-US" sz="1000" b="1" dirty="0">
                          <a:solidFill>
                            <a:srgbClr val="1E7A4C"/>
                          </a:solidFill>
                        </a:rPr>
                        <a:t>P3 — 90 days</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E2F5EC"/>
                    </a:solidFill>
                  </a:tcPr>
                </a:tc>
                <a:tc>
                  <a:txBody>
                    <a:bodyPr/>
                    <a:lstStyle/>
                    <a:p>
                      <a:pPr indent="0" marL="0">
                        <a:buNone/>
                      </a:pPr>
                      <a:r>
                        <a:rPr lang="en-US" sz="1000" dirty="0">
                          <a:solidFill>
                            <a:srgbClr val="1A2335"/>
                          </a:solidFill>
                        </a:rPr>
                        <a:t>Day 90</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A2335"/>
                          </a:solidFill>
                        </a:rPr>
                        <a:t>Enroll all endpoints in Intune for device compliance enforcement</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2F6FB"/>
                    </a:solidFill>
                  </a:tcPr>
                </a:tc>
                <a:tc>
                  <a:txBody>
                    <a:bodyPr/>
                    <a:lstStyle/>
                    <a:p>
                      <a:pPr indent="0" marL="0">
                        <a:buNone/>
                      </a:pPr>
                      <a:r>
                        <a:rPr lang="en-US" sz="1000" dirty="0">
                          <a:solidFill>
                            <a:srgbClr val="1A2335"/>
                          </a:solidFill>
                        </a:rPr>
                        <a:t>IT Admin</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2F6FB"/>
                    </a:solidFill>
                  </a:tcPr>
                </a:tc>
                <a:tc>
                  <a:txBody>
                    <a:bodyPr/>
                    <a:lstStyle/>
                    <a:p>
                      <a:pPr indent="0" marL="0">
                        <a:buNone/>
                      </a:pPr>
                      <a:r>
                        <a:rPr lang="en-US" sz="1000" b="1" dirty="0">
                          <a:solidFill>
                            <a:srgbClr val="1E7A4C"/>
                          </a:solidFill>
                        </a:rPr>
                        <a:t>P3 — 90 days</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E2F5EC"/>
                    </a:solidFill>
                  </a:tcPr>
                </a:tc>
                <a:tc>
                  <a:txBody>
                    <a:bodyPr/>
                    <a:lstStyle/>
                    <a:p>
                      <a:pPr indent="0" marL="0">
                        <a:buNone/>
                      </a:pPr>
                      <a:r>
                        <a:rPr lang="en-US" sz="1000" dirty="0">
                          <a:solidFill>
                            <a:srgbClr val="1A2335"/>
                          </a:solidFill>
                        </a:rPr>
                        <a:t>Day 90</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2F6FB"/>
                    </a:solidFill>
                  </a:tcPr>
                </a:tc>
              </a:tr>
              <a:tr h="320040">
                <a:tc>
                  <a:txBody>
                    <a:bodyPr/>
                    <a:lstStyle/>
                    <a:p>
                      <a:pPr indent="0" marL="0">
                        <a:buNone/>
                      </a:pPr>
                      <a:r>
                        <a:rPr lang="en-US" sz="1000" dirty="0">
                          <a:solidFill>
                            <a:srgbClr val="1A2335"/>
                          </a:solidFill>
                        </a:rPr>
                        <a:t>Conduct full PCI DSS / privacy law IAM compliance review</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FFFFF"/>
                    </a:solidFill>
                  </a:tcPr>
                </a:tc>
                <a:tc>
                  <a:txBody>
                    <a:bodyPr/>
                    <a:lstStyle/>
                    <a:p>
                      <a:pPr indent="0" marL="0">
                        <a:buNone/>
                      </a:pPr>
                      <a:r>
                        <a:rPr lang="en-US" sz="1000" dirty="0">
                          <a:solidFill>
                            <a:srgbClr val="1A2335"/>
                          </a:solidFill>
                        </a:rPr>
                        <a:t>Legal / Compliance</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FFFFF"/>
                    </a:solidFill>
                  </a:tcPr>
                </a:tc>
                <a:tc>
                  <a:txBody>
                    <a:bodyPr/>
                    <a:lstStyle/>
                    <a:p>
                      <a:pPr indent="0" marL="0">
                        <a:buNone/>
                      </a:pPr>
                      <a:r>
                        <a:rPr lang="en-US" sz="1000" b="1" dirty="0">
                          <a:solidFill>
                            <a:srgbClr val="1E7A4C"/>
                          </a:solidFill>
                        </a:rPr>
                        <a:t>P3 — 90 days</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E2F5EC"/>
                    </a:solidFill>
                  </a:tcPr>
                </a:tc>
                <a:tc>
                  <a:txBody>
                    <a:bodyPr/>
                    <a:lstStyle/>
                    <a:p>
                      <a:pPr indent="0" marL="0">
                        <a:buNone/>
                      </a:pPr>
                      <a:r>
                        <a:rPr lang="en-US" sz="1000" dirty="0">
                          <a:solidFill>
                            <a:srgbClr val="1A2335"/>
                          </a:solidFill>
                        </a:rPr>
                        <a:t>Day 90</a:t>
                      </a:r>
                      <a:endParaRPr lang="en-US" sz="1000" dirty="0"/>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FFFFF"/>
                    </a:solidFill>
                  </a:tcPr>
                </a:tc>
              </a:tr>
            </a:tbl>
          </a:graphicData>
        </a:graphic>
      </p:graphicFrame>
      <p:sp>
        <p:nvSpPr>
          <p:cNvPr id="7" name="Text 4"/>
          <p:cNvSpPr/>
          <p:nvPr/>
        </p:nvSpPr>
        <p:spPr>
          <a:xfrm>
            <a:off x="0" y="4864608"/>
            <a:ext cx="9144000" cy="274320"/>
          </a:xfrm>
          <a:prstGeom prst="rect">
            <a:avLst/>
          </a:prstGeom>
          <a:noFill/>
          <a:ln/>
        </p:spPr>
        <p:txBody>
          <a:bodyPr wrap="square" lIns="0" tIns="0" rIns="0" bIns="0" rtlCol="0" anchor="ctr"/>
          <a:lstStyle/>
          <a:p>
            <a:pPr algn="ctr" indent="0" marL="0">
              <a:buNone/>
            </a:pPr>
            <a:r>
              <a:rPr lang="en-US" sz="900" dirty="0">
                <a:solidFill>
                  <a:srgbClr val="8899AA"/>
                </a:solidFill>
                <a:latin typeface="Calibri" pitchFamily="34" charset="0"/>
                <a:ea typeface="Calibri" pitchFamily="34" charset="-122"/>
                <a:cs typeface="Calibri" pitchFamily="34" charset="-120"/>
              </a:rPr>
              <a:t>INC-2026-0322-001 | CONFIDENTIAL — INTERNAL USE ONLY | Slide 12 of 14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457200" y="256032"/>
            <a:ext cx="45720" cy="347472"/>
          </a:xfrm>
          <a:prstGeom prst="rect">
            <a:avLst/>
          </a:prstGeom>
          <a:solidFill>
            <a:srgbClr val="C0392B"/>
          </a:solidFill>
          <a:ln/>
        </p:spPr>
      </p:sp>
      <p:sp>
        <p:nvSpPr>
          <p:cNvPr id="3" name="Text 1"/>
          <p:cNvSpPr/>
          <p:nvPr/>
        </p:nvSpPr>
        <p:spPr>
          <a:xfrm>
            <a:off x="566928" y="228600"/>
            <a:ext cx="7315200" cy="411480"/>
          </a:xfrm>
          <a:prstGeom prst="rect">
            <a:avLst/>
          </a:prstGeom>
          <a:noFill/>
          <a:ln/>
        </p:spPr>
        <p:txBody>
          <a:bodyPr wrap="square" lIns="0" tIns="0" rIns="0" bIns="0" rtlCol="0" anchor="ctr"/>
          <a:lstStyle/>
          <a:p>
            <a:pPr indent="0" marL="0">
              <a:buNone/>
            </a:pPr>
            <a:r>
              <a:rPr lang="en-US" sz="1100" b="1" spc="200" kern="0" dirty="0">
                <a:solidFill>
                  <a:srgbClr val="8899AA"/>
                </a:solidFill>
                <a:latin typeface="Calibri" pitchFamily="34" charset="0"/>
                <a:ea typeface="Calibri" pitchFamily="34" charset="-122"/>
                <a:cs typeface="Calibri" pitchFamily="34" charset="-120"/>
              </a:rPr>
              <a:t>AFTER-ACTION REVIEW</a:t>
            </a:r>
            <a:endParaRPr lang="en-US" sz="1100" dirty="0"/>
          </a:p>
        </p:txBody>
      </p:sp>
      <p:sp>
        <p:nvSpPr>
          <p:cNvPr id="4" name="Text 2"/>
          <p:cNvSpPr/>
          <p:nvPr/>
        </p:nvSpPr>
        <p:spPr>
          <a:xfrm>
            <a:off x="457200" y="594360"/>
            <a:ext cx="8229600" cy="6858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Hot-Wash Discussion</a:t>
            </a:r>
            <a:endParaRPr lang="en-US" sz="3000" dirty="0"/>
          </a:p>
        </p:txBody>
      </p:sp>
      <p:sp>
        <p:nvSpPr>
          <p:cNvPr id="5" name="Shape 3"/>
          <p:cNvSpPr/>
          <p:nvPr/>
        </p:nvSpPr>
        <p:spPr>
          <a:xfrm>
            <a:off x="457200" y="1325880"/>
            <a:ext cx="8229600" cy="0"/>
          </a:xfrm>
          <a:prstGeom prst="line">
            <a:avLst/>
          </a:prstGeom>
          <a:noFill/>
          <a:ln w="19050">
            <a:solidFill>
              <a:srgbClr val="C0392B"/>
            </a:solidFill>
            <a:prstDash val="solid"/>
          </a:ln>
        </p:spPr>
      </p:sp>
      <p:sp>
        <p:nvSpPr>
          <p:cNvPr id="6" name="Shape 4"/>
          <p:cNvSpPr/>
          <p:nvPr/>
        </p:nvSpPr>
        <p:spPr>
          <a:xfrm>
            <a:off x="457200" y="1463040"/>
            <a:ext cx="8229600" cy="749808"/>
          </a:xfrm>
          <a:prstGeom prst="rect">
            <a:avLst/>
          </a:prstGeom>
          <a:solidFill>
            <a:srgbClr val="1A2E45"/>
          </a:solidFill>
          <a:ln/>
        </p:spPr>
      </p:sp>
      <p:sp>
        <p:nvSpPr>
          <p:cNvPr id="7" name="Text 5"/>
          <p:cNvSpPr/>
          <p:nvPr/>
        </p:nvSpPr>
        <p:spPr>
          <a:xfrm>
            <a:off x="640080" y="1517904"/>
            <a:ext cx="3200400" cy="320040"/>
          </a:xfrm>
          <a:prstGeom prst="rect">
            <a:avLst/>
          </a:prstGeom>
          <a:noFill/>
          <a:ln/>
        </p:spPr>
        <p:txBody>
          <a:bodyPr wrap="square" lIns="0" tIns="0" rIns="0" bIns="0"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  What Went Well?</a:t>
            </a:r>
            <a:endParaRPr lang="en-US" sz="1300" dirty="0"/>
          </a:p>
        </p:txBody>
      </p:sp>
      <p:sp>
        <p:nvSpPr>
          <p:cNvPr id="8" name="Text 6"/>
          <p:cNvSpPr/>
          <p:nvPr/>
        </p:nvSpPr>
        <p:spPr>
          <a:xfrm>
            <a:off x="640080" y="1837944"/>
            <a:ext cx="7863840" cy="320040"/>
          </a:xfrm>
          <a:prstGeom prst="rect">
            <a:avLst/>
          </a:prstGeom>
          <a:noFill/>
          <a:ln/>
        </p:spPr>
        <p:txBody>
          <a:bodyPr wrap="square" lIns="0" tIns="0" rIns="0" bIns="0" rtlCol="0" anchor="ctr"/>
          <a:lstStyle/>
          <a:p>
            <a:pPr indent="0" marL="0">
              <a:buNone/>
            </a:pPr>
            <a:r>
              <a:rPr lang="en-US" sz="1100" dirty="0">
                <a:solidFill>
                  <a:srgbClr val="D0DAE8"/>
                </a:solidFill>
                <a:latin typeface="Calibri" pitchFamily="34" charset="0"/>
                <a:ea typeface="Calibri" pitchFamily="34" charset="-122"/>
                <a:cs typeface="Calibri" pitchFamily="34" charset="-120"/>
              </a:rPr>
              <a:t>Which detection or response steps did your team execute confidently? What existing controls proved effective?</a:t>
            </a:r>
            <a:endParaRPr lang="en-US" sz="1100" dirty="0"/>
          </a:p>
        </p:txBody>
      </p:sp>
      <p:sp>
        <p:nvSpPr>
          <p:cNvPr id="9" name="Shape 7"/>
          <p:cNvSpPr/>
          <p:nvPr/>
        </p:nvSpPr>
        <p:spPr>
          <a:xfrm>
            <a:off x="457200" y="2331720"/>
            <a:ext cx="8229600" cy="749808"/>
          </a:xfrm>
          <a:prstGeom prst="rect">
            <a:avLst/>
          </a:prstGeom>
          <a:solidFill>
            <a:srgbClr val="1A2E45"/>
          </a:solidFill>
          <a:ln/>
        </p:spPr>
      </p:sp>
      <p:sp>
        <p:nvSpPr>
          <p:cNvPr id="10" name="Text 8"/>
          <p:cNvSpPr/>
          <p:nvPr/>
        </p:nvSpPr>
        <p:spPr>
          <a:xfrm>
            <a:off x="640080" y="2386584"/>
            <a:ext cx="3200400" cy="320040"/>
          </a:xfrm>
          <a:prstGeom prst="rect">
            <a:avLst/>
          </a:prstGeom>
          <a:noFill/>
          <a:ln/>
        </p:spPr>
        <p:txBody>
          <a:bodyPr wrap="square" lIns="0" tIns="0" rIns="0" bIns="0"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  What Needs Improvement?</a:t>
            </a:r>
            <a:endParaRPr lang="en-US" sz="1300" dirty="0"/>
          </a:p>
        </p:txBody>
      </p:sp>
      <p:sp>
        <p:nvSpPr>
          <p:cNvPr id="11" name="Text 9"/>
          <p:cNvSpPr/>
          <p:nvPr/>
        </p:nvSpPr>
        <p:spPr>
          <a:xfrm>
            <a:off x="640080" y="2706624"/>
            <a:ext cx="7863840" cy="320040"/>
          </a:xfrm>
          <a:prstGeom prst="rect">
            <a:avLst/>
          </a:prstGeom>
          <a:noFill/>
          <a:ln/>
        </p:spPr>
        <p:txBody>
          <a:bodyPr wrap="square" lIns="0" tIns="0" rIns="0" bIns="0" rtlCol="0" anchor="ctr"/>
          <a:lstStyle/>
          <a:p>
            <a:pPr indent="0" marL="0">
              <a:buNone/>
            </a:pPr>
            <a:r>
              <a:rPr lang="en-US" sz="1100" dirty="0">
                <a:solidFill>
                  <a:srgbClr val="D0DAE8"/>
                </a:solidFill>
                <a:latin typeface="Calibri" pitchFamily="34" charset="0"/>
                <a:ea typeface="Calibri" pitchFamily="34" charset="-122"/>
                <a:cs typeface="Calibri" pitchFamily="34" charset="-120"/>
              </a:rPr>
              <a:t>Where did your team hesitate? Which escalation paths were unclear? What playbook gaps surfaced?</a:t>
            </a:r>
            <a:endParaRPr lang="en-US" sz="1100" dirty="0"/>
          </a:p>
        </p:txBody>
      </p:sp>
      <p:sp>
        <p:nvSpPr>
          <p:cNvPr id="12" name="Shape 10"/>
          <p:cNvSpPr/>
          <p:nvPr/>
        </p:nvSpPr>
        <p:spPr>
          <a:xfrm>
            <a:off x="457200" y="3200400"/>
            <a:ext cx="8229600" cy="749808"/>
          </a:xfrm>
          <a:prstGeom prst="rect">
            <a:avLst/>
          </a:prstGeom>
          <a:solidFill>
            <a:srgbClr val="1A2E45"/>
          </a:solidFill>
          <a:ln/>
        </p:spPr>
      </p:sp>
      <p:sp>
        <p:nvSpPr>
          <p:cNvPr id="13" name="Text 11"/>
          <p:cNvSpPr/>
          <p:nvPr/>
        </p:nvSpPr>
        <p:spPr>
          <a:xfrm>
            <a:off x="640080" y="3255264"/>
            <a:ext cx="3200400" cy="320040"/>
          </a:xfrm>
          <a:prstGeom prst="rect">
            <a:avLst/>
          </a:prstGeom>
          <a:noFill/>
          <a:ln/>
        </p:spPr>
        <p:txBody>
          <a:bodyPr wrap="square" lIns="0" tIns="0" rIns="0" bIns="0"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  Top 3 Action Items</a:t>
            </a:r>
            <a:endParaRPr lang="en-US" sz="1300" dirty="0"/>
          </a:p>
        </p:txBody>
      </p:sp>
      <p:sp>
        <p:nvSpPr>
          <p:cNvPr id="14" name="Text 12"/>
          <p:cNvSpPr/>
          <p:nvPr/>
        </p:nvSpPr>
        <p:spPr>
          <a:xfrm>
            <a:off x="640080" y="3575304"/>
            <a:ext cx="7863840" cy="320040"/>
          </a:xfrm>
          <a:prstGeom prst="rect">
            <a:avLst/>
          </a:prstGeom>
          <a:noFill/>
          <a:ln/>
        </p:spPr>
        <p:txBody>
          <a:bodyPr wrap="square" lIns="0" tIns="0" rIns="0" bIns="0" rtlCol="0" anchor="ctr"/>
          <a:lstStyle/>
          <a:p>
            <a:pPr indent="0" marL="0">
              <a:buNone/>
            </a:pPr>
            <a:r>
              <a:rPr lang="en-US" sz="1100" dirty="0">
                <a:solidFill>
                  <a:srgbClr val="D0DAE8"/>
                </a:solidFill>
                <a:latin typeface="Calibri" pitchFamily="34" charset="0"/>
                <a:ea typeface="Calibri" pitchFamily="34" charset="-122"/>
                <a:cs typeface="Calibri" pitchFamily="34" charset="-120"/>
              </a:rPr>
              <a:t>Based on this exercise, what are the three most important changes to make before the next quarter?</a:t>
            </a:r>
            <a:endParaRPr lang="en-US" sz="1100" dirty="0"/>
          </a:p>
        </p:txBody>
      </p:sp>
      <p:sp>
        <p:nvSpPr>
          <p:cNvPr id="15" name="Shape 13"/>
          <p:cNvSpPr/>
          <p:nvPr/>
        </p:nvSpPr>
        <p:spPr>
          <a:xfrm>
            <a:off x="457200" y="4069080"/>
            <a:ext cx="8229600" cy="749808"/>
          </a:xfrm>
          <a:prstGeom prst="rect">
            <a:avLst/>
          </a:prstGeom>
          <a:solidFill>
            <a:srgbClr val="1A2E45"/>
          </a:solidFill>
          <a:ln/>
        </p:spPr>
      </p:sp>
      <p:sp>
        <p:nvSpPr>
          <p:cNvPr id="16" name="Text 14"/>
          <p:cNvSpPr/>
          <p:nvPr/>
        </p:nvSpPr>
        <p:spPr>
          <a:xfrm>
            <a:off x="640080" y="4123944"/>
            <a:ext cx="3200400" cy="320040"/>
          </a:xfrm>
          <a:prstGeom prst="rect">
            <a:avLst/>
          </a:prstGeom>
          <a:noFill/>
          <a:ln/>
        </p:spPr>
        <p:txBody>
          <a:bodyPr wrap="square" lIns="0" tIns="0" rIns="0" bIns="0"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  Follow-Up Commitments</a:t>
            </a:r>
            <a:endParaRPr lang="en-US" sz="1300" dirty="0"/>
          </a:p>
        </p:txBody>
      </p:sp>
      <p:sp>
        <p:nvSpPr>
          <p:cNvPr id="17" name="Text 15"/>
          <p:cNvSpPr/>
          <p:nvPr/>
        </p:nvSpPr>
        <p:spPr>
          <a:xfrm>
            <a:off x="640080" y="4443984"/>
            <a:ext cx="7863840" cy="320040"/>
          </a:xfrm>
          <a:prstGeom prst="rect">
            <a:avLst/>
          </a:prstGeom>
          <a:noFill/>
          <a:ln/>
        </p:spPr>
        <p:txBody>
          <a:bodyPr wrap="square" lIns="0" tIns="0" rIns="0" bIns="0" rtlCol="0" anchor="ctr"/>
          <a:lstStyle/>
          <a:p>
            <a:pPr indent="0" marL="0">
              <a:buNone/>
            </a:pPr>
            <a:r>
              <a:rPr lang="en-US" sz="1100" dirty="0">
                <a:solidFill>
                  <a:srgbClr val="D0DAE8"/>
                </a:solidFill>
                <a:latin typeface="Calibri" pitchFamily="34" charset="0"/>
                <a:ea typeface="Calibri" pitchFamily="34" charset="-122"/>
                <a:cs typeface="Calibri" pitchFamily="34" charset="-120"/>
              </a:rPr>
              <a:t>Who owns each action item? When will the team reconvene to verify progress? Schedule now.</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0392B"/>
          </a:solidFill>
          <a:ln/>
        </p:spPr>
      </p:sp>
      <p:sp>
        <p:nvSpPr>
          <p:cNvPr id="3" name="Text 1"/>
          <p:cNvSpPr/>
          <p:nvPr/>
        </p:nvSpPr>
        <p:spPr>
          <a:xfrm>
            <a:off x="731520" y="731520"/>
            <a:ext cx="7772400" cy="2011680"/>
          </a:xfrm>
          <a:prstGeom prst="rect">
            <a:avLst/>
          </a:prstGeom>
          <a:noFill/>
          <a:ln/>
        </p:spPr>
        <p:txBody>
          <a:bodyPr wrap="square" lIns="0" tIns="0" rIns="0" bIns="0" rtlCol="0" anchor="ctr"/>
          <a:lstStyle/>
          <a:p>
            <a:pPr indent="0" marL="0">
              <a:buNone/>
            </a:pPr>
            <a:r>
              <a:rPr lang="en-US" sz="5000" b="1" dirty="0">
                <a:solidFill>
                  <a:srgbClr val="FFFFFF"/>
                </a:solidFill>
                <a:latin typeface="Calibri" pitchFamily="34" charset="0"/>
                <a:ea typeface="Calibri" pitchFamily="34" charset="-122"/>
                <a:cs typeface="Calibri" pitchFamily="34" charset="-120"/>
              </a:rPr>
              <a:t>Exercise</a:t>
            </a:r>
            <a:endParaRPr lang="en-US" sz="5000" dirty="0"/>
          </a:p>
          <a:p>
            <a:pPr indent="0" marL="0">
              <a:buNone/>
            </a:pPr>
            <a:r>
              <a:rPr lang="en-US" sz="5000" b="1" dirty="0">
                <a:solidFill>
                  <a:srgbClr val="FFFFFF"/>
                </a:solidFill>
                <a:latin typeface="Calibri" pitchFamily="34" charset="0"/>
                <a:ea typeface="Calibri" pitchFamily="34" charset="-122"/>
                <a:cs typeface="Calibri" pitchFamily="34" charset="-120"/>
              </a:rPr>
              <a:t>Complete</a:t>
            </a:r>
            <a:endParaRPr lang="en-US" sz="5000" dirty="0"/>
          </a:p>
        </p:txBody>
      </p:sp>
      <p:sp>
        <p:nvSpPr>
          <p:cNvPr id="4" name="Text 2"/>
          <p:cNvSpPr/>
          <p:nvPr/>
        </p:nvSpPr>
        <p:spPr>
          <a:xfrm>
            <a:off x="731520" y="2834640"/>
            <a:ext cx="7772400" cy="548640"/>
          </a:xfrm>
          <a:prstGeom prst="rect">
            <a:avLst/>
          </a:prstGeom>
          <a:noFill/>
          <a:ln/>
        </p:spPr>
        <p:txBody>
          <a:bodyPr wrap="square" lIns="0" tIns="0" rIns="0" bIns="0" rtlCol="0" anchor="ctr"/>
          <a:lstStyle/>
          <a:p>
            <a:pPr indent="0" marL="0">
              <a:buNone/>
            </a:pPr>
            <a:r>
              <a:rPr lang="en-US" sz="2000" dirty="0">
                <a:solidFill>
                  <a:srgbClr val="D0DAE8"/>
                </a:solidFill>
                <a:latin typeface="Calibri" pitchFamily="34" charset="0"/>
                <a:ea typeface="Calibri" pitchFamily="34" charset="-122"/>
                <a:cs typeface="Calibri" pitchFamily="34" charset="-120"/>
              </a:rPr>
              <a:t>Thank you for participating.</a:t>
            </a:r>
            <a:endParaRPr lang="en-US" sz="2000" dirty="0"/>
          </a:p>
        </p:txBody>
      </p:sp>
      <p:sp>
        <p:nvSpPr>
          <p:cNvPr id="5" name="Text 3"/>
          <p:cNvSpPr/>
          <p:nvPr/>
        </p:nvSpPr>
        <p:spPr>
          <a:xfrm>
            <a:off x="731520" y="3520440"/>
            <a:ext cx="7772400" cy="292608"/>
          </a:xfrm>
          <a:prstGeom prst="rect">
            <a:avLst/>
          </a:prstGeom>
          <a:noFill/>
          <a:ln/>
        </p:spPr>
        <p:txBody>
          <a:bodyPr wrap="square" lIns="0" tIns="0" rIns="0" bIns="0" rtlCol="0" anchor="ctr"/>
          <a:lstStyle/>
          <a:p>
            <a:pPr indent="0" marL="0">
              <a:buNone/>
            </a:pPr>
            <a:r>
              <a:rPr lang="en-US" sz="1200" dirty="0">
                <a:solidFill>
                  <a:srgbClr val="8899AA"/>
                </a:solidFill>
                <a:latin typeface="Calibri" pitchFamily="34" charset="0"/>
                <a:ea typeface="Calibri" pitchFamily="34" charset="-122"/>
                <a:cs typeface="Calibri" pitchFamily="34" charset="-120"/>
              </a:rPr>
              <a:t>📂  Incident Report: INC-2026-0322-001 (full PDF available to security team)</a:t>
            </a:r>
            <a:endParaRPr lang="en-US" sz="1200" dirty="0"/>
          </a:p>
        </p:txBody>
      </p:sp>
      <p:sp>
        <p:nvSpPr>
          <p:cNvPr id="6" name="Text 4"/>
          <p:cNvSpPr/>
          <p:nvPr/>
        </p:nvSpPr>
        <p:spPr>
          <a:xfrm>
            <a:off x="731520" y="3858768"/>
            <a:ext cx="7772400" cy="292608"/>
          </a:xfrm>
          <a:prstGeom prst="rect">
            <a:avLst/>
          </a:prstGeom>
          <a:noFill/>
          <a:ln/>
        </p:spPr>
        <p:txBody>
          <a:bodyPr wrap="square" lIns="0" tIns="0" rIns="0" bIns="0" rtlCol="0" anchor="ctr"/>
          <a:lstStyle/>
          <a:p>
            <a:pPr indent="0" marL="0">
              <a:buNone/>
            </a:pPr>
            <a:r>
              <a:rPr lang="en-US" sz="1200" dirty="0">
                <a:solidFill>
                  <a:srgbClr val="8899AA"/>
                </a:solidFill>
                <a:latin typeface="Calibri" pitchFamily="34" charset="0"/>
                <a:ea typeface="Calibri" pitchFamily="34" charset="-122"/>
                <a:cs typeface="Calibri" pitchFamily="34" charset="-120"/>
              </a:rPr>
              <a:t>🔗  GitHub Repository: github.com/Mkjones10/azure-ad-incident-response-report</a:t>
            </a:r>
            <a:endParaRPr lang="en-US" sz="1200" dirty="0"/>
          </a:p>
        </p:txBody>
      </p:sp>
      <p:sp>
        <p:nvSpPr>
          <p:cNvPr id="7" name="Text 5"/>
          <p:cNvSpPr/>
          <p:nvPr/>
        </p:nvSpPr>
        <p:spPr>
          <a:xfrm>
            <a:off x="731520" y="4197096"/>
            <a:ext cx="7772400" cy="292608"/>
          </a:xfrm>
          <a:prstGeom prst="rect">
            <a:avLst/>
          </a:prstGeom>
          <a:noFill/>
          <a:ln/>
        </p:spPr>
        <p:txBody>
          <a:bodyPr wrap="square" lIns="0" tIns="0" rIns="0" bIns="0" rtlCol="0" anchor="ctr"/>
          <a:lstStyle/>
          <a:p>
            <a:pPr indent="0" marL="0">
              <a:buNone/>
            </a:pPr>
            <a:r>
              <a:rPr lang="en-US" sz="1200" dirty="0">
                <a:solidFill>
                  <a:srgbClr val="8899AA"/>
                </a:solidFill>
                <a:latin typeface="Calibri" pitchFamily="34" charset="0"/>
                <a:ea typeface="Calibri" pitchFamily="34" charset="-122"/>
                <a:cs typeface="Calibri" pitchFamily="34" charset="-120"/>
              </a:rPr>
              <a:t>🛡️  MITRE ATT&amp;CK Navigator: attack.mitre.org</a:t>
            </a:r>
            <a:endParaRPr lang="en-US" sz="1200" dirty="0"/>
          </a:p>
        </p:txBody>
      </p:sp>
      <p:sp>
        <p:nvSpPr>
          <p:cNvPr id="8" name="Text 6"/>
          <p:cNvSpPr/>
          <p:nvPr/>
        </p:nvSpPr>
        <p:spPr>
          <a:xfrm>
            <a:off x="731520" y="4535424"/>
            <a:ext cx="7772400" cy="292608"/>
          </a:xfrm>
          <a:prstGeom prst="rect">
            <a:avLst/>
          </a:prstGeom>
          <a:noFill/>
          <a:ln/>
        </p:spPr>
        <p:txBody>
          <a:bodyPr wrap="square" lIns="0" tIns="0" rIns="0" bIns="0" rtlCol="0" anchor="ctr"/>
          <a:lstStyle/>
          <a:p>
            <a:pPr indent="0" marL="0">
              <a:buNone/>
            </a:pPr>
            <a:r>
              <a:rPr lang="en-US" sz="1200" dirty="0">
                <a:solidFill>
                  <a:srgbClr val="8899AA"/>
                </a:solidFill>
                <a:latin typeface="Calibri" pitchFamily="34" charset="0"/>
                <a:ea typeface="Calibri" pitchFamily="34" charset="-122"/>
                <a:cs typeface="Calibri" pitchFamily="34" charset="-120"/>
              </a:rPr>
              <a:t>📧  Questions: securityteam@MaxineJonesProject.onmicrosoft.com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AD Incident Response Tabletop Exercise</dc:title>
  <dc:subject>PptxGenJS Presentation</dc:subject>
  <dc:creator>IT Security Team</dc:creator>
  <cp:lastModifiedBy>IT Security Team</cp:lastModifiedBy>
  <cp:revision>1</cp:revision>
  <dcterms:created xsi:type="dcterms:W3CDTF">2026-05-08T00:07:37Z</dcterms:created>
  <dcterms:modified xsi:type="dcterms:W3CDTF">2026-05-08T00:07:37Z</dcterms:modified>
</cp:coreProperties>
</file>